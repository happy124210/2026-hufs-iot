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Poppins Bold" panose="00000800000000000000" pitchFamily="2" charset="0"/>
      <p:bold r:id="rId17"/>
    </p:embeddedFont>
    <p:embeddedFont>
      <p:font typeface="Roboto Condensed" panose="02000000000000000000" pitchFamily="2" charset="0"/>
      <p:regular r:id="rId18"/>
      <p:italic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79">
          <p15:clr>
            <a:srgbClr val="A4A3A4"/>
          </p15:clr>
        </p15:guide>
        <p15:guide id="2" pos="161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87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879"/>
        <p:guide pos="16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ppy124210/2026-HUFS-Io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521247"/>
            <a:ext cx="1339304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010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85936" y="1568500"/>
            <a:ext cx="161686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0101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HUFS IOT TERM PROJECT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853878"/>
            <a:ext cx="651465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AI-Based Threat Sound Detection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353568"/>
            <a:ext cx="403770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IoT Security System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496119" y="3009156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i="1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Real-time Threat Sound Detection for Smart Surveillance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Taehyun Jang , Yuna Ko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9868"/>
            <a:ext cx="7899202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Part 1. Problem Definition &amp; Core Objectives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961876"/>
            <a:ext cx="243095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101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Gap &amp; Opportunity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6119" y="1364159"/>
            <a:ext cx="2631951" cy="976461"/>
          </a:xfrm>
          <a:prstGeom prst="roundRect">
            <a:avLst>
              <a:gd name="adj" fmla="val 2069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30734" y="1498774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Visual Blind Spots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734" y="1785863"/>
            <a:ext cx="236272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Camera-based security has inevitable detection gaps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55987" y="1364159"/>
            <a:ext cx="2631951" cy="976461"/>
          </a:xfrm>
          <a:prstGeom prst="roundRect">
            <a:avLst>
              <a:gd name="adj" fmla="val 2069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390602" y="1498774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Cost Barrier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90602" y="1785863"/>
            <a:ext cx="236272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Commercial solutions like Axis are prohibitively expensive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15856" y="1364159"/>
            <a:ext cx="2631951" cy="976461"/>
          </a:xfrm>
          <a:prstGeom prst="roundRect">
            <a:avLst>
              <a:gd name="adj" fmla="val 2069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150471" y="1498774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50471" y="1785863"/>
            <a:ext cx="236272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Low-cost microphone sensors + Edge-AI 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for a comprehensive audio security layer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6119" y="2532534"/>
            <a:ext cx="21406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101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4 Core Objectives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6119" y="2934816"/>
            <a:ext cx="1941984" cy="1718742"/>
          </a:xfrm>
          <a:prstGeom prst="roundRect">
            <a:avLst>
              <a:gd name="adj" fmla="val 1175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30734" y="3069431"/>
            <a:ext cx="403994" cy="403994"/>
          </a:xfrm>
          <a:prstGeom prst="roundRect">
            <a:avLst>
              <a:gd name="adj" fmla="val 14144835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834" y="3180457"/>
            <a:ext cx="181794" cy="18179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30734" y="3601343"/>
            <a:ext cx="1672754" cy="420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Lightweight </a:t>
            </a:r>
            <a:endParaRPr lang="en-US" sz="1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Edge-AI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0734" y="4098801"/>
            <a:ext cx="1672754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TFLite on Raspberry Pi, 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with no server dependency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566020" y="2934816"/>
            <a:ext cx="1941984" cy="1718742"/>
          </a:xfrm>
          <a:prstGeom prst="roundRect">
            <a:avLst>
              <a:gd name="adj" fmla="val 1175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2700635" y="3069431"/>
            <a:ext cx="403994" cy="403994"/>
          </a:xfrm>
          <a:prstGeom prst="roundRect">
            <a:avLst>
              <a:gd name="adj" fmla="val 14144835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11735" y="3180457"/>
            <a:ext cx="181794" cy="18179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700635" y="3601343"/>
            <a:ext cx="1672754" cy="420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Real-time Detection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2700635" y="4098801"/>
            <a:ext cx="1672754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Frame-level analysis for 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glass breaks and screams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635922" y="2934816"/>
            <a:ext cx="1941984" cy="1718742"/>
          </a:xfrm>
          <a:prstGeom prst="roundRect">
            <a:avLst>
              <a:gd name="adj" fmla="val 1175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4770537" y="3069431"/>
            <a:ext cx="403994" cy="403994"/>
          </a:xfrm>
          <a:prstGeom prst="roundRect">
            <a:avLst>
              <a:gd name="adj" fmla="val 14144835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81637" y="3180457"/>
            <a:ext cx="181794" cy="18179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770537" y="3601343"/>
            <a:ext cx="1672754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Parallel Control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4770537" y="3888432"/>
            <a:ext cx="1672754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Simultaneous buzzer, LED, and camera activation.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705823" y="2934816"/>
            <a:ext cx="1942058" cy="1718742"/>
          </a:xfrm>
          <a:prstGeom prst="roundRect">
            <a:avLst>
              <a:gd name="adj" fmla="val 1175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6840438" y="3069431"/>
            <a:ext cx="403994" cy="403994"/>
          </a:xfrm>
          <a:prstGeom prst="roundRect">
            <a:avLst>
              <a:gd name="adj" fmla="val 14144835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51538" y="3180457"/>
            <a:ext cx="181794" cy="18179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40438" y="3601343"/>
            <a:ext cx="1672828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Remote Alerts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840438" y="3888432"/>
            <a:ext cx="1672828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Instant mobile push alerts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2077"/>
            <a:ext cx="1213247" cy="214759"/>
          </a:xfrm>
          <a:prstGeom prst="roundRect">
            <a:avLst>
              <a:gd name="adj" fmla="val 6733"/>
            </a:avLst>
          </a:prstGeom>
          <a:solidFill>
            <a:srgbClr val="E3E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8375" y="458167"/>
            <a:ext cx="1525935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DATA FLOW 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77763"/>
            <a:ext cx="3646661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10101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System Architecture</a:t>
            </a:r>
            <a:endParaRPr lang="en-US" sz="2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07889"/>
            <a:ext cx="2717229" cy="4819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6595" y="1792263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Input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16595" y="2041922"/>
            <a:ext cx="2476277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Lavalier USB Mic | 16kHz Mono 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| Real-time Streaming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1207889"/>
            <a:ext cx="2717229" cy="4819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3824" y="1792263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AI Engine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333824" y="2041922"/>
            <a:ext cx="2476277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YAMNet Feature Extractor | TFLite Classifier (259KB) | Max-pooling Inference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1207889"/>
            <a:ext cx="2717229" cy="4819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51054" y="1792263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Decision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051054" y="2041922"/>
            <a:ext cx="2476277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Glass / Scream / Normal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3590255" y="2672581"/>
            <a:ext cx="17348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0101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Actions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745" y="3129632"/>
            <a:ext cx="1185863" cy="11858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67519" y="4430688"/>
            <a:ext cx="1623789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0101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Buzzer</a:t>
            </a:r>
            <a:endParaRPr lang="en-US" sz="11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4632" y="3129632"/>
            <a:ext cx="1185863" cy="118586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961406" y="4430688"/>
            <a:ext cx="1623789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0101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LED</a:t>
            </a:r>
            <a:endParaRPr lang="en-US" sz="11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8519" y="3129632"/>
            <a:ext cx="1185863" cy="118586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655293" y="4430688"/>
            <a:ext cx="1623789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0101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Capture</a:t>
            </a:r>
            <a:endParaRPr lang="en-US" sz="11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2407" y="3129632"/>
            <a:ext cx="1185863" cy="1185863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49180" y="4430688"/>
            <a:ext cx="1623789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0101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Log</a:t>
            </a:r>
            <a:endParaRPr lang="en-US" sz="11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6294" y="3129632"/>
            <a:ext cx="1185863" cy="1185863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043068" y="4430688"/>
            <a:ext cx="1623789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0101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Notify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707901" cy="198611"/>
          </a:xfrm>
          <a:prstGeom prst="roundRect">
            <a:avLst>
              <a:gd name="adj" fmla="val 6852"/>
            </a:avLst>
          </a:prstGeom>
          <a:solidFill>
            <a:srgbClr val="E3E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4133" y="423862"/>
            <a:ext cx="1029072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PROCESS FLOW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24706"/>
            <a:ext cx="3895130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Overall System Pipeline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325" y="1115095"/>
            <a:ext cx="6521276" cy="36397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0395"/>
            <a:ext cx="838200" cy="198611"/>
          </a:xfrm>
          <a:prstGeom prst="roundRect">
            <a:avLst>
              <a:gd name="adj" fmla="val 6852"/>
            </a:avLst>
          </a:prstGeom>
          <a:solidFill>
            <a:srgbClr val="E3E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4133" y="574402"/>
            <a:ext cx="1159371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AI ENGINE DETAILS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775246"/>
            <a:ext cx="4201269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YAMNet &amp; Detection Logic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96119" y="1265634"/>
            <a:ext cx="8151763" cy="479078"/>
          </a:xfrm>
          <a:prstGeom prst="roundRect">
            <a:avLst>
              <a:gd name="adj" fmla="val 3551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26" y="1397719"/>
            <a:ext cx="212601" cy="1701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5534" y="1384697"/>
            <a:ext cx="3900115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Mean vs. Max Pooling: A Core Discovery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96119" y="1846734"/>
            <a:ext cx="8151763" cy="1251198"/>
          </a:xfrm>
          <a:prstGeom prst="roundRect">
            <a:avLst>
              <a:gd name="adj" fmla="val 1360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10406" y="1861021"/>
            <a:ext cx="113407" cy="1222623"/>
          </a:xfrm>
          <a:prstGeom prst="rect">
            <a:avLst/>
          </a:prstGeom>
          <a:solidFill>
            <a:srgbClr val="E0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14524" y="1974428"/>
            <a:ext cx="260054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❌</a:t>
            </a:r>
            <a:r>
              <a:rPr lang="en-US" sz="1100" b="1" dirty="0">
                <a:solidFill>
                  <a:srgbClr val="FF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r>
              <a:rPr lang="en-US" sz="110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Original Approach: Mean Pooling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4524" y="2253630"/>
            <a:ext cx="7919070" cy="716607"/>
          </a:xfrm>
          <a:prstGeom prst="roundRect">
            <a:avLst>
              <a:gd name="adj" fmla="val 2374"/>
            </a:avLst>
          </a:prstGeom>
          <a:solidFill>
            <a:srgbClr val="E6E6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08868" y="2253630"/>
            <a:ext cx="7930381" cy="716607"/>
          </a:xfrm>
          <a:prstGeom prst="roundRect">
            <a:avLst>
              <a:gd name="adj" fmla="val 2374"/>
            </a:avLst>
          </a:prstGeom>
          <a:solidFill>
            <a:srgbClr val="E6E6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50627" y="2367037"/>
            <a:ext cx="7646863" cy="489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A737D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Original: Averaging all frames -&gt; short sounds get buried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A737D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mean_probs = all_probs.mean(axis=0)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A737D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glass break detection at 35.5% (misclassified as normal)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66229" y="3188643"/>
            <a:ext cx="7981652" cy="1414463"/>
          </a:xfrm>
          <a:prstGeom prst="roundRect">
            <a:avLst>
              <a:gd name="adj" fmla="val 1203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80517" y="3202930"/>
            <a:ext cx="113407" cy="1385888"/>
          </a:xfrm>
          <a:prstGeom prst="rect">
            <a:avLst/>
          </a:prstGeom>
          <a:solidFill>
            <a:srgbClr val="E0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84634" y="3316337"/>
            <a:ext cx="2626965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✅</a:t>
            </a:r>
            <a:r>
              <a:rPr lang="en-US" sz="1100" b="1" dirty="0">
                <a:solidFill>
                  <a:srgbClr val="00FF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r>
              <a:rPr lang="en-US" sz="110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Improved Approach: Max Pooling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84634" y="3595539"/>
            <a:ext cx="7748960" cy="879872"/>
          </a:xfrm>
          <a:prstGeom prst="roundRect">
            <a:avLst>
              <a:gd name="adj" fmla="val 1933"/>
            </a:avLst>
          </a:prstGeom>
          <a:solidFill>
            <a:srgbClr val="E6E6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878979" y="3595539"/>
            <a:ext cx="7760271" cy="879872"/>
          </a:xfrm>
          <a:prstGeom prst="roundRect">
            <a:avLst>
              <a:gd name="adj" fmla="val 1933"/>
            </a:avLst>
          </a:prstGeom>
          <a:solidFill>
            <a:srgbClr val="E6E6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1020738" y="3708946"/>
            <a:ext cx="7476753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A737D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Improved: Max value per frame -&gt; short sounds detected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A737D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threat_probs = all_probs[:, [0, 2]]  # glass + scream classes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A737D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max_frame = np.argmax(threat_probs)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A737D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glass break detection at 99.1% (accurately detected)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666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Dataset &amp; Results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01725"/>
            <a:ext cx="3902943" cy="280935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701" y="1301725"/>
            <a:ext cx="3902943" cy="28093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443001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Frame </a:t>
            </a:r>
            <a:r>
              <a:rPr lang="en-US" sz="1100" b="1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max-pooling </a:t>
            </a:r>
            <a:r>
              <a:rPr lang="en-US" sz="11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raised glass confidence from </a:t>
            </a:r>
            <a:r>
              <a:rPr lang="en-US" sz="1100" b="1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35.5% → 99.1%</a:t>
            </a:r>
            <a:r>
              <a:rPr lang="en-US" sz="11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on a test clip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4035"/>
            <a:ext cx="3886423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10101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Progress Completed ✓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48" y="1139354"/>
            <a:ext cx="3195935" cy="33948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54810" y="1206178"/>
            <a:ext cx="4097759" cy="738485"/>
          </a:xfrm>
          <a:prstGeom prst="roundRect">
            <a:avLst>
              <a:gd name="adj" fmla="val 2448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4689574" y="1340941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Hardware Setup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689574" y="1631603"/>
            <a:ext cx="3828231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Lavalier mic + Raspberry Pi connected, Pi Camera V2.1 verified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54810" y="2047056"/>
            <a:ext cx="4097759" cy="738485"/>
          </a:xfrm>
          <a:prstGeom prst="roundRect">
            <a:avLst>
              <a:gd name="adj" fmla="val 2448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4689574" y="2181820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Dataset Built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689574" y="2472482"/>
            <a:ext cx="3828231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 classes, 288 samples collected and labeled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54810" y="2887935"/>
            <a:ext cx="4097759" cy="738485"/>
          </a:xfrm>
          <a:prstGeom prst="roundRect">
            <a:avLst>
              <a:gd name="adj" fmla="val 2448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689574" y="3022699"/>
            <a:ext cx="2199084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 Trained &amp; Lightweight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689574" y="3313361"/>
            <a:ext cx="3828231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YAMNet classifier trained; TFLite compressed from 795KB → 259KB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54810" y="3728814"/>
            <a:ext cx="4097759" cy="738485"/>
          </a:xfrm>
          <a:prstGeom prst="roundRect">
            <a:avLst>
              <a:gd name="adj" fmla="val 2448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689574" y="3863578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Pipeline Ready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689574" y="4154239"/>
            <a:ext cx="3828231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Inference pipeline implemented, tested, and automated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128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Key Challenges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746870"/>
            <a:ext cx="4024015" cy="10817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077" y="1907679"/>
            <a:ext cx="19365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🔍</a:t>
            </a:r>
            <a:r>
              <a:rPr lang="en-US" sz="135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Domain Mismatch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14077" y="2214190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Acoustic gap between training data and real microphone input characteristics.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792" y="1746870"/>
            <a:ext cx="4024089" cy="10817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60801" y="1907679"/>
            <a:ext cx="27197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🛑</a:t>
            </a:r>
            <a:r>
              <a:rPr lang="en-US" sz="135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False Positive Minimization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860801" y="2214190"/>
            <a:ext cx="36262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Distinguishing threats from clapping, footsteps, and TV noise.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2970386"/>
            <a:ext cx="4024015" cy="10817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4077" y="3131195"/>
            <a:ext cx="19404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⏱️</a:t>
            </a:r>
            <a:r>
              <a:rPr lang="en-US" sz="135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Real-time Latency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14077" y="3437706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Minimizing inference delay on Raspberry Pi's limited CPU 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via TFLite.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792" y="2970386"/>
            <a:ext cx="4024089" cy="10817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60801" y="31311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📉</a:t>
            </a:r>
            <a:r>
              <a:rPr lang="en-US" sz="135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Data Scarcity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860801" y="3437706"/>
            <a:ext cx="36262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Normal only 22% — audio augmentation to expand training.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25053"/>
            <a:ext cx="4310063" cy="39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10101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Roadmap to Final Demo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564856" y="1040085"/>
            <a:ext cx="14288" cy="3678362"/>
          </a:xfrm>
          <a:prstGeom prst="roundRect">
            <a:avLst>
              <a:gd name="adj" fmla="val 131856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068254" y="1174179"/>
            <a:ext cx="376758" cy="14288"/>
          </a:xfrm>
          <a:prstGeom prst="roundRect">
            <a:avLst>
              <a:gd name="adj" fmla="val 131856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430725" y="1040085"/>
            <a:ext cx="282550" cy="282550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477792" y="1063600"/>
            <a:ext cx="188342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374106" y="1083246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Week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8379" y="1346225"/>
            <a:ext cx="3455640" cy="18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Real-time streaming detection implementation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98988" y="1899047"/>
            <a:ext cx="376758" cy="14288"/>
          </a:xfrm>
          <a:prstGeom prst="roundRect">
            <a:avLst>
              <a:gd name="adj" fmla="val 131856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430725" y="1764953"/>
            <a:ext cx="282550" cy="282550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477792" y="1788468"/>
            <a:ext cx="188342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199980" y="1808113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Week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99980" y="2071092"/>
            <a:ext cx="3455640" cy="18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Hardware integration — buzzer, LED, LCD, camera capture &amp; logging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68254" y="2534245"/>
            <a:ext cx="376758" cy="14288"/>
          </a:xfrm>
          <a:prstGeom prst="roundRect">
            <a:avLst>
              <a:gd name="adj" fmla="val 131856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430725" y="2400151"/>
            <a:ext cx="282550" cy="282550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477792" y="2423666"/>
            <a:ext cx="188342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374106" y="2443311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Week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8379" y="2706291"/>
            <a:ext cx="3455640" cy="18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Telegram bot notification integration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98988" y="3169444"/>
            <a:ext cx="376758" cy="14288"/>
          </a:xfrm>
          <a:prstGeom prst="roundRect">
            <a:avLst>
              <a:gd name="adj" fmla="val 131856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0725" y="3035350"/>
            <a:ext cx="282550" cy="282550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477792" y="3058864"/>
            <a:ext cx="188342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199980" y="3078510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Week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99980" y="3341489"/>
            <a:ext cx="3455640" cy="18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Full system integration test &amp; demo video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68254" y="3804642"/>
            <a:ext cx="376758" cy="14288"/>
          </a:xfrm>
          <a:prstGeom prst="roundRect">
            <a:avLst>
              <a:gd name="adj" fmla="val 131856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430725" y="3670548"/>
            <a:ext cx="282550" cy="282550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477792" y="3694063"/>
            <a:ext cx="188342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5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2374106" y="3713708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June 22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8379" y="3976688"/>
            <a:ext cx="3455640" cy="18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Final presentation + live demonstration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916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3475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Questions &amp; Discussion Welcome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621036"/>
            <a:ext cx="141759" cy="850553"/>
          </a:xfrm>
          <a:prstGeom prst="roundRect">
            <a:avLst>
              <a:gd name="adj" fmla="val 15001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9636" y="1762795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🔗</a:t>
            </a:r>
            <a:r>
              <a:rPr lang="en-US" sz="135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GitHub Repository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9636" y="2069306"/>
            <a:ext cx="7868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u="sng" dirty="0">
                <a:solidFill>
                  <a:srgbClr val="10101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github.com/happy124210/2026-HUFS-IoT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08720" y="2613347"/>
            <a:ext cx="141759" cy="1950913"/>
          </a:xfrm>
          <a:prstGeom prst="roundRect">
            <a:avLst>
              <a:gd name="adj" fmla="val 15001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92237" y="275510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📜</a:t>
            </a:r>
            <a:r>
              <a:rPr lang="en-US" sz="1350" b="1" dirty="0">
                <a:solidFill>
                  <a:srgbClr val="39393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Reference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2237" y="3061618"/>
            <a:ext cx="7655644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J. F. Gemmeke, D. P. W. Ellis, D. Freedman, A. Jansen, W. Lawrence, R. C. Moore, M. Plakal, and M. Ritter, "Audio Set: An ontology and human-labeled dataset for audio events," in Proc. IEEE ICASSP, 2017, pp. 776–780. doi: 10.1109/ICASSP.2017.7952261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D. S. Park, W. Chan, Y. Zhang, C.-C. Chiu, B. Zoph, E. D. Cubuk, and Q. V. Le, "SpecAugment: A simple data augmentation method for automatic speech recognition," in </a:t>
            </a:r>
            <a:r>
              <a:rPr lang="en-US" sz="1100" i="1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Proc. Interspeech</a:t>
            </a:r>
            <a:r>
              <a:rPr lang="en-US" sz="11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, 2019, pp. 2613–2617. doi: 10.21437/Interspeech.2019-2680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Google, "YAMNet," TensorFlow Model Garden. [Online]. Available: github.com/tensorflow/models/tree/master/research/audioset/yamnet TensorFlow, "TensorFlow Lite: On-device machine learning." [Online]. Available: tensorflow.org/lite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670</Words>
  <Application>Microsoft Office PowerPoint</Application>
  <PresentationFormat>화면 슬라이드 쇼(16:9)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Calibri</vt:lpstr>
      <vt:lpstr>Consolas</vt:lpstr>
      <vt:lpstr>Arial</vt:lpstr>
      <vt:lpstr>Roboto Condensed</vt:lpstr>
      <vt:lpstr>Poppins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임송빈</cp:lastModifiedBy>
  <cp:revision>3</cp:revision>
  <dcterms:created xsi:type="dcterms:W3CDTF">2026-05-31T02:03:09Z</dcterms:created>
  <dcterms:modified xsi:type="dcterms:W3CDTF">2026-06-01T05:35:03Z</dcterms:modified>
  <cp:version/>
</cp:coreProperties>
</file>