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e780f9d0ed4c69" /><Relationship Type="http://schemas.openxmlformats.org/officeDocument/2006/relationships/extended-properties" Target="/docProps/app.xml" Id="R32d84dd5c1f54e04" /><Relationship Type="http://schemas.openxmlformats.org/officeDocument/2006/relationships/officeDocument" Target="/ppt/presentation.xml" Id="R8b48ea014cf240d9" /></Relationships>
</file>

<file path=ppt/presentation.xml><?xml version="1.0" encoding="utf-8"?>
<p:presentation xmlns:p="http://schemas.openxmlformats.org/presentationml/2006/main">
  <p:sldMasterIdLst>
    <p:sldMasterId xmlns:r="http://schemas.openxmlformats.org/officeDocument/2006/relationships" id="2147483648" r:id="Rabf09cc1aa3f4609"/>
  </p:sldMasterIdLst>
  <p:notesMasterIdLst>
    <p:notesMasterId xmlns:r="http://schemas.openxmlformats.org/officeDocument/2006/relationships" r:id="Rc024370269c24e94"/>
  </p:notesMasterIdLst>
  <p:sldIdLst>
    <p:sldId xmlns:r="http://schemas.openxmlformats.org/officeDocument/2006/relationships" id="256" r:id="R08f814980d5a4fc0"/>
    <p:sldId xmlns:r="http://schemas.openxmlformats.org/officeDocument/2006/relationships" id="257" r:id="R0fec968322d74cde"/>
    <p:sldId xmlns:r="http://schemas.openxmlformats.org/officeDocument/2006/relationships" id="258" r:id="R0bab9c67866c4d11"/>
    <p:sldId xmlns:r="http://schemas.openxmlformats.org/officeDocument/2006/relationships" id="259" r:id="R3613ccdef15c49fd"/>
    <p:sldId xmlns:r="http://schemas.openxmlformats.org/officeDocument/2006/relationships" id="260" r:id="R46b0f1519af442a3"/>
    <p:sldId xmlns:r="http://schemas.openxmlformats.org/officeDocument/2006/relationships" id="261" r:id="R9014b107c5e54666"/>
    <p:sldId xmlns:r="http://schemas.openxmlformats.org/officeDocument/2006/relationships" id="262" r:id="Ree2fa4ecfbbd414a"/>
    <p:sldId xmlns:r="http://schemas.openxmlformats.org/officeDocument/2006/relationships" id="263" r:id="Rf171cd26143549cb"/>
    <p:sldId xmlns:r="http://schemas.openxmlformats.org/officeDocument/2006/relationships" id="264" r:id="Rb5ba9291fbf24f4b"/>
    <p:sldId xmlns:r="http://schemas.openxmlformats.org/officeDocument/2006/relationships" id="265" r:id="R58f6ddd5684d489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_rels/presentation.xml.rels>&#65279;<?xml version="1.0" encoding="utf-8"?><Relationships xmlns="http://schemas.openxmlformats.org/package/2006/relationships"><Relationship Type="http://schemas.openxmlformats.org/officeDocument/2006/relationships/theme" Target="/ppt/theme/theme1.xml" Id="Ra5e17152753140c0" /><Relationship Type="http://schemas.openxmlformats.org/officeDocument/2006/relationships/slideMaster" Target="/ppt/slideMasters/slideMaster1.xml" Id="Rabf09cc1aa3f4609" /><Relationship Type="http://schemas.openxmlformats.org/officeDocument/2006/relationships/notesMaster" Target="/ppt/notesMasters/notesMaster1.xml" Id="Rc024370269c24e94" /><Relationship Type="http://schemas.openxmlformats.org/officeDocument/2006/relationships/presProps" Target="/ppt/presProps.xml" Id="R45b326a279614ef8" /><Relationship Type="http://schemas.openxmlformats.org/officeDocument/2006/relationships/tableStyles" Target="/ppt/tableStyles.xml" Id="Rc321fb75720e43d0" /><Relationship Type="http://schemas.openxmlformats.org/officeDocument/2006/relationships/slide" Target="/ppt/slides/slide1.xml" Id="R08f814980d5a4fc0" /><Relationship Type="http://schemas.openxmlformats.org/officeDocument/2006/relationships/slide" Target="/ppt/slides/slide2.xml" Id="R0fec968322d74cde" /><Relationship Type="http://schemas.openxmlformats.org/officeDocument/2006/relationships/slide" Target="/ppt/slides/slide3.xml" Id="R0bab9c67866c4d11" /><Relationship Type="http://schemas.openxmlformats.org/officeDocument/2006/relationships/slide" Target="/ppt/slides/slide4.xml" Id="R3613ccdef15c49fd" /><Relationship Type="http://schemas.openxmlformats.org/officeDocument/2006/relationships/slide" Target="/ppt/slides/slide5.xml" Id="R46b0f1519af442a3" /><Relationship Type="http://schemas.openxmlformats.org/officeDocument/2006/relationships/slide" Target="/ppt/slides/slide6.xml" Id="R9014b107c5e54666" /><Relationship Type="http://schemas.openxmlformats.org/officeDocument/2006/relationships/slide" Target="/ppt/slides/slide7.xml" Id="Ree2fa4ecfbbd414a" /><Relationship Type="http://schemas.openxmlformats.org/officeDocument/2006/relationships/slide" Target="/ppt/slides/slide8.xml" Id="Rf171cd26143549cb" /><Relationship Type="http://schemas.openxmlformats.org/officeDocument/2006/relationships/slide" Target="/ppt/slides/slide9.xml" Id="Rb5ba9291fbf24f4b" /><Relationship Type="http://schemas.openxmlformats.org/officeDocument/2006/relationships/slide" Target="/ppt/slides/slide10.xml" Id="R58f6ddd5684d48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21d93c031149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Helvetica Neue">
      <a:majorFont>
        <a:latin typeface="Helvetica Neue"/>
        <a:ea typeface=""/>
        <a:cs typeface=""/>
      </a:majorFont>
      <a:minorFont>
        <a:latin typeface="Helvetica Neue"/>
        <a:ea typeface=""/>
        <a:cs typeface=""/>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9774069726a4aff" /><Relationship Type="http://schemas.openxmlformats.org/officeDocument/2006/relationships/notesMaster" Target="/ppt/notesMasters/notesMaster1.xml" Id="R8bbf44f5797c4455" /></Relationships>
</file>

<file path=ppt/notesSlides/_rels/notesSlide2.xml.rels>&#65279;<?xml version="1.0" encoding="utf-8"?><Relationships xmlns="http://schemas.openxmlformats.org/package/2006/relationships"><Relationship Type="http://schemas.openxmlformats.org/officeDocument/2006/relationships/slide" Target="/ppt/slides/slide2.xml" Id="R6978b44a2e074d78" /><Relationship Type="http://schemas.openxmlformats.org/officeDocument/2006/relationships/notesMaster" Target="/ppt/notesMasters/notesMaster1.xml" Id="R4440e4b7a63448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e3e326e51da4d5e" /><Relationship Type="http://schemas.openxmlformats.org/officeDocument/2006/relationships/notesMaster" Target="/ppt/notesMasters/notesMaster1.xml" Id="Rc78e38213bc5443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5c458434944c78" /><Relationship Type="http://schemas.openxmlformats.org/officeDocument/2006/relationships/notesMaster" Target="/ppt/notesMasters/notesMaster1.xml" Id="Ra0206e6b43234a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69b286a05f4f65" /><Relationship Type="http://schemas.openxmlformats.org/officeDocument/2006/relationships/notesMaster" Target="/ppt/notesMasters/notesMaster1.xml" Id="R01a51f2cff554b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6f9e4deeea64492" /><Relationship Type="http://schemas.openxmlformats.org/officeDocument/2006/relationships/notesMaster" Target="/ppt/notesMasters/notesMaster1.xml" Id="R711cb691378f44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f52efc878e42fd" /><Relationship Type="http://schemas.openxmlformats.org/officeDocument/2006/relationships/notesMaster" Target="/ppt/notesMasters/notesMaster1.xml" Id="R25d0ea5fe3104863"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19e6a7c7f54401" /><Relationship Type="http://schemas.openxmlformats.org/officeDocument/2006/relationships/notesMaster" Target="/ppt/notesMasters/notesMaster1.xml" Id="Re17c8af96c3549f6"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7cd7d35f2d45c4" /><Relationship Type="http://schemas.openxmlformats.org/officeDocument/2006/relationships/notesMaster" Target="/ppt/notesMasters/notesMaster1.xml" Id="R2e6f4cdb14704c7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cf2dede730c4944" /><Relationship Type="http://schemas.openxmlformats.org/officeDocument/2006/relationships/notesMaster" Target="/ppt/notesMasters/notesMaster1.xml" Id="R09ebe4044ad04d9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Our project is an edge AI security system that listens for two threat sounds: breaking glass and screams. It runs on a Raspberry Pi, classifies audio in real time, and triggers physical and remote alerts. I will focus on the baseline, our model, what failed, what finally worked, and what should improve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Why use sound at all? Cameras and motion sensors are useful, but they have blind spots. A microphone can detect an event even when the source is outside the camera view. Our design also keeps inference on the edge: raw audio does not need to be continuously uploaded. When a threat is confirmed, the system can immediately activate a buzzer and LED, take a photo, write a log, and send a Telegram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asks one specific question: why not use YAMNet by itself? As a control comparison, we remove our custom head and map YAMNet's 521 generic AudioSet scores directly into glass, scream, or normal using fixed rules. On the strict test set, this produced a Macro F1 of 0.756 and detected only 19 of 38 screams, or 50 percent. The result shows that generic semantic scores alone are not sufficiently specialized for our targets. We use this comparison only to understand the limitation of YAMNet-only detection. It was not used to choose our model or thresholds. This limitation motivates the task-specific head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Our final system uses both outputs from one YAMNet forward pass. The 1,024-dimensional embeddings enter our task-specific classifier, which uses dense layers of 512, 256, and 128 units followed by a three-class softmax. In parallel, selected YAMNet AudioSet scores provide semantic corroboration. The final rule has two paths: sustained classifier evidence can trigger directly, while a short corroborated path requires the classifier and YAMNet to agree on the same frame.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methodological improvement was the evaluation protocol. We removed 158 broad-label clips, grouped clean and augmented files by original source, merged 325 duplicate aliases, and prevented shared YouTube IDs from crossing splits. For this rerun, we fixed only three candidates before executing the selection program: recall-oriented, balanced, and precision-oriented. Selection used validation only, and the balanced policy achieved the highest Macro F1 while keeping both event recalls above seventy percent.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Fusion system provided the best overall balance between threat recall and normal false alarms, reaching a Macro F1 of 0.837. The class-level results show balanced behavior across both threat categories and normal audio. The important limitation is that, although policy selection used validation only, this test split had been inspected in earlier project iterations. We therefore treat this as a retrospective engineering result and still need fresh external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lessons changed our approach. First, we began with conventional clip-level averaging commonly used with YAMNet. This is appropriate when the goal is to summarize the dominant sound across a clip. Our task, however, is transient-event detection, so short glass impacts were diluted by surrounding normal frames. We therefore retained frame-level evidence. Second, broad AudioSet labels introduced label noise, so we kept only verified glass and shatter sources. Third, the high false-alarm ablation is not the standalone classifier result. We deliberately kept the low-threshold shortcut designed for Fusion and removed only its required YAMNet gate. The sharp increase in false alarms shows that this relaxed path is safe only when both signals 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YAMNet forward pass returns two outputs used by our system: the embeddings for our custom head and the 521 AudioSet scores for semantic corroboration. All cleaned clips, offline evaluation, file prediction, and live defaults now use a three-second window; the live hop is one second. On this Windows PC, YAMNet, the H5 classifier, and Fusion averaged 57 milliseconds with a 61 millisecond p95 over thirty files. On the Raspberry Pi, complete event-to-alert latency was [0000] milliseconds on average, with a [0000] millisecond p95. The bracketed values are temporary fields and must be replaced with tonight's measurement before presenting.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three practical directions for improvement. For data, we need more real microphone screams and hard negatives such as impacts, speech, and footsteps from the deployment room. For the model, selective YAMNet fine-tuning, better calibration, or a compact temporal network could improve context. For deployment, the current runtime is TensorFlow Hub plus H5; the TFLite file contains only the classifier head. We should validate Raspberry Pi latency under sustained load and measure long-duration false alarms per hour.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conclude, transfer learning made the detector practical, our custom head specialized YAMNet features, and frame-aligned Fusion combined task-specific and semantic evidence. The final Fusion system reached a Macro F1 of 0.837 on our strict-label test. The next step is to validate these results on fresh external data and complete long-duration field testing. Thank you. I am ready for your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5818019e0b4dd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d4ba92456d146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6e2a95cf7644d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c6fc26740446e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aae59056a6c430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51229b4fb9482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6da69c070212429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913b4f5479d4df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57e460182744768" /><Relationship Type="http://schemas.openxmlformats.org/officeDocument/2006/relationships/image" Target="/ppt/media/image.png" Id="R123b6f4753e044da"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c31a7c25d8746ba" /><Relationship Type="http://schemas.openxmlformats.org/officeDocument/2006/relationships/image" Target="/ppt/media/image2.png" Id="R7d1bd9f2b44d4af4"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a:solidFill>
                  <a:schemeClr val="tx1"/>
                </a:solidFill>
                <a:latin typeface="+mn-lt"/>
                <a:ea typeface="+mn-lt"/>
                <a:cs typeface="+mn-lt"/>
              </a:defRPr>
            </a:lvl1pPr>
          </a:lstStyle>
          <a:p xmlns:a="http://schemas.openxmlformats.org/drawingml/2006/main">
            <a:fld id="{8574A810-7A8E-054F-9F6B-09E9C694ECF9}" type="slidenum">
              <a:t>‹#›</a:t>
            </a:fld>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a:solidFill>
                  <a:schemeClr val="tx1"/>
                </a:solidFill>
                <a:latin typeface="+mn-lt"/>
                <a:ea typeface="+mn-lt"/>
                <a:cs typeface="+mn-lt"/>
              </a:defRPr>
            </a:lvl1pPr>
          </a:lstStyle>
          <a:p xmlns:a="http://schemas.openxmlformats.org/drawingml/2006/main">
            <a:fld id="{8574A810-7A8E-054F-9F6B-09E9C694ECF9}" type="slidenum">
              <a:t>‹#›</a:t>
            </a:fld>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a:solidFill>
                  <a:schemeClr val="tx1"/>
                </a:solidFill>
                <a:latin typeface="+mn-lt"/>
                <a:ea typeface="+mn-lt"/>
                <a:cs typeface="+mn-lt"/>
              </a:defRPr>
            </a:lvl1pPr>
          </a:lstStyle>
          <a:p xmlns:a="http://schemas.openxmlformats.org/drawingml/2006/main">
            <a:fld id="{8574A810-7A8E-054F-9F6B-09E9C694ECF9}" type="slidenum">
              <a:t>‹#›</a:t>
            </a:fld>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a:solidFill>
                  <a:schemeClr val="tx1"/>
                </a:solidFill>
                <a:latin typeface="+mn-lt"/>
                <a:ea typeface="+mn-lt"/>
                <a:cs typeface="+mn-lt"/>
              </a:defRPr>
            </a:lvl1pPr>
          </a:lstStyle>
          <a:p xmlns:a="http://schemas.openxmlformats.org/drawingml/2006/main">
            <a:fld id="{8574A810-7A8E-054F-9F6B-09E9C694ECF9}" type="slidenum">
              <a:t>‹#›</a:t>
            </a:fld>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a:solidFill>
                  <a:schemeClr val="tx1"/>
                </a:solidFill>
                <a:latin typeface="+mn-lt"/>
                <a:ea typeface="+mn-lt"/>
                <a:cs typeface="+mn-lt"/>
              </a:defRPr>
            </a:lvl1pPr>
          </a:lstStyle>
          <a:p xmlns:a="http://schemas.openxmlformats.org/drawingml/2006/main">
            <a:fld id="{8574A810-7A8E-054F-9F6B-09E9C694ECF9}" type="slidenum">
              <a:t>‹#›</a:t>
            </a:fld>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a:solidFill>
                  <a:schemeClr val="tx1"/>
                </a:solidFill>
                <a:latin typeface="+mn-lt"/>
                <a:ea typeface="+mn-lt"/>
                <a:cs typeface="+mn-lt"/>
              </a:defRPr>
            </a:lvl1pPr>
          </a:lstStyle>
          <a:p xmlns:a="http://schemas.openxmlformats.org/drawingml/2006/main">
            <a:fld id="{8574A810-7A8E-054F-9F6B-09E9C694ECF9}" type="slidenum">
              <a:t>‹#›</a:t>
            </a:fld>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123b6f4753e044da">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7d1bd9f2b44d4af4">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86b592f8ea42f6" /><Relationship Type="http://schemas.openxmlformats.org/officeDocument/2006/relationships/slideLayout" Target="/ppt/slideLayouts/slideLayout1.xml" Id="R24b8d304dee94055" /><Relationship Type="http://schemas.openxmlformats.org/officeDocument/2006/relationships/slideLayout" Target="/ppt/slideLayouts/slideLayout2.xml" Id="Rf6b3feca29944556" /><Relationship Type="http://schemas.openxmlformats.org/officeDocument/2006/relationships/slideLayout" Target="/ppt/slideLayouts/slideLayout3.xml" Id="R1eae2ffe5da34be2" /><Relationship Type="http://schemas.openxmlformats.org/officeDocument/2006/relationships/slideLayout" Target="/ppt/slideLayouts/slideLayout4.xml" Id="R78ab511eeccf4d75" /><Relationship Type="http://schemas.openxmlformats.org/officeDocument/2006/relationships/slideLayout" Target="/ppt/slideLayouts/slideLayout5.xml" Id="R507a89e7b0bc4179" /><Relationship Type="http://schemas.openxmlformats.org/officeDocument/2006/relationships/slideLayout" Target="/ppt/slideLayouts/slideLayout6.xml" Id="R5448b9d1e03b4469" /><Relationship Type="http://schemas.openxmlformats.org/officeDocument/2006/relationships/slideLayout" Target="/ppt/slideLayouts/slideLayout7.xml" Id="R4477931afc604e28" /><Relationship Type="http://schemas.openxmlformats.org/officeDocument/2006/relationships/slideLayout" Target="/ppt/slideLayouts/slideLayout8.xml" Id="R12288a44fe4741da" /><Relationship Type="http://schemas.openxmlformats.org/officeDocument/2006/relationships/slideLayout" Target="/ppt/slideLayouts/slideLayout9.xml" Id="Red8cc1a25fc2448f" /><Relationship Type="http://schemas.openxmlformats.org/officeDocument/2006/relationships/slideLayout" Target="/ppt/slideLayouts/slideLayout10.xml" Id="R9a58fbe224ae453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a:solidFill>
                  <a:schemeClr val="tx1"/>
                </a:solidFill>
                <a:latin typeface="+mn-lt"/>
                <a:ea typeface="+mn-lt"/>
                <a:cs typeface="+mn-lt"/>
              </a:defRPr>
            </a:lvl1pPr>
          </a:lstStyle>
          <a:p xmlns:a="http://schemas.openxmlformats.org/drawingml/2006/main">
            <a:fld id="{8574A810-7A8E-054F-9F6B-09E9C694ECF9}"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b8d304dee94055"/>
    <p:sldLayoutId xmlns:r="http://schemas.openxmlformats.org/officeDocument/2006/relationships" id="2147483650" r:id="Rf6b3feca29944556"/>
    <p:sldLayoutId xmlns:r="http://schemas.openxmlformats.org/officeDocument/2006/relationships" id="2147483651" r:id="R1eae2ffe5da34be2"/>
    <p:sldLayoutId xmlns:r="http://schemas.openxmlformats.org/officeDocument/2006/relationships" id="2147483652" r:id="R78ab511eeccf4d75"/>
    <p:sldLayoutId xmlns:r="http://schemas.openxmlformats.org/officeDocument/2006/relationships" id="2147483653" r:id="R507a89e7b0bc4179"/>
    <p:sldLayoutId xmlns:r="http://schemas.openxmlformats.org/officeDocument/2006/relationships" id="2147483654" r:id="R5448b9d1e03b4469"/>
    <p:sldLayoutId xmlns:r="http://schemas.openxmlformats.org/officeDocument/2006/relationships" id="2147483655" r:id="R4477931afc604e28"/>
    <p:sldLayoutId xmlns:r="http://schemas.openxmlformats.org/officeDocument/2006/relationships" id="2147483656" r:id="R12288a44fe4741da"/>
    <p:sldLayoutId xmlns:r="http://schemas.openxmlformats.org/officeDocument/2006/relationships" id="2147483657" r:id="Red8cc1a25fc2448f"/>
    <p:sldLayoutId xmlns:r="http://schemas.openxmlformats.org/officeDocument/2006/relationships" id="2147483658" r:id="R9a58fbe224ae4534"/>
  </p:sldLayoutIdLst>
  <p:hf hdr="0" dt="0"/>
  <p:txStyles>
    <p:titleStyle>
      <a:lvl1pPr xmlns:a="http://schemas.openxmlformats.org/drawingml/2006/main" algn="l">
        <a:lnSpc>
          <a:spcPct val="90000"/>
        </a:lnSpc>
        <a:spcBef>
          <a:spcPts val="0"/>
        </a:spcBef>
        <a:buNone/>
        <a:defRPr sz="29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4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0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18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Helvetica Neue">
      <a:majorFont>
        <a:latin typeface="Helvetica Neue"/>
        <a:ea typeface=""/>
        <a:cs typeface=""/>
      </a:majorFont>
      <a:minorFont>
        <a:latin typeface="Helvetica Neue"/>
        <a:ea typeface=""/>
        <a:cs typeface=""/>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ac945acb554515" /><Relationship Type="http://schemas.openxmlformats.org/officeDocument/2006/relationships/notesSlide" Target="/ppt/notesSlides/notesSlide1.xml" Id="R3e628cc8de1640fa" /></Relationships>
</file>

<file path=ppt/slides/_rels/slide2.xml.rels>&#65279;<?xml version="1.0" encoding="utf-8"?><Relationships xmlns="http://schemas.openxmlformats.org/package/2006/relationships"><Relationship Type="http://schemas.openxmlformats.org/officeDocument/2006/relationships/slideLayout" Target="/ppt/slideLayouts/slideLayout4.xml" Id="R60dd964d8f094503" /><Relationship Type="http://schemas.openxmlformats.org/officeDocument/2006/relationships/notesSlide" Target="/ppt/notesSlides/notesSlide2.xml" Id="Rf213be9fb3754c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4b40ea2fe2e4e28" /><Relationship Type="http://schemas.openxmlformats.org/officeDocument/2006/relationships/notesSlide" Target="/ppt/notesSlides/notesSlide3.xml" Id="R1553053330dc432e" /></Relationships>
</file>

<file path=ppt/slides/_rels/slide4.xml.rels>&#65279;<?xml version="1.0" encoding="utf-8"?><Relationships xmlns="http://schemas.openxmlformats.org/package/2006/relationships"><Relationship Type="http://schemas.openxmlformats.org/officeDocument/2006/relationships/slideLayout" Target="/ppt/slideLayouts/slideLayout4.xml" Id="R74cf057436dc463f" /><Relationship Type="http://schemas.openxmlformats.org/officeDocument/2006/relationships/notesSlide" Target="/ppt/notesSlides/notesSlide4.xml" Id="R178535ad376046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4.xml" Id="R2380a14cd08745ac" /><Relationship Type="http://schemas.openxmlformats.org/officeDocument/2006/relationships/notesSlide" Target="/ppt/notesSlides/notesSlide5.xml" Id="R729e320814c443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9e14795a55349dc" /><Relationship Type="http://schemas.openxmlformats.org/officeDocument/2006/relationships/notesSlide" Target="/ppt/notesSlides/notesSlide6.xml" Id="R14896d9b32974d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5.xml" Id="Rde025f3a9f4544da" /><Relationship Type="http://schemas.openxmlformats.org/officeDocument/2006/relationships/notesSlide" Target="/ppt/notesSlides/notesSlide7.xml" Id="R3220751df5d04e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b9d8916d57f483b" /><Relationship Type="http://schemas.openxmlformats.org/officeDocument/2006/relationships/notesSlide" Target="/ppt/notesSlides/notesSlide8.xml" Id="R1831b0c3b2034335"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0d87027fa8f24cdc" /><Relationship Type="http://schemas.openxmlformats.org/officeDocument/2006/relationships/notesSlide" Target="/ppt/notesSlides/notesSlide9.xml" Id="R33b269b30e3a4a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d2c73ba770d4006" /><Relationship Type="http://schemas.openxmlformats.org/officeDocument/2006/relationships/notesSlide" Target="/ppt/notesSlides/notesSlide10.xml" Id="R5d4968c8ab90498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8BFE633A-551A-54B1-5F36-B66CCEBD8D53}"/>
              </a:ext>
            </a:extLst>
          </p:cNvPr>
          <p:cNvSpPr>
            <a:spLocks xmlns:a="http://schemas.openxmlformats.org/drawingml/2006/main" noGrp="1"/>
          </p:cNvSpPr>
          <p:nvPr>
            <p:ph type="ctrTitle" idx="0"/>
          </p:nvPr>
        </p:nvSpPr>
        <p:spPr>
          <a:xfrm xmlns:a="http://schemas.openxmlformats.org/drawingml/2006/main">
            <a:off x="393700" y="1738755"/>
            <a:ext cx="9448800" cy="2491490"/>
          </a:xfrm>
        </p:spPr>
        <p:txBody>
          <a:bodyPr xmlns:a="http://schemas.openxmlformats.org/drawingml/2006/main">
            <a:noAutofit/>
          </a:bodyPr>
          <a:lstStyle xmlns:a="http://schemas.openxmlformats.org/drawingml/2006/main"/>
          <a:p xmlns:a="http://schemas.openxmlformats.org/drawingml/2006/main">
            <a:r>
              <a:rPr sz="7200"/>
              <a:t>Edge AI Threat-Sound</a:t>
            </a:r>
          </a:p>
          <a:p xmlns:a="http://schemas.openxmlformats.org/drawingml/2006/main">
            <a:r>
              <a:rPr sz="7200"/>
              <a:t>Detection</a:t>
            </a:r>
          </a:p>
        </p:txBody>
      </p:sp>
      <p:sp>
        <p:nvSpPr>
          <p:cNvPr id="5" name="Subtitle 4">
            <a:extLst xmlns:a="http://schemas.openxmlformats.org/drawingml/2006/main">
              <a:ext uri="{FF2B5EF4-FFF2-40B4-BE49-F238E27FC236}">
                <a16:creationId xmlns:a16="http://schemas.microsoft.com/office/drawing/2014/main" id="{5FD18192-DA46-5723-C973-8A30A162A3C1}"/>
              </a:ext>
            </a:extLst>
          </p:cNvPr>
          <p:cNvSpPr>
            <a:spLocks xmlns:a="http://schemas.openxmlformats.org/drawingml/2006/main" noGrp="1"/>
          </p:cNvSpPr>
          <p:nvPr>
            <p:ph type="subTitle" idx="1"/>
          </p:nvPr>
        </p:nvSpPr>
        <p:spPr>
          <a:xfrm xmlns:a="http://schemas.openxmlformats.org/drawingml/2006/main">
            <a:off x="393700" y="4789429"/>
            <a:ext cx="3568700" cy="1218417"/>
          </a:xfrm>
        </p:spPr>
        <p:txBody>
          <a:bodyPr xmlns:a="http://schemas.openxmlformats.org/drawingml/2006/main">
            <a:noAutofit/>
          </a:bodyPr>
          <a:lstStyle xmlns:a="http://schemas.openxmlformats.org/drawingml/2006/main"/>
          <a:p xmlns:a="http://schemas.openxmlformats.org/drawingml/2006/main">
            <a:r>
              <a:rPr sz="2000"/>
              <a:t>Glass break · Scream · Normal</a:t>
            </a:r>
          </a:p>
          <a:p xmlns:a="http://schemas.openxmlformats.org/drawingml/2006/main">
            <a:r>
              <a:rPr sz="2000"/>
              <a:t>Raspberry Pi 4 · YAMNet · IoT alerts</a:t>
            </a:r>
          </a:p>
          <a:p xmlns:a="http://schemas.openxmlformats.org/drawingml/2006/main">
            <a:r>
              <a:rPr sz="2000"/>
              <a:t>Final presentation · June 22, 2026</a:t>
            </a:r>
          </a:p>
        </p:txBody>
      </p:sp>
      <p:sp>
        <p:nvSpPr>
          <p:cNvPr id="6" name="Subtitle 4">
            <a:extLst xmlns:a="http://schemas.openxmlformats.org/drawingml/2006/main">
              <a:ext uri="{FF2B5EF4-FFF2-40B4-BE49-F238E27FC236}">
                <a16:creationId xmlns:a16="http://schemas.microsoft.com/office/drawing/2014/main" id="{38267A14-2A60-F4BB-37BE-E21D050F53D8}"/>
              </a:ext>
            </a:extLst>
          </p:cNvPr>
          <p:cNvSpPr>
            <a:spLocks xmlns:a="http://schemas.openxmlformats.org/drawingml/2006/main" noGrp="1"/>
          </p:cNvSpPr>
          <p:nvPr/>
        </p:nvSpPr>
        <p:spPr>
          <a:xfrm xmlns:a="http://schemas.openxmlformats.org/drawingml/2006/main">
            <a:off x="393699" y="392241"/>
            <a:ext cx="3578411" cy="649159"/>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a:lnSpc>
                <a:spcPct val="90000"/>
              </a:lnSpc>
              <a:spcBef>
                <a:spcPts val="1000"/>
              </a:spcBef>
              <a:buNone/>
              <a:defRPr sz="2400">
                <a:solidFill>
                  <a:schemeClr val="tx1"/>
                </a:solidFill>
                <a:latin typeface="+mn-lt"/>
                <a:ea typeface="+mn-lt"/>
                <a:cs typeface="+mn-lt"/>
              </a:defRPr>
            </a:lvl1pPr>
            <a:lvl2pPr marL="457200" indent="0" algn="ctr">
              <a:lnSpc>
                <a:spcPct val="90000"/>
              </a:lnSpc>
              <a:spcBef>
                <a:spcPts val="500"/>
              </a:spcBef>
              <a:buNone/>
              <a:defRPr sz="2000">
                <a:solidFill>
                  <a:schemeClr val="tx1"/>
                </a:solidFill>
                <a:latin typeface="+mn-lt"/>
                <a:ea typeface="+mn-lt"/>
                <a:cs typeface="+mn-lt"/>
              </a:defRPr>
            </a:lvl2pPr>
            <a:lvl3pPr marL="914400" indent="0" algn="ctr">
              <a:lnSpc>
                <a:spcPct val="90000"/>
              </a:lnSpc>
              <a:spcBef>
                <a:spcPts val="500"/>
              </a:spcBef>
              <a:buNone/>
              <a:defRPr sz="1800">
                <a:solidFill>
                  <a:schemeClr val="tx1"/>
                </a:solidFill>
                <a:latin typeface="+mn-lt"/>
                <a:ea typeface="+mn-lt"/>
                <a:cs typeface="+mn-lt"/>
              </a:defRPr>
            </a:lvl3pPr>
            <a:lvl4pPr marL="1371600" indent="0" algn="ctr">
              <a:lnSpc>
                <a:spcPct val="90000"/>
              </a:lnSpc>
              <a:spcBef>
                <a:spcPts val="500"/>
              </a:spcBef>
              <a:buNone/>
              <a:defRPr sz="1600">
                <a:solidFill>
                  <a:schemeClr val="tx1"/>
                </a:solidFill>
                <a:latin typeface="+mn-lt"/>
                <a:ea typeface="+mn-lt"/>
                <a:cs typeface="+mn-lt"/>
              </a:defRPr>
            </a:lvl4pPr>
            <a:lvl5pPr marL="1828800" indent="0" algn="ctr">
              <a:lnSpc>
                <a:spcPct val="90000"/>
              </a:lnSpc>
              <a:spcBef>
                <a:spcPts val="500"/>
              </a:spcBef>
              <a:buNone/>
              <a:defRPr sz="1600">
                <a:solidFill>
                  <a:schemeClr val="tx1"/>
                </a:solidFill>
                <a:latin typeface="+mn-lt"/>
                <a:ea typeface="+mn-lt"/>
                <a:cs typeface="+mn-lt"/>
              </a:defRPr>
            </a:lvl5pPr>
            <a:lvl6pPr marL="2286000" indent="0" algn="ctr">
              <a:lnSpc>
                <a:spcPct val="90000"/>
              </a:lnSpc>
              <a:spcBef>
                <a:spcPts val="500"/>
              </a:spcBef>
              <a:buNone/>
              <a:defRPr sz="1600">
                <a:solidFill>
                  <a:schemeClr val="tx1"/>
                </a:solidFill>
                <a:latin typeface="+mn-lt"/>
                <a:ea typeface="+mn-lt"/>
                <a:cs typeface="+mn-lt"/>
              </a:defRPr>
            </a:lvl6pPr>
            <a:lvl7pPr marL="2743200" indent="0" algn="ctr">
              <a:lnSpc>
                <a:spcPct val="90000"/>
              </a:lnSpc>
              <a:spcBef>
                <a:spcPts val="500"/>
              </a:spcBef>
              <a:buNone/>
              <a:defRPr sz="1600">
                <a:solidFill>
                  <a:schemeClr val="tx1"/>
                </a:solidFill>
                <a:latin typeface="+mn-lt"/>
                <a:ea typeface="+mn-lt"/>
                <a:cs typeface="+mn-lt"/>
              </a:defRPr>
            </a:lvl7pPr>
            <a:lvl8pPr marL="3200400" indent="0" algn="ctr">
              <a:lnSpc>
                <a:spcPct val="90000"/>
              </a:lnSpc>
              <a:spcBef>
                <a:spcPts val="500"/>
              </a:spcBef>
              <a:buNone/>
              <a:defRPr sz="1600">
                <a:solidFill>
                  <a:schemeClr val="tx1"/>
                </a:solidFill>
                <a:latin typeface="+mn-lt"/>
                <a:ea typeface="+mn-lt"/>
                <a:cs typeface="+mn-lt"/>
              </a:defRPr>
            </a:lvl8pPr>
            <a:lvl9pPr marL="3657600" indent="0" algn="ctr">
              <a:lnSpc>
                <a:spcPct val="90000"/>
              </a:lnSpc>
              <a:spcBef>
                <a:spcPts val="500"/>
              </a:spcBef>
              <a:buNone/>
              <a:defRPr sz="1600">
                <a:solidFill>
                  <a:schemeClr val="tx1"/>
                </a:solidFill>
                <a:latin typeface="+mn-lt"/>
                <a:ea typeface="+mn-lt"/>
                <a:cs typeface="+mn-lt"/>
              </a:defRPr>
            </a:lvl9pPr>
          </a:lstStyle>
          <a:p xmlns:a="http://schemas.openxmlformats.org/drawingml/2006/main">
            <a:r>
              <a:rPr sz="1800"/>
              <a:t>HUFS IoT TERM PROJECT</a:t>
            </a:r>
          </a:p>
        </p:txBody>
      </p:sp>
      <p:sp>
        <p:nvSpPr>
          <p:cNvPr id="8" name="Subtitle 4">
            <a:extLst xmlns:a="http://schemas.openxmlformats.org/drawingml/2006/main">
              <a:ext uri="{FF2B5EF4-FFF2-40B4-BE49-F238E27FC236}">
                <a16:creationId xmlns:a16="http://schemas.microsoft.com/office/drawing/2014/main" id="{7A9AD72C-F254-8F77-B9BB-AA0D9A0210DC}"/>
              </a:ext>
            </a:extLst>
          </p:cNvPr>
          <p:cNvSpPr>
            <a:spLocks xmlns:a="http://schemas.openxmlformats.org/drawingml/2006/main" noGrp="1"/>
          </p:cNvSpPr>
          <p:nvPr/>
        </p:nvSpPr>
        <p:spPr>
          <a:xfrm xmlns:a="http://schemas.openxmlformats.org/drawingml/2006/main">
            <a:off x="7886700" y="392241"/>
            <a:ext cx="3911600" cy="649159"/>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a:lnSpc>
                <a:spcPct val="90000"/>
              </a:lnSpc>
              <a:spcBef>
                <a:spcPts val="1000"/>
              </a:spcBef>
              <a:buNone/>
              <a:defRPr sz="2400">
                <a:solidFill>
                  <a:schemeClr val="tx1"/>
                </a:solidFill>
                <a:latin typeface="+mn-lt"/>
                <a:ea typeface="+mn-lt"/>
                <a:cs typeface="+mn-lt"/>
              </a:defRPr>
            </a:lvl1pPr>
            <a:lvl2pPr marL="457200" indent="0" algn="ctr">
              <a:lnSpc>
                <a:spcPct val="90000"/>
              </a:lnSpc>
              <a:spcBef>
                <a:spcPts val="500"/>
              </a:spcBef>
              <a:buNone/>
              <a:defRPr sz="2000">
                <a:solidFill>
                  <a:schemeClr val="tx1"/>
                </a:solidFill>
                <a:latin typeface="+mn-lt"/>
                <a:ea typeface="+mn-lt"/>
                <a:cs typeface="+mn-lt"/>
              </a:defRPr>
            </a:lvl2pPr>
            <a:lvl3pPr marL="914400" indent="0" algn="ctr">
              <a:lnSpc>
                <a:spcPct val="90000"/>
              </a:lnSpc>
              <a:spcBef>
                <a:spcPts val="500"/>
              </a:spcBef>
              <a:buNone/>
              <a:defRPr sz="1800">
                <a:solidFill>
                  <a:schemeClr val="tx1"/>
                </a:solidFill>
                <a:latin typeface="+mn-lt"/>
                <a:ea typeface="+mn-lt"/>
                <a:cs typeface="+mn-lt"/>
              </a:defRPr>
            </a:lvl3pPr>
            <a:lvl4pPr marL="1371600" indent="0" algn="ctr">
              <a:lnSpc>
                <a:spcPct val="90000"/>
              </a:lnSpc>
              <a:spcBef>
                <a:spcPts val="500"/>
              </a:spcBef>
              <a:buNone/>
              <a:defRPr sz="1600">
                <a:solidFill>
                  <a:schemeClr val="tx1"/>
                </a:solidFill>
                <a:latin typeface="+mn-lt"/>
                <a:ea typeface="+mn-lt"/>
                <a:cs typeface="+mn-lt"/>
              </a:defRPr>
            </a:lvl4pPr>
            <a:lvl5pPr marL="1828800" indent="0" algn="ctr">
              <a:lnSpc>
                <a:spcPct val="90000"/>
              </a:lnSpc>
              <a:spcBef>
                <a:spcPts val="500"/>
              </a:spcBef>
              <a:buNone/>
              <a:defRPr sz="1600">
                <a:solidFill>
                  <a:schemeClr val="tx1"/>
                </a:solidFill>
                <a:latin typeface="+mn-lt"/>
                <a:ea typeface="+mn-lt"/>
                <a:cs typeface="+mn-lt"/>
              </a:defRPr>
            </a:lvl5pPr>
            <a:lvl6pPr marL="2286000" indent="0" algn="ctr">
              <a:lnSpc>
                <a:spcPct val="90000"/>
              </a:lnSpc>
              <a:spcBef>
                <a:spcPts val="500"/>
              </a:spcBef>
              <a:buNone/>
              <a:defRPr sz="1600">
                <a:solidFill>
                  <a:schemeClr val="tx1"/>
                </a:solidFill>
                <a:latin typeface="+mn-lt"/>
                <a:ea typeface="+mn-lt"/>
                <a:cs typeface="+mn-lt"/>
              </a:defRPr>
            </a:lvl6pPr>
            <a:lvl7pPr marL="2743200" indent="0" algn="ctr">
              <a:lnSpc>
                <a:spcPct val="90000"/>
              </a:lnSpc>
              <a:spcBef>
                <a:spcPts val="500"/>
              </a:spcBef>
              <a:buNone/>
              <a:defRPr sz="1600">
                <a:solidFill>
                  <a:schemeClr val="tx1"/>
                </a:solidFill>
                <a:latin typeface="+mn-lt"/>
                <a:ea typeface="+mn-lt"/>
                <a:cs typeface="+mn-lt"/>
              </a:defRPr>
            </a:lvl7pPr>
            <a:lvl8pPr marL="3200400" indent="0" algn="ctr">
              <a:lnSpc>
                <a:spcPct val="90000"/>
              </a:lnSpc>
              <a:spcBef>
                <a:spcPts val="500"/>
              </a:spcBef>
              <a:buNone/>
              <a:defRPr sz="1600">
                <a:solidFill>
                  <a:schemeClr val="tx1"/>
                </a:solidFill>
                <a:latin typeface="+mn-lt"/>
                <a:ea typeface="+mn-lt"/>
                <a:cs typeface="+mn-lt"/>
              </a:defRPr>
            </a:lvl8pPr>
            <a:lvl9pPr marL="3657600" indent="0" algn="ctr">
              <a:lnSpc>
                <a:spcPct val="90000"/>
              </a:lnSpc>
              <a:spcBef>
                <a:spcPts val="500"/>
              </a:spcBef>
              <a:buNone/>
              <a:defRPr sz="1600">
                <a:solidFill>
                  <a:schemeClr val="tx1"/>
                </a:solidFill>
                <a:latin typeface="+mn-lt"/>
                <a:ea typeface="+mn-lt"/>
                <a:cs typeface="+mn-lt"/>
              </a:defRPr>
            </a:lvl9pPr>
          </a:lstStyle>
          <a:p xmlns:a="http://schemas.openxmlformats.org/drawingml/2006/main">
            <a:pPr algn="r">
              <a:buNone/>
            </a:pPr>
            <a:r>
              <a:rPr sz="1800"/>
              <a:t>REAL-TIME SMART SURVEILLANCE</a:t>
            </a:r>
          </a:p>
        </p:txBody>
      </p:sp>
    </p:spTree>
    <p:extLst>
      <p:ext uri="{BB962C8B-B14F-4D97-AF65-F5344CB8AC3E}">
        <p14:creationId xmlns:p14="http://schemas.microsoft.com/office/powerpoint/2010/main" val="56324167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58" name="Google Shape;558;p61">
            <a:extLst xmlns:a="http://schemas.openxmlformats.org/drawingml/2006/main">
              <a:ext uri="{FF2B5EF4-FFF2-40B4-BE49-F238E27FC236}">
                <a16:creationId xmlns:a16="http://schemas.microsoft.com/office/drawing/2014/main" id="{5AB35336-B601-40DE-AAF6-508F0F4CB872}"/>
              </a:ext>
            </a:extLst>
          </p:cNvPr>
          <p:cNvSpPr>
            <a:spLocks xmlns:a="http://schemas.openxmlformats.org/drawingml/2006/main" noGrp="1"/>
          </p:cNvSpPr>
          <p:nvPr>
            <p:ph idx="1"/>
          </p:nvPr>
        </p:nvSpPr>
        <p:spPr>
          <a:xfrm xmlns:a="http://schemas.openxmlformats.org/drawingml/2006/main">
            <a:off x="393700" y="4013200"/>
            <a:ext cx="3568700" cy="1981200"/>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spcAft>
                <a:spcPts val="1300"/>
              </a:spcAft>
              <a:buNone/>
            </a:pPr>
            <a:r>
              <a:rPr sz="1900"/>
              <a:t>COVERAGE GAP</a:t>
            </a:r>
          </a:p>
          <a:p xmlns:a="http://schemas.openxmlformats.org/drawingml/2006/main">
            <a:pPr marL="0" indent="0">
              <a:spcAft>
                <a:spcPts val="1300"/>
              </a:spcAft>
              <a:buNone/>
            </a:pPr>
            <a:r>
              <a:rPr sz="1900"/>
              <a:t>Cameras and motion sensors miss events outside their field of view. Sound adds an independent signal.</a:t>
            </a:r>
          </a:p>
        </p:txBody>
      </p:sp>
      <p:sp>
        <p:nvSpPr>
          <p:cNvPr id="556" name="Google Shape;556;p61">
            <a:extLst xmlns:a="http://schemas.openxmlformats.org/drawingml/2006/main">
              <a:ext uri="{FF2B5EF4-FFF2-40B4-BE49-F238E27FC236}">
                <a16:creationId xmlns:a16="http://schemas.microsoft.com/office/drawing/2014/main" id="{266AC2A4-9BA4-4F9E-96DC-AA4ABEA7A100}"/>
              </a:ext>
            </a:extLst>
          </p:cNvPr>
          <p:cNvSpPr>
            <a:spLocks xmlns:a="http://schemas.openxmlformats.org/drawingml/2006/main" noGrp="1"/>
          </p:cNvSpPr>
          <p:nvPr>
            <p:ph type="sldNum" idx="4"/>
          </p:nvPr>
        </p:nvSpPr>
        <p:spPr>
          <a:prstGeom xmlns:a="http://schemas.openxmlformats.org/drawingml/2006/main" prst="rect">
            <a:avLst/>
          </a:prstGeom>
        </p:spPr>
        <p:txBody>
          <a:bodyPr xmlns:a="http://schemas.openxmlformats.org/drawingml/2006/main" spcFirstLastPara="1" vert="horz" wrap="square" lIns="0" tIns="0" rIns="0" bIns="0" anchor="ctr">
            <a:noAutofit/>
          </a:bodyPr>
          <a:lstStyle xmlns:a="http://schemas.openxmlformats.org/drawingml/2006/main"/>
          <a:p xmlns:a="http://schemas.openxmlformats.org/drawingml/2006/main">
            <a:fld id="{E2598689-54C9-18A7-3A19-ED76AA08988F}" type="slidenum">
              <a:t>2</a:t>
            </a:fld>
          </a:p>
        </p:txBody>
      </p:sp>
      <p:sp>
        <p:nvSpPr>
          <p:cNvPr id="559" name="Google Shape;559;p61">
            <a:extLst xmlns:a="http://schemas.openxmlformats.org/drawingml/2006/main">
              <a:ext uri="{FF2B5EF4-FFF2-40B4-BE49-F238E27FC236}">
                <a16:creationId xmlns:a16="http://schemas.microsoft.com/office/drawing/2014/main" id="{B947E6A4-9E50-413F-9005-5865C1860F3A}"/>
              </a:ext>
            </a:extLst>
          </p:cNvPr>
          <p:cNvSpPr>
            <a:spLocks xmlns:a="http://schemas.openxmlformats.org/drawingml/2006/main" noGrp="1"/>
          </p:cNvSpPr>
          <p:nvPr>
            <p:ph idx="10"/>
          </p:nvPr>
        </p:nvSpPr>
        <p:spPr>
          <a:xfrm xmlns:a="http://schemas.openxmlformats.org/drawingml/2006/main">
            <a:off x="4318000" y="4013200"/>
            <a:ext cx="3568700" cy="1981200"/>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spcAft>
                <a:spcPts val="1300"/>
              </a:spcAft>
              <a:buNone/>
            </a:pPr>
            <a:r>
              <a:rPr sz="1900">
                <a:solidFill>
                  <a:schemeClr val="dk1"/>
                </a:solidFill>
              </a:rPr>
              <a:t>EDGE PRIVACY</a:t>
            </a:r>
          </a:p>
          <a:p xmlns:a="http://schemas.openxmlformats.org/drawingml/2006/main">
            <a:pPr marL="0" indent="0">
              <a:spcAft>
                <a:spcPts val="1300"/>
              </a:spcAft>
              <a:buNone/>
            </a:pPr>
            <a:r>
              <a:rPr sz="1900">
                <a:solidFill>
                  <a:schemeClr val="dk1"/>
                </a:solidFill>
              </a:rPr>
              <a:t>Audio is analyzed locally on a Raspberry Pi. Only detected events and evidence are transmitted.</a:t>
            </a:r>
          </a:p>
        </p:txBody>
      </p:sp>
      <p:sp>
        <p:nvSpPr>
          <p:cNvPr id="560" name="Google Shape;560;p61">
            <a:extLst xmlns:a="http://schemas.openxmlformats.org/drawingml/2006/main">
              <a:ext uri="{FF2B5EF4-FFF2-40B4-BE49-F238E27FC236}">
                <a16:creationId xmlns:a16="http://schemas.microsoft.com/office/drawing/2014/main" id="{4C7EED5A-75D0-4947-87A1-4F5236FAEB17}"/>
              </a:ext>
            </a:extLst>
          </p:cNvPr>
          <p:cNvSpPr>
            <a:spLocks xmlns:a="http://schemas.openxmlformats.org/drawingml/2006/main" noGrp="1"/>
          </p:cNvSpPr>
          <p:nvPr>
            <p:ph idx="11"/>
          </p:nvPr>
        </p:nvSpPr>
        <p:spPr>
          <a:xfrm xmlns:a="http://schemas.openxmlformats.org/drawingml/2006/main">
            <a:off x="8232273" y="4013200"/>
            <a:ext cx="3568700" cy="1981200"/>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spcAft>
                <a:spcPts val="1300"/>
              </a:spcAft>
              <a:buNone/>
            </a:pPr>
            <a:r>
              <a:rPr sz="1900">
                <a:solidFill>
                  <a:schemeClr val="dk1"/>
                </a:solidFill>
              </a:rPr>
              <a:t>AUTOMATED RESPONSE</a:t>
            </a:r>
          </a:p>
          <a:p xmlns:a="http://schemas.openxmlformats.org/drawingml/2006/main">
            <a:pPr marL="0" indent="0">
              <a:spcAft>
                <a:spcPts val="1300"/>
              </a:spcAft>
              <a:buNone/>
            </a:pPr>
            <a:r>
              <a:rPr sz="1900">
                <a:solidFill>
                  <a:schemeClr val="dk1"/>
                </a:solidFill>
              </a:rPr>
              <a:t>One detection triggers a buzzer, LED, camera capture, event log, and Telegram notification.</a:t>
            </a:r>
          </a:p>
        </p:txBody>
      </p:sp>
      <p:sp>
        <p:nvSpPr>
          <p:cNvPr id="557" name="Google Shape;557;p61">
            <a:extLst xmlns:a="http://schemas.openxmlformats.org/drawingml/2006/main">
              <a:ext uri="{FF2B5EF4-FFF2-40B4-BE49-F238E27FC236}">
                <a16:creationId xmlns:a16="http://schemas.microsoft.com/office/drawing/2014/main" id="{E7B40452-B16C-43CE-9098-256ABCCB3324}"/>
              </a:ext>
            </a:extLst>
          </p:cNvPr>
          <p:cNvSpPr>
            <a:spLocks xmlns:a="http://schemas.openxmlformats.org/drawingml/2006/main" noGrp="1"/>
          </p:cNvSpPr>
          <p:nvPr>
            <p:ph type="title" idx="0"/>
          </p:nvPr>
        </p:nvSpPr>
        <p:spPr>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t>Why listen for threats?</a:t>
            </a:r>
          </a:p>
        </p:txBody>
      </p:sp>
      <p:sp>
        <p:nvSpPr>
          <p:cNvPr id="561" name="Google Shape;561;p61">
            <a:extLst xmlns:a="http://schemas.openxmlformats.org/drawingml/2006/main">
              <a:ext uri="{FF2B5EF4-FFF2-40B4-BE49-F238E27FC236}">
                <a16:creationId xmlns:a16="http://schemas.microsoft.com/office/drawing/2014/main" id="{77942AB7-6490-4260-8DE0-97F0D0FC8B9C}"/>
              </a:ext>
            </a:extLst>
          </p:cNvPr>
          <p:cNvSpPr>
            <a:spLocks xmlns:a="http://schemas.openxmlformats.org/drawingml/2006/main" noGrp="1"/>
          </p:cNvSpPr>
          <p:nvPr/>
        </p:nvSpPr>
        <p:spPr>
          <a:xfrm xmlns:a="http://schemas.openxmlformats.org/drawingml/2006/main">
            <a:off x="4279904" y="3433102"/>
            <a:ext cx="315580" cy="353873"/>
          </a:xfrm>
          <a:custGeom xmlns:a="http://schemas.openxmlformats.org/drawingml/2006/main">
            <a:rect l="l" t="t" r="r" b="b"/>
            <a:pathLst>
              <a:path w="20236" h="20115">
                <a:moveTo>
                  <a:pt x="11303" y="2594"/>
                </a:moveTo>
                <a:lnTo>
                  <a:pt x="2175" y="11983"/>
                </a:lnTo>
                <a:lnTo>
                  <a:pt x="9033" y="11983"/>
                </a:lnTo>
                <a:cubicBezTo>
                  <a:pt x="9364" y="11983"/>
                  <a:pt x="9678" y="12118"/>
                  <a:pt x="9883" y="12348"/>
                </a:cubicBezTo>
                <a:cubicBezTo>
                  <a:pt x="10089" y="12579"/>
                  <a:pt x="10165" y="12880"/>
                  <a:pt x="10089" y="13166"/>
                </a:cubicBezTo>
                <a:lnTo>
                  <a:pt x="8933" y="17522"/>
                </a:lnTo>
                <a:lnTo>
                  <a:pt x="18061" y="8133"/>
                </a:lnTo>
                <a:lnTo>
                  <a:pt x="11203" y="8133"/>
                </a:lnTo>
                <a:cubicBezTo>
                  <a:pt x="10872" y="8133"/>
                  <a:pt x="10558" y="7999"/>
                  <a:pt x="10353" y="7768"/>
                </a:cubicBezTo>
                <a:cubicBezTo>
                  <a:pt x="10147" y="7537"/>
                  <a:pt x="10071" y="7236"/>
                  <a:pt x="10147" y="6950"/>
                </a:cubicBezTo>
                <a:lnTo>
                  <a:pt x="11303" y="2594"/>
                </a:lnTo>
                <a:close/>
                <a:moveTo>
                  <a:pt x="10382" y="593"/>
                </a:moveTo>
                <a:cubicBezTo>
                  <a:pt x="11679" y="-742"/>
                  <a:pt x="14125" y="363"/>
                  <a:pt x="13670" y="2078"/>
                </a:cubicBezTo>
                <a:lnTo>
                  <a:pt x="12574" y="6208"/>
                </a:lnTo>
                <a:lnTo>
                  <a:pt x="18061" y="6208"/>
                </a:lnTo>
                <a:cubicBezTo>
                  <a:pt x="19918" y="6208"/>
                  <a:pt x="20918" y="8142"/>
                  <a:pt x="19705" y="9390"/>
                </a:cubicBezTo>
                <a:lnTo>
                  <a:pt x="9854" y="19523"/>
                </a:lnTo>
                <a:cubicBezTo>
                  <a:pt x="8557" y="20858"/>
                  <a:pt x="6111" y="19753"/>
                  <a:pt x="6566" y="18038"/>
                </a:cubicBezTo>
                <a:lnTo>
                  <a:pt x="7662" y="13908"/>
                </a:lnTo>
                <a:lnTo>
                  <a:pt x="2175" y="13908"/>
                </a:lnTo>
                <a:cubicBezTo>
                  <a:pt x="318" y="13908"/>
                  <a:pt x="-682" y="11974"/>
                  <a:pt x="531" y="10726"/>
                </a:cubicBezTo>
                <a:lnTo>
                  <a:pt x="10382" y="593"/>
                </a:lnTo>
                <a:close/>
              </a:path>
            </a:pathLst>
          </a:custGeom>
          <a:solidFill xmlns:a="http://schemas.openxmlformats.org/drawingml/2006/main">
            <a:srgbClr val="000000"/>
          </a:solidFill>
          <a:ln xmlns:a="http://schemas.openxmlformats.org/drawingml/2006/main">
            <a:noFill/>
          </a:ln>
        </p:spPr>
        <p:txBody>
          <a:bodyPr xmlns:a="http://schemas.openxmlformats.org/drawingml/2006/main" spcFirstLastPara="1" wrap="square" lIns="67725" tIns="67725" rIns="67725" bIns="67725" anchor="ctr">
            <a:noAutofit/>
          </a:bodyPr>
          <a:lstStyle xmlns:a="http://schemas.openxmlformats.org/drawingml/2006/main"/>
          <a:p xmlns:a="http://schemas.openxmlformats.org/drawingml/2006/main">
            <a:pPr algn="ctr">
              <a:buNone/>
            </a:pPr>
          </a:p>
        </p:txBody>
      </p:sp>
      <p:sp>
        <p:nvSpPr>
          <p:cNvPr id="562" name="Google Shape;562;p61">
            <a:extLst xmlns:a="http://schemas.openxmlformats.org/drawingml/2006/main">
              <a:ext uri="{FF2B5EF4-FFF2-40B4-BE49-F238E27FC236}">
                <a16:creationId xmlns:a16="http://schemas.microsoft.com/office/drawing/2014/main" id="{4164F68C-528B-45C3-98CE-50B53AA6E60D}"/>
              </a:ext>
            </a:extLst>
          </p:cNvPr>
          <p:cNvSpPr>
            <a:spLocks xmlns:a="http://schemas.openxmlformats.org/drawingml/2006/main" noGrp="1"/>
          </p:cNvSpPr>
          <p:nvPr/>
        </p:nvSpPr>
        <p:spPr>
          <a:xfrm xmlns:a="http://schemas.openxmlformats.org/drawingml/2006/main">
            <a:off x="333666" y="3429011"/>
            <a:ext cx="327078" cy="362074"/>
          </a:xfrm>
          <a:custGeom xmlns:a="http://schemas.openxmlformats.org/drawingml/2006/main">
            <a:rect l="l" t="t" r="r" b="b"/>
            <a:pathLst>
              <a:path w="21600" h="21333">
                <a:moveTo>
                  <a:pt x="11359" y="2130"/>
                </a:moveTo>
                <a:cubicBezTo>
                  <a:pt x="11014" y="1951"/>
                  <a:pt x="10588" y="1951"/>
                  <a:pt x="10241" y="2130"/>
                </a:cubicBezTo>
                <a:lnTo>
                  <a:pt x="3250" y="5732"/>
                </a:lnTo>
                <a:lnTo>
                  <a:pt x="10817" y="9530"/>
                </a:lnTo>
                <a:lnTo>
                  <a:pt x="18593" y="5856"/>
                </a:lnTo>
                <a:lnTo>
                  <a:pt x="11359" y="2130"/>
                </a:lnTo>
                <a:close/>
                <a:moveTo>
                  <a:pt x="19364" y="7749"/>
                </a:moveTo>
                <a:lnTo>
                  <a:pt x="11918" y="11267"/>
                </a:lnTo>
                <a:lnTo>
                  <a:pt x="11918" y="18916"/>
                </a:lnTo>
                <a:lnTo>
                  <a:pt x="18805" y="15367"/>
                </a:lnTo>
                <a:cubicBezTo>
                  <a:pt x="19152" y="15189"/>
                  <a:pt x="19364" y="14860"/>
                  <a:pt x="19364" y="14503"/>
                </a:cubicBezTo>
                <a:lnTo>
                  <a:pt x="19364" y="7749"/>
                </a:lnTo>
                <a:close/>
                <a:moveTo>
                  <a:pt x="9682" y="18916"/>
                </a:moveTo>
                <a:lnTo>
                  <a:pt x="9682" y="11250"/>
                </a:lnTo>
                <a:lnTo>
                  <a:pt x="2236" y="7513"/>
                </a:lnTo>
                <a:lnTo>
                  <a:pt x="2236" y="14503"/>
                </a:lnTo>
                <a:cubicBezTo>
                  <a:pt x="2236" y="14860"/>
                  <a:pt x="2448" y="15189"/>
                  <a:pt x="2795" y="15367"/>
                </a:cubicBezTo>
                <a:lnTo>
                  <a:pt x="9682" y="18916"/>
                </a:lnTo>
                <a:close/>
                <a:moveTo>
                  <a:pt x="9123" y="401"/>
                </a:moveTo>
                <a:cubicBezTo>
                  <a:pt x="10160" y="-133"/>
                  <a:pt x="11440" y="-133"/>
                  <a:pt x="12477" y="401"/>
                </a:cubicBezTo>
                <a:lnTo>
                  <a:pt x="19923" y="4238"/>
                </a:lnTo>
                <a:cubicBezTo>
                  <a:pt x="20962" y="4773"/>
                  <a:pt x="21600" y="5761"/>
                  <a:pt x="21600" y="6830"/>
                </a:cubicBezTo>
                <a:lnTo>
                  <a:pt x="21600" y="14503"/>
                </a:lnTo>
                <a:cubicBezTo>
                  <a:pt x="21600" y="15572"/>
                  <a:pt x="20962" y="16561"/>
                  <a:pt x="19923" y="17096"/>
                </a:cubicBezTo>
                <a:lnTo>
                  <a:pt x="12477" y="20932"/>
                </a:lnTo>
                <a:cubicBezTo>
                  <a:pt x="11440" y="21467"/>
                  <a:pt x="10160" y="21467"/>
                  <a:pt x="9123" y="20932"/>
                </a:cubicBezTo>
                <a:lnTo>
                  <a:pt x="1677" y="17096"/>
                </a:lnTo>
                <a:cubicBezTo>
                  <a:pt x="640" y="16561"/>
                  <a:pt x="0" y="15572"/>
                  <a:pt x="0" y="14503"/>
                </a:cubicBezTo>
                <a:lnTo>
                  <a:pt x="0" y="6830"/>
                </a:lnTo>
                <a:cubicBezTo>
                  <a:pt x="0" y="5761"/>
                  <a:pt x="640" y="4773"/>
                  <a:pt x="1677" y="4238"/>
                </a:cubicBezTo>
                <a:lnTo>
                  <a:pt x="9123" y="401"/>
                </a:lnTo>
                <a:close/>
              </a:path>
            </a:pathLst>
          </a:custGeom>
          <a:solidFill xmlns:a="http://schemas.openxmlformats.org/drawingml/2006/main">
            <a:srgbClr val="000000"/>
          </a:solidFill>
          <a:ln xmlns:a="http://schemas.openxmlformats.org/drawingml/2006/main">
            <a:noFill/>
          </a:ln>
        </p:spPr>
        <p:txBody>
          <a:bodyPr xmlns:a="http://schemas.openxmlformats.org/drawingml/2006/main" spcFirstLastPara="1" wrap="square" lIns="67725" tIns="67725" rIns="67725" bIns="67725" anchor="ctr">
            <a:noAutofit/>
          </a:bodyPr>
          <a:lstStyle xmlns:a="http://schemas.openxmlformats.org/drawingml/2006/main"/>
          <a:p xmlns:a="http://schemas.openxmlformats.org/drawingml/2006/main">
            <a:pPr algn="ctr">
              <a:buNone/>
            </a:pPr>
          </a:p>
        </p:txBody>
      </p:sp>
      <p:sp>
        <p:nvSpPr>
          <p:cNvPr id="563" name="Google Shape;563;p61">
            <a:extLst xmlns:a="http://schemas.openxmlformats.org/drawingml/2006/main">
              <a:ext uri="{FF2B5EF4-FFF2-40B4-BE49-F238E27FC236}">
                <a16:creationId xmlns:a16="http://schemas.microsoft.com/office/drawing/2014/main" id="{C92AB1EB-084E-46D5-8EF2-4DF29F0036F1}"/>
              </a:ext>
            </a:extLst>
          </p:cNvPr>
          <p:cNvSpPr>
            <a:spLocks xmlns:a="http://schemas.openxmlformats.org/drawingml/2006/main" noGrp="1"/>
          </p:cNvSpPr>
          <p:nvPr/>
        </p:nvSpPr>
        <p:spPr>
          <a:xfrm xmlns:a="http://schemas.openxmlformats.org/drawingml/2006/main">
            <a:off x="8214664" y="3474581"/>
            <a:ext cx="338580" cy="270918"/>
          </a:xfrm>
          <a:custGeom xmlns:a="http://schemas.openxmlformats.org/drawingml/2006/main">
            <a:rect l="l" t="t" r="r" b="b"/>
            <a:pathLst>
              <a:path w="21600" h="21600">
                <a:moveTo>
                  <a:pt x="6220" y="0"/>
                </a:moveTo>
                <a:lnTo>
                  <a:pt x="15380" y="0"/>
                </a:lnTo>
                <a:cubicBezTo>
                  <a:pt x="16250" y="0"/>
                  <a:pt x="16968" y="0"/>
                  <a:pt x="17552" y="59"/>
                </a:cubicBezTo>
                <a:cubicBezTo>
                  <a:pt x="18159" y="122"/>
                  <a:pt x="18717" y="255"/>
                  <a:pt x="19241" y="589"/>
                </a:cubicBezTo>
                <a:cubicBezTo>
                  <a:pt x="20055" y="1106"/>
                  <a:pt x="20715" y="1932"/>
                  <a:pt x="21129" y="2948"/>
                </a:cubicBezTo>
                <a:cubicBezTo>
                  <a:pt x="21396" y="3603"/>
                  <a:pt x="21503" y="4301"/>
                  <a:pt x="21552" y="5060"/>
                </a:cubicBezTo>
                <a:cubicBezTo>
                  <a:pt x="21600" y="5790"/>
                  <a:pt x="21600" y="6688"/>
                  <a:pt x="21600" y="7775"/>
                </a:cubicBezTo>
                <a:lnTo>
                  <a:pt x="21600" y="13825"/>
                </a:lnTo>
                <a:cubicBezTo>
                  <a:pt x="21600" y="14912"/>
                  <a:pt x="21600" y="15810"/>
                  <a:pt x="21552" y="16540"/>
                </a:cubicBezTo>
                <a:cubicBezTo>
                  <a:pt x="21503" y="17299"/>
                  <a:pt x="21396" y="17997"/>
                  <a:pt x="21129" y="18652"/>
                </a:cubicBezTo>
                <a:cubicBezTo>
                  <a:pt x="20715" y="19668"/>
                  <a:pt x="20055" y="20494"/>
                  <a:pt x="19241" y="21011"/>
                </a:cubicBezTo>
                <a:cubicBezTo>
                  <a:pt x="18717" y="21345"/>
                  <a:pt x="18159" y="21478"/>
                  <a:pt x="17552" y="21541"/>
                </a:cubicBezTo>
                <a:cubicBezTo>
                  <a:pt x="16968" y="21600"/>
                  <a:pt x="16250" y="21600"/>
                  <a:pt x="15380" y="21600"/>
                </a:cubicBezTo>
                <a:lnTo>
                  <a:pt x="6220" y="21600"/>
                </a:lnTo>
                <a:cubicBezTo>
                  <a:pt x="5350" y="21600"/>
                  <a:pt x="4632" y="21600"/>
                  <a:pt x="4048" y="21541"/>
                </a:cubicBezTo>
                <a:cubicBezTo>
                  <a:pt x="3441" y="21478"/>
                  <a:pt x="2883" y="21345"/>
                  <a:pt x="2359" y="21011"/>
                </a:cubicBezTo>
                <a:cubicBezTo>
                  <a:pt x="1545" y="20494"/>
                  <a:pt x="885" y="19668"/>
                  <a:pt x="471" y="18652"/>
                </a:cubicBezTo>
                <a:cubicBezTo>
                  <a:pt x="204" y="17997"/>
                  <a:pt x="97" y="17299"/>
                  <a:pt x="48" y="16540"/>
                </a:cubicBezTo>
                <a:cubicBezTo>
                  <a:pt x="0" y="15810"/>
                  <a:pt x="0" y="14912"/>
                  <a:pt x="0" y="13825"/>
                </a:cubicBezTo>
                <a:lnTo>
                  <a:pt x="0" y="7775"/>
                </a:lnTo>
                <a:cubicBezTo>
                  <a:pt x="0" y="6688"/>
                  <a:pt x="0" y="5790"/>
                  <a:pt x="48" y="5060"/>
                </a:cubicBezTo>
                <a:cubicBezTo>
                  <a:pt x="97" y="4301"/>
                  <a:pt x="204" y="3603"/>
                  <a:pt x="471" y="2948"/>
                </a:cubicBezTo>
                <a:cubicBezTo>
                  <a:pt x="885" y="1932"/>
                  <a:pt x="1545" y="1106"/>
                  <a:pt x="2359" y="589"/>
                </a:cubicBezTo>
                <a:cubicBezTo>
                  <a:pt x="2883" y="255"/>
                  <a:pt x="3441" y="122"/>
                  <a:pt x="4048" y="59"/>
                </a:cubicBezTo>
                <a:cubicBezTo>
                  <a:pt x="4632" y="0"/>
                  <a:pt x="5350" y="0"/>
                  <a:pt x="6220" y="0"/>
                </a:cubicBezTo>
                <a:close/>
                <a:moveTo>
                  <a:pt x="2160" y="9450"/>
                </a:moveTo>
                <a:lnTo>
                  <a:pt x="2160" y="13770"/>
                </a:lnTo>
                <a:cubicBezTo>
                  <a:pt x="2160" y="14927"/>
                  <a:pt x="2161" y="15713"/>
                  <a:pt x="2201" y="16320"/>
                </a:cubicBezTo>
                <a:cubicBezTo>
                  <a:pt x="2239" y="16911"/>
                  <a:pt x="2309" y="17215"/>
                  <a:pt x="2395" y="17426"/>
                </a:cubicBezTo>
                <a:cubicBezTo>
                  <a:pt x="2603" y="17933"/>
                  <a:pt x="2933" y="18347"/>
                  <a:pt x="3339" y="18606"/>
                </a:cubicBezTo>
                <a:cubicBezTo>
                  <a:pt x="3508" y="18714"/>
                  <a:pt x="3751" y="18801"/>
                  <a:pt x="4224" y="18849"/>
                </a:cubicBezTo>
                <a:cubicBezTo>
                  <a:pt x="4710" y="18899"/>
                  <a:pt x="5338" y="18900"/>
                  <a:pt x="6264" y="18900"/>
                </a:cubicBezTo>
                <a:lnTo>
                  <a:pt x="15336" y="18900"/>
                </a:lnTo>
                <a:cubicBezTo>
                  <a:pt x="16262" y="18900"/>
                  <a:pt x="16890" y="18899"/>
                  <a:pt x="17376" y="18849"/>
                </a:cubicBezTo>
                <a:cubicBezTo>
                  <a:pt x="17849" y="18801"/>
                  <a:pt x="18092" y="18714"/>
                  <a:pt x="18261" y="18606"/>
                </a:cubicBezTo>
                <a:cubicBezTo>
                  <a:pt x="18667" y="18347"/>
                  <a:pt x="18997" y="17933"/>
                  <a:pt x="19205" y="17426"/>
                </a:cubicBezTo>
                <a:cubicBezTo>
                  <a:pt x="19291" y="17215"/>
                  <a:pt x="19361" y="16911"/>
                  <a:pt x="19399" y="16320"/>
                </a:cubicBezTo>
                <a:cubicBezTo>
                  <a:pt x="19439" y="15713"/>
                  <a:pt x="19440" y="14927"/>
                  <a:pt x="19440" y="13770"/>
                </a:cubicBezTo>
                <a:lnTo>
                  <a:pt x="19440" y="9450"/>
                </a:lnTo>
                <a:lnTo>
                  <a:pt x="2160" y="9450"/>
                </a:lnTo>
                <a:close/>
                <a:moveTo>
                  <a:pt x="19438" y="6750"/>
                </a:moveTo>
                <a:cubicBezTo>
                  <a:pt x="19435" y="6148"/>
                  <a:pt x="19425" y="5677"/>
                  <a:pt x="19399" y="5280"/>
                </a:cubicBezTo>
                <a:cubicBezTo>
                  <a:pt x="19361" y="4689"/>
                  <a:pt x="19291" y="4385"/>
                  <a:pt x="19205" y="4174"/>
                </a:cubicBezTo>
                <a:cubicBezTo>
                  <a:pt x="18997" y="3667"/>
                  <a:pt x="18667" y="3254"/>
                  <a:pt x="18261" y="2994"/>
                </a:cubicBezTo>
                <a:cubicBezTo>
                  <a:pt x="18092" y="2886"/>
                  <a:pt x="17849" y="2799"/>
                  <a:pt x="17376" y="2751"/>
                </a:cubicBezTo>
                <a:cubicBezTo>
                  <a:pt x="16890" y="2701"/>
                  <a:pt x="16262" y="2700"/>
                  <a:pt x="15336" y="2700"/>
                </a:cubicBezTo>
                <a:lnTo>
                  <a:pt x="6264" y="2700"/>
                </a:lnTo>
                <a:cubicBezTo>
                  <a:pt x="5338" y="2700"/>
                  <a:pt x="4710" y="2701"/>
                  <a:pt x="4224" y="2751"/>
                </a:cubicBezTo>
                <a:cubicBezTo>
                  <a:pt x="3751" y="2799"/>
                  <a:pt x="3508" y="2886"/>
                  <a:pt x="3339" y="2994"/>
                </a:cubicBezTo>
                <a:cubicBezTo>
                  <a:pt x="2933" y="3254"/>
                  <a:pt x="2603" y="3667"/>
                  <a:pt x="2395" y="4174"/>
                </a:cubicBezTo>
                <a:cubicBezTo>
                  <a:pt x="2309" y="4385"/>
                  <a:pt x="2239" y="4689"/>
                  <a:pt x="2201" y="5280"/>
                </a:cubicBezTo>
                <a:cubicBezTo>
                  <a:pt x="2175" y="5677"/>
                  <a:pt x="2165" y="6148"/>
                  <a:pt x="2162" y="6750"/>
                </a:cubicBezTo>
                <a:lnTo>
                  <a:pt x="19438" y="6750"/>
                </a:lnTo>
                <a:close/>
                <a:moveTo>
                  <a:pt x="12960" y="14850"/>
                </a:moveTo>
                <a:cubicBezTo>
                  <a:pt x="12960" y="14105"/>
                  <a:pt x="13444" y="13500"/>
                  <a:pt x="14040" y="13500"/>
                </a:cubicBezTo>
                <a:lnTo>
                  <a:pt x="16200" y="13500"/>
                </a:lnTo>
                <a:cubicBezTo>
                  <a:pt x="16796" y="13500"/>
                  <a:pt x="17280" y="14105"/>
                  <a:pt x="17280" y="14850"/>
                </a:cubicBezTo>
                <a:cubicBezTo>
                  <a:pt x="17280" y="15595"/>
                  <a:pt x="16796" y="16200"/>
                  <a:pt x="16200" y="16200"/>
                </a:cubicBezTo>
                <a:lnTo>
                  <a:pt x="14040" y="16200"/>
                </a:lnTo>
                <a:cubicBezTo>
                  <a:pt x="13444" y="16200"/>
                  <a:pt x="12960" y="15595"/>
                  <a:pt x="12960" y="14850"/>
                </a:cubicBezTo>
                <a:close/>
              </a:path>
            </a:pathLst>
          </a:custGeom>
          <a:solidFill xmlns:a="http://schemas.openxmlformats.org/drawingml/2006/main">
            <a:srgbClr val="000000"/>
          </a:solidFill>
          <a:ln xmlns:a="http://schemas.openxmlformats.org/drawingml/2006/main">
            <a:noFill/>
          </a:ln>
        </p:spPr>
        <p:txBody>
          <a:bodyPr xmlns:a="http://schemas.openxmlformats.org/drawingml/2006/main" spcFirstLastPara="1" wrap="square" lIns="67725" tIns="67725" rIns="67725" bIns="67725" anchor="ctr">
            <a:noAutofit/>
          </a:bodyPr>
          <a:lstStyle xmlns:a="http://schemas.openxmlformats.org/drawingml/2006/main"/>
          <a:p xmlns:a="http://schemas.openxmlformats.org/drawingml/2006/main">
            <a:pPr algn="ctr">
              <a:buNone/>
            </a:pPr>
          </a:p>
        </p:txBody>
      </p:sp>
    </p:spTree>
    <p:extLst>
      <p:ext uri="{BB962C8B-B14F-4D97-AF65-F5344CB8AC3E}">
        <p14:creationId xmlns:p14="http://schemas.microsoft.com/office/powerpoint/2010/main" val="58707776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4" name="Slide Number Placeholder 3">
            <a:extLst xmlns:a="http://schemas.openxmlformats.org/drawingml/2006/main">
              <a:ext uri="{FF2B5EF4-FFF2-40B4-BE49-F238E27FC236}">
                <a16:creationId xmlns:a16="http://schemas.microsoft.com/office/drawing/2014/main" id="{DCDD464D-3316-879D-91C3-30E54491AD13}"/>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fld id="{202359C0-8A7A-196E-DD58-8E6569619F09}" type="slidenum">
              <a:t>3</a:t>
            </a:fld>
          </a:p>
        </p:txBody>
      </p:sp>
      <p:sp>
        <p:nvSpPr>
          <p:cNvPr id="11" name="Title 10">
            <a:extLst xmlns:a="http://schemas.openxmlformats.org/drawingml/2006/main">
              <a:ext uri="{FF2B5EF4-FFF2-40B4-BE49-F238E27FC236}">
                <a16:creationId xmlns:a16="http://schemas.microsoft.com/office/drawing/2014/main" id="{8D39B68E-326B-DDEB-2069-B8BB0D01F042}"/>
              </a:ext>
            </a:extLst>
          </p:cNvPr>
          <p:cNvSpPr>
            <a:spLocks xmlns:a="http://schemas.openxmlformats.org/drawingml/2006/main" noGrp="1"/>
          </p:cNvSpPr>
          <p:nvPr>
            <p:ph type="title" idx="0"/>
          </p:nvPr>
        </p:nvSpPr>
        <p:spPr>
          <a:xfrm xmlns:a="http://schemas.openxmlformats.org/drawingml/2006/main">
            <a:off x="393700" y="344008"/>
            <a:ext cx="5534180" cy="1047491"/>
          </a:xfrm>
        </p:spPr>
        <p:txBody>
          <a:bodyPr xmlns:a="http://schemas.openxmlformats.org/drawingml/2006/main"/>
          <a:lstStyle xmlns:a="http://schemas.openxmlformats.org/drawingml/2006/main"/>
          <a:p xmlns:a="http://schemas.openxmlformats.org/drawingml/2006/main">
            <a:r>
              <a:t>Why YAMNet alone is not enough</a:t>
            </a:r>
          </a:p>
        </p:txBody>
      </p:sp>
      <p:sp>
        <p:nvSpPr>
          <p:cNvPr id="3" name="Rounded Rectangle 2">
            <a:extLst xmlns:a="http://schemas.openxmlformats.org/drawingml/2006/main">
              <a:ext uri="{FF2B5EF4-FFF2-40B4-BE49-F238E27FC236}">
                <a16:creationId xmlns:a16="http://schemas.microsoft.com/office/drawing/2014/main" id="{29B30B4D-AB5C-65DB-5658-753508EB3D5D}"/>
              </a:ext>
            </a:extLst>
          </p:cNvPr>
          <p:cNvSpPr>
            <a:spLocks xmlns:a="http://schemas.openxmlformats.org/drawingml/2006/main" noGrp="1"/>
          </p:cNvSpPr>
          <p:nvPr/>
        </p:nvSpPr>
        <p:spPr>
          <a:xfrm xmlns:a="http://schemas.openxmlformats.org/drawingml/2006/main">
            <a:off x="393700" y="2032000"/>
            <a:ext cx="2581975" cy="2656541"/>
          </a:xfrm>
          <a:prstGeom xmlns:a="http://schemas.openxmlformats.org/drawingml/2006/main" prst="roundRect">
            <a:avLst>
              <a:gd name="adj" fmla="val 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Rounded Rectangle 1">
            <a:extLst xmlns:a="http://schemas.openxmlformats.org/drawingml/2006/main">
              <a:ext uri="{FF2B5EF4-FFF2-40B4-BE49-F238E27FC236}">
                <a16:creationId xmlns:a16="http://schemas.microsoft.com/office/drawing/2014/main" id="{2F75E60C-F9D7-0EB1-DB87-30BB4B887E89}"/>
              </a:ext>
            </a:extLst>
          </p:cNvPr>
          <p:cNvSpPr>
            <a:spLocks xmlns:a="http://schemas.openxmlformats.org/drawingml/2006/main" noGrp="1"/>
          </p:cNvSpPr>
          <p:nvPr/>
        </p:nvSpPr>
        <p:spPr>
          <a:xfrm xmlns:a="http://schemas.openxmlformats.org/drawingml/2006/main">
            <a:off x="0" y="5385955"/>
            <a:ext cx="12192000" cy="1485900"/>
          </a:xfrm>
          <a:prstGeom xmlns:a="http://schemas.openxmlformats.org/drawingml/2006/main" prst="roundRect">
            <a:avLst>
              <a:gd name="adj" fmla="val 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Content Placeholder 9">
            <a:extLst xmlns:a="http://schemas.openxmlformats.org/drawingml/2006/main">
              <a:ext uri="{FF2B5EF4-FFF2-40B4-BE49-F238E27FC236}">
                <a16:creationId xmlns:a16="http://schemas.microsoft.com/office/drawing/2014/main" id="{48F23094-2741-BF93-9618-593A39D42BD2}"/>
              </a:ext>
            </a:extLst>
          </p:cNvPr>
          <p:cNvSpPr>
            <a:spLocks xmlns:a="http://schemas.openxmlformats.org/drawingml/2006/main" noGrp="1"/>
          </p:cNvSpPr>
          <p:nvPr/>
        </p:nvSpPr>
        <p:spPr>
          <a:xfrm xmlns:a="http://schemas.openxmlformats.org/drawingml/2006/main">
            <a:off x="631052" y="2251890"/>
            <a:ext cx="2133315"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16 kHz</a:t>
            </a:r>
          </a:p>
        </p:txBody>
      </p:sp>
      <p:sp>
        <p:nvSpPr>
          <p:cNvPr id="16" name="Content Placeholder 15">
            <a:extLst xmlns:a="http://schemas.openxmlformats.org/drawingml/2006/main">
              <a:ext uri="{FF2B5EF4-FFF2-40B4-BE49-F238E27FC236}">
                <a16:creationId xmlns:a16="http://schemas.microsoft.com/office/drawing/2014/main" id="{D63831D1-6AB6-9FDC-DF3D-910C1C60EA7D}"/>
              </a:ext>
            </a:extLst>
          </p:cNvPr>
          <p:cNvSpPr>
            <a:spLocks xmlns:a="http://schemas.openxmlformats.org/drawingml/2006/main" noGrp="1"/>
          </p:cNvSpPr>
          <p:nvPr>
            <p:ph idx="4294967295"/>
          </p:nvPr>
        </p:nvSpPr>
        <p:spPr>
          <a:xfrm xmlns:a="http://schemas.openxmlformats.org/drawingml/2006/main">
            <a:off x="697670" y="3740150"/>
            <a:ext cx="2066698" cy="615950"/>
          </a:xfrm>
        </p:spPr>
        <p:txBody>
          <a:bodyPr xmlns:a="http://schemas.openxmlformats.org/drawingml/2006/main">
            <a:noAutofit/>
          </a:bodyPr>
          <a:lstStyle xmlns:a="http://schemas.openxmlformats.org/drawingml/2006/main"/>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Mono audio</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waveform</a:t>
            </a:r>
          </a:p>
        </p:txBody>
      </p:sp>
      <p:sp>
        <p:nvSpPr>
          <p:cNvPr id="34" name="Rounded Rectangle 33">
            <a:extLst xmlns:a="http://schemas.openxmlformats.org/drawingml/2006/main">
              <a:ext uri="{FF2B5EF4-FFF2-40B4-BE49-F238E27FC236}">
                <a16:creationId xmlns:a16="http://schemas.microsoft.com/office/drawing/2014/main" id="{D0C74EF0-61EA-0AD2-19B0-75CAAA4B844A}"/>
              </a:ext>
            </a:extLst>
          </p:cNvPr>
          <p:cNvSpPr>
            <a:spLocks xmlns:a="http://schemas.openxmlformats.org/drawingml/2006/main" noGrp="1"/>
          </p:cNvSpPr>
          <p:nvPr/>
        </p:nvSpPr>
        <p:spPr>
          <a:xfrm xmlns:a="http://schemas.openxmlformats.org/drawingml/2006/main">
            <a:off x="3345905" y="2032000"/>
            <a:ext cx="2581975" cy="2656541"/>
          </a:xfrm>
          <a:prstGeom xmlns:a="http://schemas.openxmlformats.org/drawingml/2006/main" prst="roundRect">
            <a:avLst>
              <a:gd name="adj" fmla="val 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Content Placeholder 9">
            <a:extLst xmlns:a="http://schemas.openxmlformats.org/drawingml/2006/main">
              <a:ext uri="{FF2B5EF4-FFF2-40B4-BE49-F238E27FC236}">
                <a16:creationId xmlns:a16="http://schemas.microsoft.com/office/drawing/2014/main" id="{6130B530-1157-40A3-0161-21ADDD16DABF}"/>
              </a:ext>
            </a:extLst>
          </p:cNvPr>
          <p:cNvSpPr>
            <a:spLocks xmlns:a="http://schemas.openxmlformats.org/drawingml/2006/main" noGrp="1"/>
          </p:cNvSpPr>
          <p:nvPr/>
        </p:nvSpPr>
        <p:spPr>
          <a:xfrm xmlns:a="http://schemas.openxmlformats.org/drawingml/2006/main">
            <a:off x="3583257" y="2251890"/>
            <a:ext cx="2133315"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YAMNet</a:t>
            </a:r>
          </a:p>
        </p:txBody>
      </p:sp>
      <p:sp>
        <p:nvSpPr>
          <p:cNvPr id="36" name="Content Placeholder 15">
            <a:extLst xmlns:a="http://schemas.openxmlformats.org/drawingml/2006/main">
              <a:ext uri="{FF2B5EF4-FFF2-40B4-BE49-F238E27FC236}">
                <a16:creationId xmlns:a16="http://schemas.microsoft.com/office/drawing/2014/main" id="{7DE51176-FC24-C3CB-45B8-8EA48AFAF9E1}"/>
              </a:ext>
            </a:extLst>
          </p:cNvPr>
          <p:cNvSpPr>
            <a:spLocks xmlns:a="http://schemas.openxmlformats.org/drawingml/2006/main" noGrp="1"/>
          </p:cNvSpPr>
          <p:nvPr/>
        </p:nvSpPr>
        <p:spPr>
          <a:xfrm xmlns:a="http://schemas.openxmlformats.org/drawingml/2006/main">
            <a:off x="3649875" y="3740150"/>
            <a:ext cx="2066698" cy="61595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Pretrained AudioSet</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network</a:t>
            </a:r>
          </a:p>
        </p:txBody>
      </p:sp>
      <p:sp>
        <p:nvSpPr>
          <p:cNvPr id="37" name="Rounded Rectangle 36">
            <a:extLst xmlns:a="http://schemas.openxmlformats.org/drawingml/2006/main">
              <a:ext uri="{FF2B5EF4-FFF2-40B4-BE49-F238E27FC236}">
                <a16:creationId xmlns:a16="http://schemas.microsoft.com/office/drawing/2014/main" id="{B5992B1D-5E0E-664C-375F-216AFC12EAE8}"/>
              </a:ext>
            </a:extLst>
          </p:cNvPr>
          <p:cNvSpPr>
            <a:spLocks xmlns:a="http://schemas.openxmlformats.org/drawingml/2006/main" noGrp="1"/>
          </p:cNvSpPr>
          <p:nvPr/>
        </p:nvSpPr>
        <p:spPr>
          <a:xfrm xmlns:a="http://schemas.openxmlformats.org/drawingml/2006/main">
            <a:off x="6271986" y="2032000"/>
            <a:ext cx="2581975" cy="2656541"/>
          </a:xfrm>
          <a:prstGeom xmlns:a="http://schemas.openxmlformats.org/drawingml/2006/main" prst="roundRect">
            <a:avLst>
              <a:gd name="adj" fmla="val 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Content Placeholder 9">
            <a:extLst xmlns:a="http://schemas.openxmlformats.org/drawingml/2006/main">
              <a:ext uri="{FF2B5EF4-FFF2-40B4-BE49-F238E27FC236}">
                <a16:creationId xmlns:a16="http://schemas.microsoft.com/office/drawing/2014/main" id="{54A023A6-B45F-0FFE-0391-DBB435439A7B}"/>
              </a:ext>
            </a:extLst>
          </p:cNvPr>
          <p:cNvSpPr>
            <a:spLocks xmlns:a="http://schemas.openxmlformats.org/drawingml/2006/main" noGrp="1"/>
          </p:cNvSpPr>
          <p:nvPr/>
        </p:nvSpPr>
        <p:spPr>
          <a:xfrm xmlns:a="http://schemas.openxmlformats.org/drawingml/2006/main">
            <a:off x="6509338" y="2251890"/>
            <a:ext cx="2133315"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521</a:t>
            </a:r>
          </a:p>
        </p:txBody>
      </p:sp>
      <p:sp>
        <p:nvSpPr>
          <p:cNvPr id="39" name="Content Placeholder 15">
            <a:extLst xmlns:a="http://schemas.openxmlformats.org/drawingml/2006/main">
              <a:ext uri="{FF2B5EF4-FFF2-40B4-BE49-F238E27FC236}">
                <a16:creationId xmlns:a16="http://schemas.microsoft.com/office/drawing/2014/main" id="{5E890D67-9D53-7808-5E55-E05F92307EAC}"/>
              </a:ext>
            </a:extLst>
          </p:cNvPr>
          <p:cNvSpPr>
            <a:spLocks xmlns:a="http://schemas.openxmlformats.org/drawingml/2006/main" noGrp="1"/>
          </p:cNvSpPr>
          <p:nvPr/>
        </p:nvSpPr>
        <p:spPr>
          <a:xfrm xmlns:a="http://schemas.openxmlformats.org/drawingml/2006/main">
            <a:off x="6575956" y="3740150"/>
            <a:ext cx="2066698" cy="61595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Generic class</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probabilities</a:t>
            </a:r>
          </a:p>
        </p:txBody>
      </p:sp>
      <p:sp>
        <p:nvSpPr>
          <p:cNvPr id="40" name="Rounded Rectangle 39">
            <a:extLst xmlns:a="http://schemas.openxmlformats.org/drawingml/2006/main">
              <a:ext uri="{FF2B5EF4-FFF2-40B4-BE49-F238E27FC236}">
                <a16:creationId xmlns:a16="http://schemas.microsoft.com/office/drawing/2014/main" id="{DEE6595D-2709-1F7C-8B9A-47164A9A4EB2}"/>
              </a:ext>
            </a:extLst>
          </p:cNvPr>
          <p:cNvSpPr>
            <a:spLocks xmlns:a="http://schemas.openxmlformats.org/drawingml/2006/main" noGrp="1"/>
          </p:cNvSpPr>
          <p:nvPr/>
        </p:nvSpPr>
        <p:spPr>
          <a:xfrm xmlns:a="http://schemas.openxmlformats.org/drawingml/2006/main">
            <a:off x="9224191" y="2032000"/>
            <a:ext cx="2581975" cy="2656541"/>
          </a:xfrm>
          <a:prstGeom xmlns:a="http://schemas.openxmlformats.org/drawingml/2006/main" prst="roundRect">
            <a:avLst>
              <a:gd name="adj" fmla="val 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Content Placeholder 9">
            <a:extLst xmlns:a="http://schemas.openxmlformats.org/drawingml/2006/main">
              <a:ext uri="{FF2B5EF4-FFF2-40B4-BE49-F238E27FC236}">
                <a16:creationId xmlns:a16="http://schemas.microsoft.com/office/drawing/2014/main" id="{0DD8DA38-D646-1FA9-28D4-71AFE0F87ED8}"/>
              </a:ext>
            </a:extLst>
          </p:cNvPr>
          <p:cNvSpPr>
            <a:spLocks xmlns:a="http://schemas.openxmlformats.org/drawingml/2006/main" noGrp="1"/>
          </p:cNvSpPr>
          <p:nvPr/>
        </p:nvSpPr>
        <p:spPr>
          <a:xfrm xmlns:a="http://schemas.openxmlformats.org/drawingml/2006/main">
            <a:off x="9461543" y="2251890"/>
            <a:ext cx="2133315"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Rules</a:t>
            </a:r>
          </a:p>
        </p:txBody>
      </p:sp>
      <p:sp>
        <p:nvSpPr>
          <p:cNvPr id="42" name="Content Placeholder 15">
            <a:extLst xmlns:a="http://schemas.openxmlformats.org/drawingml/2006/main">
              <a:ext uri="{FF2B5EF4-FFF2-40B4-BE49-F238E27FC236}">
                <a16:creationId xmlns:a16="http://schemas.microsoft.com/office/drawing/2014/main" id="{5D7CE5C2-7A4C-5B39-AEB6-25510E71F253}"/>
              </a:ext>
            </a:extLst>
          </p:cNvPr>
          <p:cNvSpPr>
            <a:spLocks xmlns:a="http://schemas.openxmlformats.org/drawingml/2006/main" noGrp="1"/>
          </p:cNvSpPr>
          <p:nvPr/>
        </p:nvSpPr>
        <p:spPr>
          <a:xfrm xmlns:a="http://schemas.openxmlformats.org/drawingml/2006/main">
            <a:off x="9528161" y="3740150"/>
            <a:ext cx="2066698" cy="61595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Map scores to</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3 target classes</a:t>
            </a:r>
          </a:p>
        </p:txBody>
      </p:sp>
      <p:sp>
        <p:nvSpPr>
          <p:cNvPr id="43" name="Content Placeholder 2">
            <a:extLst xmlns:a="http://schemas.openxmlformats.org/drawingml/2006/main">
              <a:ext uri="{FF2B5EF4-FFF2-40B4-BE49-F238E27FC236}">
                <a16:creationId xmlns:a16="http://schemas.microsoft.com/office/drawing/2014/main" id="{21B19CD8-2634-6048-888D-54374B2A6E19}"/>
              </a:ext>
            </a:extLst>
          </p:cNvPr>
          <p:cNvSpPr>
            <a:spLocks xmlns:a="http://schemas.openxmlformats.org/drawingml/2006/main" noGrp="1"/>
          </p:cNvSpPr>
          <p:nvPr/>
        </p:nvSpPr>
        <p:spPr>
          <a:xfrm xmlns:a="http://schemas.openxmlformats.org/drawingml/2006/main">
            <a:off x="6261100" y="400899"/>
            <a:ext cx="5539873" cy="990600"/>
          </a:xfrm>
          <a:prstGeom xmlns:a="http://schemas.openxmlformats.org/drawingml/2006/main" prst="rect">
            <a:avLst/>
          </a:prstGeom>
        </p:spPr>
        <p:txBody>
          <a:bodyPr xmlns:a="http://schemas.openxmlformats.org/drawingml/2006/main" lIns="0" tIns="0" rIns="0" bIns="0">
            <a:noAutofit/>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600">
                <a:latin typeface="Helvetica Neue"/>
                <a:ea typeface="Helvetica Neue"/>
                <a:cs typeface="Helvetica Neue"/>
              </a:rPr>
              <a:t>CONTROL COMPARISON</a:t>
            </a:r>
          </a:p>
          <a:p xmlns:a="http://schemas.openxmlformats.org/drawingml/2006/main">
            <a:pPr marL="0" indent="0">
              <a:lnSpc>
                <a:spcPct val="114000"/>
              </a:lnSpc>
              <a:spcBef>
                <a:spcPts val="0"/>
              </a:spcBef>
              <a:spcAft>
                <a:spcPts val="800"/>
              </a:spcAft>
              <a:buNone/>
            </a:pPr>
            <a:r>
              <a:rPr sz="1600">
                <a:latin typeface="Helvetica Neue"/>
                <a:ea typeface="Helvetica Neue"/>
                <a:cs typeface="Helvetica Neue"/>
              </a:rPr>
              <a:t>Remove our custom head and use only generic YAMNet scores plus fixed rules. Macro F1: 0.756; scream recall: 50.0%. Used only to understand YAMNet-only limitations—not to choose the model or thresholds.</a:t>
            </a:r>
          </a:p>
        </p:txBody>
      </p:sp>
    </p:spTree>
    <p:extLst>
      <p:ext uri="{BB962C8B-B14F-4D97-AF65-F5344CB8AC3E}">
        <p14:creationId xmlns:p14="http://schemas.microsoft.com/office/powerpoint/2010/main" val="413499907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34" name="Google Shape;534;p58">
            <a:extLst xmlns:a="http://schemas.openxmlformats.org/drawingml/2006/main">
              <a:ext uri="{FF2B5EF4-FFF2-40B4-BE49-F238E27FC236}">
                <a16:creationId xmlns:a16="http://schemas.microsoft.com/office/drawing/2014/main" id="{5E6F3576-FAD9-7780-1390-E4CCDDDDF4C8}"/>
              </a:ext>
            </a:extLst>
          </p:cNvPr>
          <p:cNvSpPr>
            <a:spLocks xmlns:a="http://schemas.openxmlformats.org/drawingml/2006/main" noGrp="1"/>
          </p:cNvSpPr>
          <p:nvPr>
            <p:ph idx="1"/>
          </p:nvPr>
        </p:nvSpPr>
        <p:spPr>
          <a:xfrm xmlns:a="http://schemas.openxmlformats.org/drawingml/2006/main">
            <a:off x="393700" y="2391832"/>
            <a:ext cx="3568700" cy="360256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800"/>
              </a:spcAft>
              <a:buNone/>
            </a:pPr>
            <a:r>
              <a:rPr sz="1800">
                <a:solidFill>
                  <a:prstClr val="black"/>
                </a:solidFill>
                <a:latin typeface="Helvetica Neue Medium"/>
                <a:ea typeface="Helvetica Neue Medium"/>
                <a:cs typeface="Helvetica Neue Medium"/>
              </a:rPr>
              <a:t>01</a:t>
            </a:r>
          </a:p>
          <a:p xmlns:a="http://schemas.openxmlformats.org/drawingml/2006/main">
            <a:pPr marL="0" indent="0">
              <a:lnSpc>
                <a:spcPct val="114000"/>
              </a:lnSpc>
              <a:spcBef>
                <a:spcPts val="0"/>
              </a:spcBef>
              <a:spcAft>
                <a:spcPts val="800"/>
              </a:spcAft>
              <a:buNone/>
            </a:pPr>
            <a:r>
              <a:rPr sz="1800">
                <a:solidFill>
                  <a:prstClr val="black"/>
                </a:solidFill>
                <a:latin typeface="Helvetica Neue Medium"/>
                <a:ea typeface="Helvetica Neue Medium"/>
                <a:cs typeface="Helvetica Neue Medium"/>
              </a:rPr>
              <a:t>FRONT END</a:t>
            </a:r>
          </a:p>
          <a:p xmlns:a="http://schemas.openxmlformats.org/drawingml/2006/main">
            <a:pPr marL="0" indent="0">
              <a:lnSpc>
                <a:spcPct val="114000"/>
              </a:lnSpc>
              <a:spcBef>
                <a:spcPts val="0"/>
              </a:spcBef>
              <a:spcAft>
                <a:spcPts val="1000"/>
              </a:spcAft>
              <a:buNone/>
            </a:pPr>
            <a:r>
              <a:rPr sz="1600">
                <a:latin typeface="Helvetica Neue"/>
                <a:ea typeface="Helvetica Neue"/>
                <a:cs typeface="Helvetica Neue"/>
              </a:rPr>
              <a:t>16 kHz mono audio enters frozen YAMNet. Each frame becomes a 1,024-dimensional embedding.</a:t>
            </a:r>
          </a:p>
          <a:p xmlns:a="http://schemas.openxmlformats.org/drawingml/2006/main">
            <a:pPr>
              <a:lnSpc>
                <a:spcPct val="114000"/>
              </a:lnSpc>
              <a:spcBef>
                <a:spcPts val="0"/>
              </a:spcBef>
              <a:spcAft>
                <a:spcPts val="800"/>
              </a:spcAft>
              <a:buNone/>
            </a:pPr>
            <a:r>
              <a:rPr sz="1600">
                <a:solidFill>
                  <a:prstClr val="black"/>
                </a:solidFill>
                <a:latin typeface="Helvetica Neue"/>
                <a:ea typeface="Helvetica Neue"/>
                <a:cs typeface="Helvetica Neue"/>
              </a:rPr>
              <a:t>• pretrained features</a:t>
            </a:r>
          </a:p>
          <a:p xmlns:a="http://schemas.openxmlformats.org/drawingml/2006/main">
            <a:pPr>
              <a:lnSpc>
                <a:spcPct val="114000"/>
              </a:lnSpc>
              <a:spcBef>
                <a:spcPts val="0"/>
              </a:spcBef>
              <a:spcAft>
                <a:spcPts val="800"/>
              </a:spcAft>
              <a:buNone/>
            </a:pPr>
            <a:r>
              <a:rPr sz="1600">
                <a:solidFill>
                  <a:prstClr val="black"/>
                </a:solidFill>
                <a:latin typeface="Helvetica Neue"/>
                <a:ea typeface="Helvetica Neue"/>
                <a:cs typeface="Helvetica Neue"/>
              </a:rPr>
              <a:t>• cached embeddings</a:t>
            </a:r>
          </a:p>
          <a:p xmlns:a="http://schemas.openxmlformats.org/drawingml/2006/main">
            <a:pPr>
              <a:lnSpc>
                <a:spcPct val="114000"/>
              </a:lnSpc>
              <a:spcBef>
                <a:spcPts val="0"/>
              </a:spcBef>
              <a:spcAft>
                <a:spcPts val="800"/>
              </a:spcAft>
              <a:buNone/>
            </a:pPr>
            <a:r>
              <a:rPr sz="1600">
                <a:solidFill>
                  <a:prstClr val="black"/>
                </a:solidFill>
                <a:latin typeface="Helvetica Neue"/>
                <a:ea typeface="Helvetica Neue"/>
                <a:cs typeface="Helvetica Neue"/>
              </a:rPr>
              <a:t>• frame-level input</a:t>
            </a:r>
          </a:p>
        </p:txBody>
      </p:sp>
      <p:sp>
        <p:nvSpPr>
          <p:cNvPr id="532" name="Google Shape;532;p58">
            <a:extLst xmlns:a="http://schemas.openxmlformats.org/drawingml/2006/main">
              <a:ext uri="{FF2B5EF4-FFF2-40B4-BE49-F238E27FC236}">
                <a16:creationId xmlns:a16="http://schemas.microsoft.com/office/drawing/2014/main" id="{DBEA618B-866F-6F23-43A9-78F2D3127872}"/>
              </a:ext>
            </a:extLst>
          </p:cNvPr>
          <p:cNvSpPr>
            <a:spLocks xmlns:a="http://schemas.openxmlformats.org/drawingml/2006/main" noGrp="1"/>
          </p:cNvSpPr>
          <p:nvPr>
            <p:ph type="sldNum" idx="4"/>
          </p:nvPr>
        </p:nvSpPr>
        <p:spPr>
          <a:prstGeom xmlns:a="http://schemas.openxmlformats.org/drawingml/2006/main" prst="rect">
            <a:avLst/>
          </a:prstGeom>
        </p:spPr>
        <p:txBody>
          <a:bodyPr xmlns:a="http://schemas.openxmlformats.org/drawingml/2006/main" spcFirstLastPara="1" vert="horz" wrap="square" lIns="0" tIns="0" rIns="0" bIns="0" anchor="ctr">
            <a:noAutofit/>
          </a:bodyPr>
          <a:lstStyle xmlns:a="http://schemas.openxmlformats.org/drawingml/2006/main"/>
          <a:p xmlns:a="http://schemas.openxmlformats.org/drawingml/2006/main">
            <a:fld id="{EFD6AB9A-5F9E-5F59-51AB-3C8734130965}" type="slidenum">
              <a:t>4</a:t>
            </a:fld>
          </a:p>
        </p:txBody>
      </p:sp>
      <p:sp>
        <p:nvSpPr>
          <p:cNvPr id="2" name="Content Placeholder 1">
            <a:extLst xmlns:a="http://schemas.openxmlformats.org/drawingml/2006/main">
              <a:ext uri="{FF2B5EF4-FFF2-40B4-BE49-F238E27FC236}">
                <a16:creationId xmlns:a16="http://schemas.microsoft.com/office/drawing/2014/main" id="{7ED2788F-D3A7-1987-7296-9AC0BE2A1D11}"/>
              </a:ext>
            </a:extLst>
          </p:cNvPr>
          <p:cNvSpPr>
            <a:spLocks xmlns:a="http://schemas.openxmlformats.org/drawingml/2006/main" noGrp="1"/>
          </p:cNvSpPr>
          <p:nvPr>
            <p:ph idx="10"/>
          </p:nvPr>
        </p:nvSpPr>
        <p:spPr>
          <a:xfrm xmlns:a="http://schemas.openxmlformats.org/drawingml/2006/main">
            <a:off x="4318000" y="2374900"/>
            <a:ext cx="3568700" cy="3619500"/>
          </a:xfrm>
        </p:spPr>
        <p:txBody>
          <a:bodyPr xmlns:a="http://schemas.openxmlformats.org/drawingml/2006/main">
            <a:normAutofit fontScale="100000"/>
          </a:bodyPr>
          <a:lstStyle xmlns:a="http://schemas.openxmlformats.org/drawingml/2006/main"/>
          <a:p xmlns:a="http://schemas.openxmlformats.org/drawingml/2006/main">
            <a:pPr marL="0" indent="0" algn="l">
              <a:lnSpc>
                <a:spcPct val="114000"/>
              </a:lnSpc>
              <a:spcBef>
                <a:spcPts val="0"/>
              </a:spcBef>
              <a:spcAft>
                <a:spcPts val="800"/>
              </a:spcAft>
              <a:buNone/>
            </a:pPr>
            <a:r>
              <a:rPr sz="1800" b="0" i="0" u="none" cap="none">
                <a:ln>
                  <a:noFill/>
                </a:ln>
                <a:solidFill>
                  <a:prstClr val="black"/>
                </a:solidFill>
                <a:latin typeface="Helvetica Neue Medium"/>
                <a:ea typeface="Helvetica Neue Medium"/>
                <a:cs typeface="Helvetica Neue Medium"/>
              </a:rPr>
              <a:t>02</a:t>
            </a:r>
          </a:p>
          <a:p xmlns:a="http://schemas.openxmlformats.org/drawingml/2006/main">
            <a:pPr marL="0" indent="0" algn="l">
              <a:lnSpc>
                <a:spcPct val="114000"/>
              </a:lnSpc>
              <a:spcBef>
                <a:spcPts val="0"/>
              </a:spcBef>
              <a:spcAft>
                <a:spcPts val="800"/>
              </a:spcAft>
              <a:buNone/>
            </a:pPr>
            <a:r>
              <a:rPr sz="1800" b="0" i="0" u="none" cap="none">
                <a:ln>
                  <a:noFill/>
                </a:ln>
                <a:solidFill>
                  <a:prstClr val="black"/>
                </a:solidFill>
                <a:latin typeface="Helvetica Neue Medium"/>
                <a:ea typeface="Helvetica Neue Medium"/>
                <a:cs typeface="Helvetica Neue Medium"/>
              </a:rPr>
              <a:t>TASK HEAD</a:t>
            </a:r>
          </a:p>
          <a:p xmlns:a="http://schemas.openxmlformats.org/drawingml/2006/main">
            <a:pPr marL="0" indent="0" algn="l">
              <a:lnSpc>
                <a:spcPct val="114000"/>
              </a:lnSpc>
              <a:spcBef>
                <a:spcPts val="0"/>
              </a:spcBef>
              <a:spcAft>
                <a:spcPts val="1000"/>
              </a:spcAft>
              <a:buNone/>
            </a:pPr>
            <a:r>
              <a:rPr sz="1600" b="0" i="0" u="none" cap="none">
                <a:ln>
                  <a:noFill/>
                </a:ln>
                <a:solidFill>
                  <a:prstClr val="black"/>
                </a:solidFill>
                <a:latin typeface="Helvetica Neue"/>
                <a:ea typeface="Helvetica Neue"/>
                <a:cs typeface="Helvetica Neue"/>
              </a:rPr>
              <a:t>Dense 512 → 256 → 128 → 3-way softmax, with batch normalization, dropout, and L2 regularization.</a:t>
            </a:r>
          </a:p>
          <a:p xmlns:a="http://schemas.openxmlformats.org/drawingml/2006/main">
            <a:pPr marL="228600" indent="-228600" algn="l">
              <a:lnSpc>
                <a:spcPct val="114000"/>
              </a:lnSpc>
              <a:spcBef>
                <a:spcPts val="0"/>
              </a:spcBef>
              <a:spcAft>
                <a:spcPts val="800"/>
              </a:spcAft>
              <a:buChar char="•"/>
            </a:pPr>
            <a:r>
              <a:rPr sz="1600" b="0" i="0" u="none" cap="none">
                <a:ln>
                  <a:noFill/>
                </a:ln>
                <a:solidFill>
                  <a:prstClr val="black"/>
                </a:solidFill>
                <a:latin typeface="Helvetica Neue"/>
                <a:ea typeface="Helvetica Neue"/>
                <a:cs typeface="Helvetica Neue"/>
              </a:rPr>
              <a:t>• glass</a:t>
            </a:r>
          </a:p>
          <a:p xmlns:a="http://schemas.openxmlformats.org/drawingml/2006/main">
            <a:pPr marL="228600" indent="-228600" algn="l">
              <a:lnSpc>
                <a:spcPct val="114000"/>
              </a:lnSpc>
              <a:spcBef>
                <a:spcPts val="0"/>
              </a:spcBef>
              <a:spcAft>
                <a:spcPts val="800"/>
              </a:spcAft>
              <a:buChar char="•"/>
            </a:pPr>
            <a:r>
              <a:rPr sz="1600" b="0" i="0" u="none" cap="none">
                <a:ln>
                  <a:noFill/>
                </a:ln>
                <a:solidFill>
                  <a:prstClr val="black"/>
                </a:solidFill>
                <a:latin typeface="Helvetica Neue"/>
                <a:ea typeface="Helvetica Neue"/>
                <a:cs typeface="Helvetica Neue"/>
              </a:rPr>
              <a:t>• normal</a:t>
            </a:r>
          </a:p>
          <a:p xmlns:a="http://schemas.openxmlformats.org/drawingml/2006/main">
            <a:pPr marL="228600" indent="-228600" algn="l">
              <a:lnSpc>
                <a:spcPct val="114000"/>
              </a:lnSpc>
              <a:spcBef>
                <a:spcPts val="0"/>
              </a:spcBef>
              <a:spcAft>
                <a:spcPts val="800"/>
              </a:spcAft>
              <a:buChar char="•"/>
            </a:pPr>
            <a:r>
              <a:rPr sz="1600" b="0" i="0" u="none" cap="none">
                <a:ln>
                  <a:noFill/>
                </a:ln>
                <a:solidFill>
                  <a:prstClr val="black"/>
                </a:solidFill>
                <a:latin typeface="Helvetica Neue"/>
                <a:ea typeface="Helvetica Neue"/>
                <a:cs typeface="Helvetica Neue"/>
              </a:rPr>
              <a:t>• scream</a:t>
            </a:r>
          </a:p>
        </p:txBody>
      </p:sp>
      <p:sp>
        <p:nvSpPr>
          <p:cNvPr id="3" name="Content Placeholder 2">
            <a:extLst xmlns:a="http://schemas.openxmlformats.org/drawingml/2006/main">
              <a:ext uri="{FF2B5EF4-FFF2-40B4-BE49-F238E27FC236}">
                <a16:creationId xmlns:a16="http://schemas.microsoft.com/office/drawing/2014/main" id="{0AB3D00A-6146-FC12-E7D6-0A4E6D490B4A}"/>
              </a:ext>
            </a:extLst>
          </p:cNvPr>
          <p:cNvSpPr>
            <a:spLocks xmlns:a="http://schemas.openxmlformats.org/drawingml/2006/main" noGrp="1"/>
          </p:cNvSpPr>
          <p:nvPr>
            <p:ph idx="11"/>
          </p:nvPr>
        </p:nvSpPr>
        <p:spPr>
          <a:xfrm xmlns:a="http://schemas.openxmlformats.org/drawingml/2006/main">
            <a:off x="8232273" y="2374900"/>
            <a:ext cx="3568700" cy="3619500"/>
          </a:xfrm>
        </p:spPr>
        <p:txBody>
          <a:bodyPr xmlns:a="http://schemas.openxmlformats.org/drawingml/2006/main">
            <a:normAutofit fontScale="100000"/>
          </a:bodyPr>
          <a:lstStyle xmlns:a="http://schemas.openxmlformats.org/drawingml/2006/main"/>
          <a:p xmlns:a="http://schemas.openxmlformats.org/drawingml/2006/main">
            <a:pPr marL="0" indent="0" algn="l">
              <a:lnSpc>
                <a:spcPct val="114000"/>
              </a:lnSpc>
              <a:spcBef>
                <a:spcPts val="0"/>
              </a:spcBef>
              <a:spcAft>
                <a:spcPts val="800"/>
              </a:spcAft>
              <a:buNone/>
            </a:pPr>
            <a:r>
              <a:rPr sz="1800" b="0" i="0" u="none" cap="none">
                <a:ln>
                  <a:noFill/>
                </a:ln>
                <a:solidFill>
                  <a:prstClr val="black"/>
                </a:solidFill>
                <a:latin typeface="Helvetica Neue Medium"/>
                <a:ea typeface="Helvetica Neue Medium"/>
                <a:cs typeface="Helvetica Neue Medium"/>
              </a:rPr>
              <a:t>03</a:t>
            </a:r>
          </a:p>
          <a:p xmlns:a="http://schemas.openxmlformats.org/drawingml/2006/main">
            <a:pPr marL="0" indent="0" algn="l">
              <a:lnSpc>
                <a:spcPct val="114000"/>
              </a:lnSpc>
              <a:spcBef>
                <a:spcPts val="0"/>
              </a:spcBef>
              <a:spcAft>
                <a:spcPts val="800"/>
              </a:spcAft>
              <a:buNone/>
            </a:pPr>
            <a:r>
              <a:rPr sz="1800" b="0" i="0" u="none" cap="none">
                <a:ln>
                  <a:noFill/>
                </a:ln>
                <a:solidFill>
                  <a:prstClr val="black"/>
                </a:solidFill>
                <a:latin typeface="Helvetica Neue Medium"/>
                <a:ea typeface="Helvetica Neue Medium"/>
                <a:cs typeface="Helvetica Neue Medium"/>
              </a:rPr>
              <a:t>FINAL FUSION</a:t>
            </a:r>
          </a:p>
          <a:p xmlns:a="http://schemas.openxmlformats.org/drawingml/2006/main">
            <a:pPr marL="0" indent="0" algn="l">
              <a:lnSpc>
                <a:spcPct val="114000"/>
              </a:lnSpc>
              <a:spcBef>
                <a:spcPts val="0"/>
              </a:spcBef>
              <a:spcAft>
                <a:spcPts val="1000"/>
              </a:spcAft>
              <a:buNone/>
            </a:pPr>
            <a:r>
              <a:rPr sz="1600" b="0" i="0" u="none" cap="none">
                <a:ln>
                  <a:noFill/>
                </a:ln>
                <a:solidFill>
                  <a:prstClr val="black"/>
                </a:solidFill>
                <a:latin typeface="Helvetica Neue"/>
                <a:ea typeface="Helvetica Neue"/>
                <a:cs typeface="Helvetica Neue"/>
              </a:rPr>
              <a:t>Sustained path: glass .95/2 frames; scream .55/3.</a:t>
            </a:r>
          </a:p>
          <a:p xmlns:a="http://schemas.openxmlformats.org/drawingml/2006/main">
            <a:pPr marL="228600" indent="-228600" algn="l">
              <a:lnSpc>
                <a:spcPct val="114000"/>
              </a:lnSpc>
              <a:spcBef>
                <a:spcPts val="0"/>
              </a:spcBef>
              <a:spcAft>
                <a:spcPts val="800"/>
              </a:spcAft>
              <a:buChar char="•"/>
            </a:pPr>
            <a:r>
              <a:rPr sz="1600" b="0" i="0" u="none" cap="none">
                <a:ln>
                  <a:noFill/>
                </a:ln>
                <a:solidFill>
                  <a:prstClr val="black"/>
                </a:solidFill>
                <a:latin typeface="Helvetica Neue"/>
                <a:ea typeface="Helvetica Neue"/>
                <a:cs typeface="Helvetica Neue"/>
              </a:rPr>
              <a:t>Aligned path: glass .40 + YAMNet .10/1; scream .85 + YAMNet .02/1.</a:t>
            </a:r>
          </a:p>
          <a:p xmlns:a="http://schemas.openxmlformats.org/drawingml/2006/main">
            <a:pPr marL="228600" indent="-228600" algn="l">
              <a:lnSpc>
                <a:spcPct val="114000"/>
              </a:lnSpc>
              <a:spcBef>
                <a:spcPts val="0"/>
              </a:spcBef>
              <a:spcAft>
                <a:spcPts val="800"/>
              </a:spcAft>
              <a:buChar char="•"/>
            </a:pPr>
            <a:r>
              <a:rPr sz="1600" b="0" i="0" u="none" cap="none">
                <a:ln>
                  <a:noFill/>
                </a:ln>
                <a:solidFill>
                  <a:prstClr val="black"/>
                </a:solidFill>
                <a:latin typeface="Helvetica Neue"/>
                <a:ea typeface="Helvetica Neue"/>
                <a:cs typeface="Helvetica Neue"/>
              </a:rPr>
              <a:t>• embeddings + scores</a:t>
            </a:r>
          </a:p>
          <a:p xmlns:a="http://schemas.openxmlformats.org/drawingml/2006/main">
            <a:pPr marL="228600" indent="-228600" algn="l">
              <a:lnSpc>
                <a:spcPct val="114000"/>
              </a:lnSpc>
              <a:spcBef>
                <a:spcPts val="0"/>
              </a:spcBef>
              <a:spcAft>
                <a:spcPts val="800"/>
              </a:spcAft>
              <a:buChar char="•"/>
            </a:pPr>
            <a:r>
              <a:rPr sz="1600" b="0" i="0" u="none" cap="none">
                <a:ln>
                  <a:noFill/>
                </a:ln>
                <a:solidFill>
                  <a:prstClr val="black"/>
                </a:solidFill>
                <a:latin typeface="Helvetica Neue"/>
                <a:ea typeface="Helvetica Neue"/>
                <a:cs typeface="Helvetica Neue"/>
              </a:rPr>
              <a:t>• frame-aligned corroboration</a:t>
            </a:r>
          </a:p>
        </p:txBody>
      </p:sp>
      <p:sp>
        <p:nvSpPr>
          <p:cNvPr id="533" name="Google Shape;533;p58">
            <a:extLst xmlns:a="http://schemas.openxmlformats.org/drawingml/2006/main">
              <a:ext uri="{FF2B5EF4-FFF2-40B4-BE49-F238E27FC236}">
                <a16:creationId xmlns:a16="http://schemas.microsoft.com/office/drawing/2014/main" id="{24C70FFE-9D4B-9EEB-4231-9B1B74B40AFB}"/>
              </a:ext>
            </a:extLst>
          </p:cNvPr>
          <p:cNvSpPr>
            <a:spLocks xmlns:a="http://schemas.openxmlformats.org/drawingml/2006/main" noGrp="1"/>
          </p:cNvSpPr>
          <p:nvPr>
            <p:ph type="title" idx="0"/>
          </p:nvPr>
        </p:nvSpPr>
        <p:spPr>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t>Final model: custom head + YAMNet fusion</a:t>
            </a:r>
          </a:p>
        </p:txBody>
      </p:sp>
    </p:spTree>
    <p:extLst>
      <p:ext uri="{BB962C8B-B14F-4D97-AF65-F5344CB8AC3E}">
        <p14:creationId xmlns:p14="http://schemas.microsoft.com/office/powerpoint/2010/main" val="296617163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 name="Content Placeholder 9">
            <a:extLst xmlns:a="http://schemas.openxmlformats.org/drawingml/2006/main">
              <a:ext uri="{FF2B5EF4-FFF2-40B4-BE49-F238E27FC236}">
                <a16:creationId xmlns:a16="http://schemas.microsoft.com/office/drawing/2014/main" id="{31C01230-0AB7-5FBA-6CB0-F4C1122A5881}"/>
              </a:ext>
            </a:extLst>
          </p:cNvPr>
          <p:cNvSpPr>
            <a:spLocks xmlns:a="http://schemas.openxmlformats.org/drawingml/2006/main" noGrp="1"/>
          </p:cNvSpPr>
          <p:nvPr>
            <p:ph idx="1"/>
          </p:nvPr>
        </p:nvSpPr>
        <p:spPr>
          <a:xfrm xmlns:a="http://schemas.openxmlformats.org/drawingml/2006/main">
            <a:off x="393700" y="2032000"/>
            <a:ext cx="3568700" cy="1981200"/>
          </a:xfrm>
        </p:spPr>
        <p:txBody>
          <a:bodyPr xmlns:a="http://schemas.openxmlformats.org/drawingml/2006/main"/>
          <a:lstStyle xmlns:a="http://schemas.openxmlformats.org/drawingml/2006/main"/>
          <a:p xmlns:a="http://schemas.openxmlformats.org/drawingml/2006/main">
            <a:pPr marL="0" indent="0" algn="l">
              <a:lnSpc>
                <a:spcPct val="110000"/>
              </a:lnSpc>
              <a:spcBef>
                <a:spcPts val="0"/>
              </a:spcBef>
              <a:spcAft>
                <a:spcPts val="0"/>
              </a:spcAft>
              <a:buNone/>
            </a:pPr>
            <a:r>
              <a:rPr sz="2400" b="0" i="0" u="none" cap="none">
                <a:ln>
                  <a:noFill/>
                </a:ln>
                <a:solidFill>
                  <a:prstClr val="black"/>
                </a:solidFill>
                <a:latin typeface="Helvetica Neue"/>
                <a:ea typeface="Helvetica Neue"/>
                <a:cs typeface="Helvetica Neue"/>
              </a:rPr>
              <a:t>DATA QUALITY</a:t>
            </a:r>
          </a:p>
          <a:p xmlns:a="http://schemas.openxmlformats.org/drawingml/2006/main">
            <a:pPr marL="0" indent="0" algn="l">
              <a:lnSpc>
                <a:spcPct val="100000"/>
              </a:lnSpc>
              <a:spcBef>
                <a:spcPts val="1300"/>
              </a:spcBef>
              <a:spcAft>
                <a:spcPts val="1300"/>
              </a:spcAft>
              <a:buNone/>
            </a:pPr>
            <a:r>
              <a:rPr sz="1800" b="0" i="0" u="none" cap="none">
                <a:ln>
                  <a:noFill/>
                </a:ln>
                <a:solidFill>
                  <a:prstClr val="black"/>
                </a:solidFill>
                <a:latin typeface="Helvetica Neue"/>
                <a:ea typeface="Helvetica Neue"/>
                <a:cs typeface="Helvetica Neue"/>
              </a:rPr>
              <a:t>We excluded 158 broad “smash / breaking / crushing” glass clips and kept only verified glass or shatter events.</a:t>
            </a:r>
          </a:p>
        </p:txBody>
      </p:sp>
      <p:sp>
        <p:nvSpPr>
          <p:cNvPr id="2" name="Slide Number Placeholder 1">
            <a:extLst xmlns:a="http://schemas.openxmlformats.org/drawingml/2006/main">
              <a:ext uri="{FF2B5EF4-FFF2-40B4-BE49-F238E27FC236}">
                <a16:creationId xmlns:a16="http://schemas.microsoft.com/office/drawing/2014/main" id="{5346F6B8-73F6-AB72-2971-C8B37B27DCFE}"/>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fld id="{EE5B3003-2C54-13C6-9832-7637201064DE}" type="slidenum">
              <a:t>5</a:t>
            </a:fld>
          </a:p>
        </p:txBody>
      </p:sp>
      <p:sp>
        <p:nvSpPr>
          <p:cNvPr id="11" name="Content Placeholder 10">
            <a:extLst xmlns:a="http://schemas.openxmlformats.org/drawingml/2006/main">
              <a:ext uri="{FF2B5EF4-FFF2-40B4-BE49-F238E27FC236}">
                <a16:creationId xmlns:a16="http://schemas.microsoft.com/office/drawing/2014/main" id="{36C44BD0-2306-5DD3-6221-887B2EAEA0CB}"/>
              </a:ext>
            </a:extLst>
          </p:cNvPr>
          <p:cNvSpPr>
            <a:spLocks xmlns:a="http://schemas.openxmlformats.org/drawingml/2006/main" noGrp="1"/>
          </p:cNvSpPr>
          <p:nvPr>
            <p:ph idx="10"/>
          </p:nvPr>
        </p:nvSpPr>
        <p:spPr>
          <a:xfrm xmlns:a="http://schemas.openxmlformats.org/drawingml/2006/main">
            <a:off x="4318000" y="2032000"/>
            <a:ext cx="3568700" cy="1981200"/>
          </a:xfrm>
        </p:spPr>
        <p:txBody>
          <a:bodyPr xmlns:a="http://schemas.openxmlformats.org/drawingml/2006/main"/>
          <a:lstStyle xmlns:a="http://schemas.openxmlformats.org/drawingml/2006/main"/>
          <a:p xmlns:a="http://schemas.openxmlformats.org/drawingml/2006/main">
            <a:pPr marL="0" indent="0" algn="l">
              <a:lnSpc>
                <a:spcPct val="110000"/>
              </a:lnSpc>
              <a:spcBef>
                <a:spcPts val="0"/>
              </a:spcBef>
              <a:spcAft>
                <a:spcPts val="0"/>
              </a:spcAft>
              <a:buNone/>
            </a:pPr>
            <a:r>
              <a:rPr sz="2400" b="0" i="0" u="none" cap="none">
                <a:ln>
                  <a:noFill/>
                </a:ln>
                <a:solidFill>
                  <a:prstClr val="black"/>
                </a:solidFill>
                <a:latin typeface="Helvetica Neue"/>
                <a:ea typeface="Helvetica Neue"/>
                <a:cs typeface="Helvetica Neue"/>
              </a:rPr>
              <a:t>LEAKAGE CONTROL</a:t>
            </a:r>
          </a:p>
          <a:p xmlns:a="http://schemas.openxmlformats.org/drawingml/2006/main">
            <a:pPr marL="0" indent="0" algn="l">
              <a:lnSpc>
                <a:spcPct val="100000"/>
              </a:lnSpc>
              <a:spcBef>
                <a:spcPts val="1300"/>
              </a:spcBef>
              <a:spcAft>
                <a:spcPts val="1300"/>
              </a:spcAft>
              <a:buNone/>
            </a:pPr>
            <a:r>
              <a:rPr sz="1800" b="0" i="0" u="none" cap="none">
                <a:ln>
                  <a:noFill/>
                </a:ln>
                <a:solidFill>
                  <a:prstClr val="black"/>
                </a:solidFill>
                <a:latin typeface="Helvetica Neue"/>
                <a:ea typeface="Helvetica Neue"/>
                <a:cs typeface="Helvetica Neue"/>
              </a:rPr>
              <a:t>Splits were made by original source. Duplicate files and shared YouTube IDs cannot cross train, validation, and test.</a:t>
            </a:r>
          </a:p>
        </p:txBody>
      </p:sp>
      <p:sp>
        <p:nvSpPr>
          <p:cNvPr id="12" name="Content Placeholder 11">
            <a:extLst xmlns:a="http://schemas.openxmlformats.org/drawingml/2006/main">
              <a:ext uri="{FF2B5EF4-FFF2-40B4-BE49-F238E27FC236}">
                <a16:creationId xmlns:a16="http://schemas.microsoft.com/office/drawing/2014/main" id="{DE8FF54C-F86E-60F9-B524-2931B90F4D94}"/>
              </a:ext>
            </a:extLst>
          </p:cNvPr>
          <p:cNvSpPr>
            <a:spLocks xmlns:a="http://schemas.openxmlformats.org/drawingml/2006/main" noGrp="1"/>
          </p:cNvSpPr>
          <p:nvPr>
            <p:ph idx="11"/>
          </p:nvPr>
        </p:nvSpPr>
        <p:spPr>
          <a:xfrm xmlns:a="http://schemas.openxmlformats.org/drawingml/2006/main">
            <a:off x="8232273" y="2032000"/>
            <a:ext cx="3568700" cy="1981200"/>
          </a:xfrm>
        </p:spPr>
        <p:txBody>
          <a:bodyPr xmlns:a="http://schemas.openxmlformats.org/drawingml/2006/main"/>
          <a:lstStyle xmlns:a="http://schemas.openxmlformats.org/drawingml/2006/main"/>
          <a:p xmlns:a="http://schemas.openxmlformats.org/drawingml/2006/main">
            <a:pPr marL="0" indent="0" algn="l">
              <a:lnSpc>
                <a:spcPct val="110000"/>
              </a:lnSpc>
              <a:spcBef>
                <a:spcPts val="0"/>
              </a:spcBef>
              <a:spcAft>
                <a:spcPts val="0"/>
              </a:spcAft>
              <a:buNone/>
            </a:pPr>
            <a:r>
              <a:rPr sz="2400" b="0" i="0" u="none" cap="none">
                <a:ln>
                  <a:noFill/>
                </a:ln>
                <a:solidFill>
                  <a:prstClr val="black"/>
                </a:solidFill>
                <a:latin typeface="Helvetica Neue"/>
                <a:ea typeface="Helvetica Neue"/>
                <a:cs typeface="Helvetica Neue"/>
              </a:rPr>
              <a:t>SELECTION RULE</a:t>
            </a:r>
          </a:p>
          <a:p xmlns:a="http://schemas.openxmlformats.org/drawingml/2006/main">
            <a:pPr marL="0" indent="0" algn="l">
              <a:lnSpc>
                <a:spcPct val="100000"/>
              </a:lnSpc>
              <a:spcBef>
                <a:spcPts val="1300"/>
              </a:spcBef>
              <a:spcAft>
                <a:spcPts val="1300"/>
              </a:spcAft>
              <a:buNone/>
            </a:pPr>
            <a:r>
              <a:rPr sz="1800" b="0" i="0" u="none" cap="none">
                <a:ln>
                  <a:noFill/>
                </a:ln>
                <a:solidFill>
                  <a:prstClr val="black"/>
                </a:solidFill>
                <a:latin typeface="Helvetica Neue"/>
                <a:ea typeface="Helvetica Neue"/>
                <a:cs typeface="Helvetica Neue"/>
              </a:rPr>
              <a:t>Three candidates fixed for this rerun use validation only. Both recalls ≥ 70%; then maximize Macro F1.</a:t>
            </a:r>
          </a:p>
        </p:txBody>
      </p:sp>
      <p:sp>
        <p:nvSpPr>
          <p:cNvPr id="3" name="Title 2">
            <a:extLst xmlns:a="http://schemas.openxmlformats.org/drawingml/2006/main">
              <a:ext uri="{FF2B5EF4-FFF2-40B4-BE49-F238E27FC236}">
                <a16:creationId xmlns:a16="http://schemas.microsoft.com/office/drawing/2014/main" id="{BC736807-305D-4EC1-A98F-2A17C38135E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 stricter experiment, not just a larger dataset</a:t>
            </a:r>
          </a:p>
        </p:txBody>
      </p:sp>
      <p:sp>
        <p:nvSpPr>
          <p:cNvPr id="13" name="Content Placeholder 9">
            <a:extLst xmlns:a="http://schemas.openxmlformats.org/drawingml/2006/main">
              <a:ext uri="{FF2B5EF4-FFF2-40B4-BE49-F238E27FC236}">
                <a16:creationId xmlns:a16="http://schemas.microsoft.com/office/drawing/2014/main" id="{19211427-9600-D234-704D-53BE123AB716}"/>
              </a:ext>
            </a:extLst>
          </p:cNvPr>
          <p:cNvSpPr>
            <a:spLocks xmlns:a="http://schemas.openxmlformats.org/drawingml/2006/main" noGrp="1"/>
          </p:cNvSpPr>
          <p:nvPr/>
        </p:nvSpPr>
        <p:spPr>
          <a:xfrm xmlns:a="http://schemas.openxmlformats.org/drawingml/2006/main">
            <a:off x="393700" y="4133787"/>
            <a:ext cx="3568700" cy="1860613"/>
          </a:xfrm>
          <a:prstGeom xmlns:a="http://schemas.openxmlformats.org/drawingml/2006/main" prst="rect">
            <a:avLst/>
          </a:prstGeom>
        </p:spPr>
        <p:txBody>
          <a:bodyPr xmlns:a="http://schemas.openxmlformats.org/drawingml/2006/main" vert="horz" lIns="0" tIns="0" rIns="0" bIns="0">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320040" indent="-226060" algn="l">
              <a:lnSpc>
                <a:spcPct val="110000"/>
              </a:lnSpc>
              <a:spcBef>
                <a:spcPts val="0"/>
              </a:spcBef>
              <a:spcAft>
                <a:spcPts val="0"/>
              </a:spcAft>
              <a:buChar char="→"/>
            </a:pPr>
            <a:r>
              <a:rPr sz="1800" b="0" i="0" u="none" cap="none">
                <a:ln>
                  <a:noFill/>
                </a:ln>
                <a:solidFill>
                  <a:prstClr val="black"/>
                </a:solidFill>
                <a:latin typeface="Helvetica Neue"/>
                <a:ea typeface="Helvetica Neue"/>
                <a:cs typeface="Helvetica Neue"/>
              </a:rPr>
              <a:t>Train: 732 groups</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Validation: 156 groups</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Test: 165 groups</a:t>
            </a:r>
          </a:p>
          <a:p xmlns:a="http://schemas.openxmlformats.org/drawingml/2006/main">
            <a:pPr marL="320040" indent="-226060" algn="l">
              <a:lnSpc>
                <a:spcPct val="110000"/>
              </a:lnSpc>
              <a:spcBef>
                <a:spcPts val="1000"/>
              </a:spcBef>
              <a:spcAft>
                <a:spcPts val="1000"/>
              </a:spcAft>
              <a:buChar char="→"/>
            </a:pPr>
            <a:r>
              <a:rPr sz="1800" b="0" i="0" u="none" cap="none">
                <a:ln>
                  <a:noFill/>
                </a:ln>
                <a:solidFill>
                  <a:prstClr val="black"/>
                </a:solidFill>
                <a:latin typeface="Helvetica Neue"/>
                <a:ea typeface="Helvetica Neue"/>
                <a:cs typeface="Helvetica Neue"/>
              </a:rPr>
              <a:t>Seed: 42</a:t>
            </a:r>
          </a:p>
        </p:txBody>
      </p:sp>
      <p:sp>
        <p:nvSpPr>
          <p:cNvPr id="20" name="Content Placeholder 9">
            <a:extLst xmlns:a="http://schemas.openxmlformats.org/drawingml/2006/main">
              <a:ext uri="{FF2B5EF4-FFF2-40B4-BE49-F238E27FC236}">
                <a16:creationId xmlns:a16="http://schemas.microsoft.com/office/drawing/2014/main" id="{AC9183D9-7CC4-79A2-884C-5E7D4E0CCD2B}"/>
              </a:ext>
            </a:extLst>
          </p:cNvPr>
          <p:cNvSpPr>
            <a:spLocks xmlns:a="http://schemas.openxmlformats.org/drawingml/2006/main" noGrp="1"/>
          </p:cNvSpPr>
          <p:nvPr/>
        </p:nvSpPr>
        <p:spPr>
          <a:xfrm xmlns:a="http://schemas.openxmlformats.org/drawingml/2006/main">
            <a:off x="4307778" y="4133787"/>
            <a:ext cx="3568700" cy="1860613"/>
          </a:xfrm>
          <a:prstGeom xmlns:a="http://schemas.openxmlformats.org/drawingml/2006/main" prst="rect">
            <a:avLst/>
          </a:prstGeom>
        </p:spPr>
        <p:txBody>
          <a:bodyPr xmlns:a="http://schemas.openxmlformats.org/drawingml/2006/main" vert="horz" lIns="0" tIns="0" rIns="0" bIns="0">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320040" indent="-226060" algn="l">
              <a:lnSpc>
                <a:spcPct val="110000"/>
              </a:lnSpc>
              <a:spcBef>
                <a:spcPts val="0"/>
              </a:spcBef>
              <a:spcAft>
                <a:spcPts val="0"/>
              </a:spcAft>
              <a:buChar char="→"/>
            </a:pPr>
            <a:r>
              <a:rPr sz="1800" b="0" i="0" u="none" cap="none">
                <a:ln>
                  <a:noFill/>
                </a:ln>
                <a:solidFill>
                  <a:prstClr val="black"/>
                </a:solidFill>
                <a:latin typeface="Helvetica Neue"/>
                <a:ea typeface="Helvetica Neue"/>
                <a:cs typeface="Helvetica Neue"/>
              </a:rPr>
              <a:t>325 duplicate aliases merged</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Original-source split</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No test threshold tuning</a:t>
            </a:r>
          </a:p>
          <a:p xmlns:a="http://schemas.openxmlformats.org/drawingml/2006/main">
            <a:pPr marL="320040" indent="-226060" algn="l">
              <a:lnSpc>
                <a:spcPct val="110000"/>
              </a:lnSpc>
              <a:spcBef>
                <a:spcPts val="1000"/>
              </a:spcBef>
              <a:spcAft>
                <a:spcPts val="1000"/>
              </a:spcAft>
              <a:buChar char="→"/>
            </a:pPr>
            <a:r>
              <a:rPr sz="1800" b="0" i="0" u="none" cap="none">
                <a:ln>
                  <a:noFill/>
                </a:ln>
                <a:solidFill>
                  <a:prstClr val="black"/>
                </a:solidFill>
                <a:latin typeface="Helvetica Neue"/>
                <a:ea typeface="Helvetica Neue"/>
                <a:cs typeface="Helvetica Neue"/>
              </a:rPr>
              <a:t>Independent groups</a:t>
            </a:r>
          </a:p>
        </p:txBody>
      </p:sp>
      <p:sp>
        <p:nvSpPr>
          <p:cNvPr id="21" name="Content Placeholder 9">
            <a:extLst xmlns:a="http://schemas.openxmlformats.org/drawingml/2006/main">
              <a:ext uri="{FF2B5EF4-FFF2-40B4-BE49-F238E27FC236}">
                <a16:creationId xmlns:a16="http://schemas.microsoft.com/office/drawing/2014/main" id="{8026D696-5B0D-B1A2-BDA5-A14DA58894A3}"/>
              </a:ext>
            </a:extLst>
          </p:cNvPr>
          <p:cNvSpPr>
            <a:spLocks xmlns:a="http://schemas.openxmlformats.org/drawingml/2006/main" noGrp="1"/>
          </p:cNvSpPr>
          <p:nvPr/>
        </p:nvSpPr>
        <p:spPr>
          <a:xfrm xmlns:a="http://schemas.openxmlformats.org/drawingml/2006/main">
            <a:off x="8233007" y="4133787"/>
            <a:ext cx="3568700" cy="1860613"/>
          </a:xfrm>
          <a:prstGeom xmlns:a="http://schemas.openxmlformats.org/drawingml/2006/main" prst="rect">
            <a:avLst/>
          </a:prstGeom>
        </p:spPr>
        <p:txBody>
          <a:bodyPr xmlns:a="http://schemas.openxmlformats.org/drawingml/2006/main" vert="horz" lIns="0" tIns="0" rIns="0" bIns="0">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320040" indent="-226060" algn="l">
              <a:lnSpc>
                <a:spcPct val="110000"/>
              </a:lnSpc>
              <a:spcBef>
                <a:spcPts val="0"/>
              </a:spcBef>
              <a:spcAft>
                <a:spcPts val="0"/>
              </a:spcAft>
              <a:buChar char="→"/>
            </a:pPr>
            <a:r>
              <a:rPr sz="1800" b="0" i="0" u="none" cap="none">
                <a:ln>
                  <a:noFill/>
                </a:ln>
                <a:solidFill>
                  <a:prstClr val="black"/>
                </a:solidFill>
                <a:latin typeface="Helvetica Neue"/>
                <a:ea typeface="Helvetica Neue"/>
                <a:cs typeface="Helvetica Neue"/>
              </a:rPr>
              <a:t>Final Fusion selection:</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3 candidates, not a large grid</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Both event recalls ≥ 70%</a:t>
            </a:r>
          </a:p>
          <a:p xmlns:a="http://schemas.openxmlformats.org/drawingml/2006/main">
            <a:pPr marL="320040" indent="-226060" algn="l">
              <a:lnSpc>
                <a:spcPct val="110000"/>
              </a:lnSpc>
              <a:spcBef>
                <a:spcPts val="1000"/>
              </a:spcBef>
              <a:spcAft>
                <a:spcPts val="1000"/>
              </a:spcAft>
              <a:buChar char="→"/>
            </a:pPr>
            <a:r>
              <a:rPr sz="1800" b="0" i="0" u="none" cap="none">
                <a:ln>
                  <a:noFill/>
                </a:ln>
                <a:solidFill>
                  <a:prstClr val="black"/>
                </a:solidFill>
                <a:latin typeface="Helvetica Neue"/>
                <a:ea typeface="Helvetica Neue"/>
                <a:cs typeface="Helvetica Neue"/>
              </a:rPr>
              <a:t>Balanced policy selected</a:t>
            </a:r>
          </a:p>
        </p:txBody>
      </p:sp>
    </p:spTree>
    <p:extLst>
      <p:ext uri="{BB962C8B-B14F-4D97-AF65-F5344CB8AC3E}">
        <p14:creationId xmlns:p14="http://schemas.microsoft.com/office/powerpoint/2010/main" val="306423119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lide Number Placeholder 1">
            <a:extLst xmlns:a="http://schemas.openxmlformats.org/drawingml/2006/main">
              <a:ext uri="{FF2B5EF4-FFF2-40B4-BE49-F238E27FC236}">
                <a16:creationId xmlns:a16="http://schemas.microsoft.com/office/drawing/2014/main" id="{78745C74-45EB-AE28-C330-5C7EA227B3A0}"/>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fld id="{8C630A04-5A25-9E0C-9436-126091DB86B3}" type="slidenum">
              <a:t>6</a:t>
            </a:fld>
          </a:p>
        </p:txBody>
      </p:sp>
      <p:sp>
        <p:nvSpPr>
          <p:cNvPr id="3" name="Title 2">
            <a:extLst xmlns:a="http://schemas.openxmlformats.org/drawingml/2006/main">
              <a:ext uri="{FF2B5EF4-FFF2-40B4-BE49-F238E27FC236}">
                <a16:creationId xmlns:a16="http://schemas.microsoft.com/office/drawing/2014/main" id="{D03F6A93-D8A5-5E1B-B897-7FC43395C7A7}"/>
              </a:ext>
            </a:extLst>
          </p:cNvPr>
          <p:cNvSpPr>
            <a:spLocks xmlns:a="http://schemas.openxmlformats.org/drawingml/2006/main" noGrp="1"/>
          </p:cNvSpPr>
          <p:nvPr>
            <p:ph type="title" idx="0"/>
          </p:nvPr>
        </p:nvSpPr>
        <p:spPr>
          <a:xfrm xmlns:a="http://schemas.openxmlformats.org/drawingml/2006/main">
            <a:off x="393700" y="344009"/>
            <a:ext cx="7484432" cy="687058"/>
          </a:xfrm>
        </p:spPr>
        <p:txBody>
          <a:bodyPr xmlns:a="http://schemas.openxmlformats.org/drawingml/2006/main"/>
          <a:lstStyle xmlns:a="http://schemas.openxmlformats.org/drawingml/2006/main"/>
          <a:p xmlns:a="http://schemas.openxmlformats.org/drawingml/2006/main">
            <a:r>
              <a:t>Final Fusion results</a:t>
            </a:r>
          </a:p>
        </p:txBody>
      </p:sp>
      <p:sp>
        <p:nvSpPr>
          <p:cNvPr id="6" name="Rounded Rectangle 5">
            <a:extLst xmlns:a="http://schemas.openxmlformats.org/drawingml/2006/main">
              <a:ext uri="{FF2B5EF4-FFF2-40B4-BE49-F238E27FC236}">
                <a16:creationId xmlns:a16="http://schemas.microsoft.com/office/drawing/2014/main" id="{4B8E9A03-4B2C-B18E-82B3-81A4A01C1BFE}"/>
              </a:ext>
            </a:extLst>
          </p:cNvPr>
          <p:cNvSpPr>
            <a:spLocks xmlns:a="http://schemas.openxmlformats.org/drawingml/2006/main" noGrp="1"/>
          </p:cNvSpPr>
          <p:nvPr/>
        </p:nvSpPr>
        <p:spPr>
          <a:xfrm xmlns:a="http://schemas.openxmlformats.org/drawingml/2006/main">
            <a:off x="393700" y="4356100"/>
            <a:ext cx="2334563" cy="1882398"/>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Rounded Rectangle 18">
            <a:extLst xmlns:a="http://schemas.openxmlformats.org/drawingml/2006/main">
              <a:ext uri="{FF2B5EF4-FFF2-40B4-BE49-F238E27FC236}">
                <a16:creationId xmlns:a16="http://schemas.microsoft.com/office/drawing/2014/main" id="{BB9C5A0A-A5A1-9670-2D34-4ADE3A987520}"/>
              </a:ext>
            </a:extLst>
          </p:cNvPr>
          <p:cNvSpPr>
            <a:spLocks xmlns:a="http://schemas.openxmlformats.org/drawingml/2006/main" noGrp="1"/>
          </p:cNvSpPr>
          <p:nvPr/>
        </p:nvSpPr>
        <p:spPr>
          <a:xfrm xmlns:a="http://schemas.openxmlformats.org/drawingml/2006/main">
            <a:off x="2968634" y="4356100"/>
            <a:ext cx="2334563" cy="1882398"/>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Rounded Rectangle 19">
            <a:extLst xmlns:a="http://schemas.openxmlformats.org/drawingml/2006/main">
              <a:ext uri="{FF2B5EF4-FFF2-40B4-BE49-F238E27FC236}">
                <a16:creationId xmlns:a16="http://schemas.microsoft.com/office/drawing/2014/main" id="{F8B1C048-B419-3AD6-93D8-57A7BA14EF24}"/>
              </a:ext>
            </a:extLst>
          </p:cNvPr>
          <p:cNvSpPr>
            <a:spLocks xmlns:a="http://schemas.openxmlformats.org/drawingml/2006/main" noGrp="1"/>
          </p:cNvSpPr>
          <p:nvPr/>
        </p:nvSpPr>
        <p:spPr>
          <a:xfrm xmlns:a="http://schemas.openxmlformats.org/drawingml/2006/main">
            <a:off x="5543569" y="4356100"/>
            <a:ext cx="2334563" cy="1882398"/>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Footer Placeholder 24">
            <a:extLst xmlns:a="http://schemas.openxmlformats.org/drawingml/2006/main">
              <a:ext uri="{FF2B5EF4-FFF2-40B4-BE49-F238E27FC236}">
                <a16:creationId xmlns:a16="http://schemas.microsoft.com/office/drawing/2014/main" id="{95A1BACE-9FEC-6113-E43D-CADED94947C8}"/>
              </a:ext>
            </a:extLst>
          </p:cNvPr>
          <p:cNvSpPr>
            <a:spLocks xmlns:a="http://schemas.openxmlformats.org/drawingml/2006/main" noGrp="1"/>
          </p:cNvSpPr>
          <p:nvPr>
            <p:ph type="ftr" idx="3"/>
          </p:nvPr>
        </p:nvSpPr>
        <p:spPr/>
        <p:txBody>
          <a:bodyPr xmlns:a="http://schemas.openxmlformats.org/drawingml/2006/main"/>
          <a:lstStyle xmlns:a="http://schemas.openxmlformats.org/drawingml/2006/main"/>
          <a:p xmlns:a="http://schemas.openxmlformats.org/drawingml/2006/main">
            <a:r>
              <a:rPr sz="1100"/>
              <a:t>*Strict-label test · 165 source groups · retrospective rerun · June 21, 2026</a:t>
            </a:r>
          </a:p>
        </p:txBody>
      </p:sp>
      <p:sp>
        <p:nvSpPr>
          <p:cNvPr id="28" name="Content Placeholder 2">
            <a:extLst xmlns:a="http://schemas.openxmlformats.org/drawingml/2006/main">
              <a:ext uri="{FF2B5EF4-FFF2-40B4-BE49-F238E27FC236}">
                <a16:creationId xmlns:a16="http://schemas.microsoft.com/office/drawing/2014/main" id="{B3C3191E-B483-A5B1-1BFC-8359BB565493}"/>
              </a:ext>
            </a:extLst>
          </p:cNvPr>
          <p:cNvSpPr>
            <a:spLocks xmlns:a="http://schemas.openxmlformats.org/drawingml/2006/main" noGrp="1"/>
          </p:cNvSpPr>
          <p:nvPr/>
        </p:nvSpPr>
        <p:spPr>
          <a:xfrm xmlns:a="http://schemas.openxmlformats.org/drawingml/2006/main">
            <a:off x="8232273" y="2374900"/>
            <a:ext cx="3568700" cy="3863597"/>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800">
                <a:solidFill>
                  <a:prstClr val="black"/>
                </a:solidFill>
                <a:latin typeface="Helvetica Neue Medium"/>
                <a:ea typeface="Helvetica Neue Medium"/>
                <a:cs typeface="Helvetica Neue Medium"/>
              </a:rPr>
              <a:t>INTERPRETATION</a:t>
            </a:r>
          </a:p>
          <a:p xmlns:a="http://schemas.openxmlformats.org/drawingml/2006/main">
            <a:pPr marL="0" indent="0">
              <a:lnSpc>
                <a:spcPct val="114000"/>
              </a:lnSpc>
              <a:spcBef>
                <a:spcPts val="0"/>
              </a:spcBef>
              <a:spcAft>
                <a:spcPts val="800"/>
              </a:spcAft>
              <a:buNone/>
            </a:pPr>
            <a:r>
              <a:rPr sz="1400">
                <a:solidFill>
                  <a:prstClr val="black"/>
                </a:solidFill>
                <a:latin typeface="Helvetica Neue"/>
                <a:ea typeface="Helvetica Neue"/>
                <a:cs typeface="Helvetica Neue"/>
              </a:rPr>
              <a:t>Final Fusion provided the best overall balance across both threat classes and normal false alarms.</a:t>
            </a:r>
          </a:p>
          <a:p xmlns:a="http://schemas.openxmlformats.org/drawingml/2006/main">
            <a:pPr marL="0" indent="0">
              <a:lnSpc>
                <a:spcPct val="114000"/>
              </a:lnSpc>
              <a:spcBef>
                <a:spcPts val="0"/>
              </a:spcBef>
              <a:spcAft>
                <a:spcPts val="800"/>
              </a:spcAft>
              <a:buNone/>
            </a:pPr>
            <a:r>
              <a:rPr sz="1400">
                <a:solidFill>
                  <a:prstClr val="black"/>
                </a:solidFill>
                <a:latin typeface="Helvetica Neue"/>
                <a:ea typeface="Helvetica Neue"/>
                <a:cs typeface="Helvetica Neue"/>
              </a:rPr>
              <a:t/>
            </a:r>
          </a:p>
          <a:p xmlns:a="http://schemas.openxmlformats.org/drawingml/2006/main">
            <a:pPr marL="0" indent="0">
              <a:lnSpc>
                <a:spcPct val="114000"/>
              </a:lnSpc>
              <a:spcBef>
                <a:spcPts val="0"/>
              </a:spcBef>
              <a:spcAft>
                <a:spcPts val="800"/>
              </a:spcAft>
              <a:buNone/>
            </a:pPr>
            <a:r>
              <a:rPr sz="1400">
                <a:solidFill>
                  <a:prstClr val="black"/>
                </a:solidFill>
                <a:latin typeface="Helvetica Neue"/>
                <a:ea typeface="Helvetica Neue"/>
                <a:cs typeface="Helvetica Neue"/>
              </a:rPr>
              <a:t>Policy parameters came from validation only. The test split had been inspected in earlier iterations, so fresh-data validation remains necessary.</a:t>
            </a:r>
          </a:p>
        </p:txBody>
      </p:sp>
      <p:sp>
        <p:nvSpPr>
          <p:cNvPr id="30" name="Content Placeholder 9">
            <a:extLst xmlns:a="http://schemas.openxmlformats.org/drawingml/2006/main">
              <a:ext uri="{FF2B5EF4-FFF2-40B4-BE49-F238E27FC236}">
                <a16:creationId xmlns:a16="http://schemas.microsoft.com/office/drawing/2014/main" id="{A2629DBE-08D2-7E4E-7363-739E24C59768}"/>
              </a:ext>
            </a:extLst>
          </p:cNvPr>
          <p:cNvSpPr>
            <a:spLocks xmlns:a="http://schemas.openxmlformats.org/drawingml/2006/main" noGrp="1"/>
          </p:cNvSpPr>
          <p:nvPr/>
        </p:nvSpPr>
        <p:spPr>
          <a:xfrm xmlns:a="http://schemas.openxmlformats.org/drawingml/2006/main">
            <a:off x="565150" y="4563078"/>
            <a:ext cx="1612900"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9.2%</a:t>
            </a:r>
          </a:p>
        </p:txBody>
      </p:sp>
      <p:sp>
        <p:nvSpPr>
          <p:cNvPr id="31" name="Content Placeholder 9">
            <a:extLst xmlns:a="http://schemas.openxmlformats.org/drawingml/2006/main">
              <a:ext uri="{FF2B5EF4-FFF2-40B4-BE49-F238E27FC236}">
                <a16:creationId xmlns:a16="http://schemas.microsoft.com/office/drawing/2014/main" id="{2D533C57-9277-DA71-420A-852FB372D17F}"/>
              </a:ext>
            </a:extLst>
          </p:cNvPr>
          <p:cNvSpPr>
            <a:spLocks xmlns:a="http://schemas.openxmlformats.org/drawingml/2006/main" noGrp="1"/>
          </p:cNvSpPr>
          <p:nvPr/>
        </p:nvSpPr>
        <p:spPr>
          <a:xfrm xmlns:a="http://schemas.openxmlformats.org/drawingml/2006/main">
            <a:off x="656590" y="5466828"/>
            <a:ext cx="1612900" cy="392952"/>
          </a:xfrm>
          <a:prstGeom xmlns:a="http://schemas.openxmlformats.org/drawingml/2006/main" prst="rect">
            <a:avLst/>
          </a:prstGeom>
        </p:spPr>
        <p:txBody>
          <a:bodyPr xmlns:a="http://schemas.openxmlformats.org/drawingml/2006/main" vert="horz" lIns="0" tIns="0" rIns="0" bIns="0" anchor="b">
            <a:normAutofit fontScale="76873"/>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1600">
                <a:solidFill>
                  <a:prstClr val="black"/>
                </a:solidFill>
                <a:latin typeface="Helvetica Neue"/>
                <a:ea typeface="Helvetica Neue"/>
                <a:cs typeface="Helvetica Neue"/>
              </a:rPr>
              <a:t>Normal false alarm · 9/98</a:t>
            </a:r>
          </a:p>
        </p:txBody>
      </p:sp>
      <p:sp>
        <p:nvSpPr>
          <p:cNvPr id="32" name="Content Placeholder 9">
            <a:extLst xmlns:a="http://schemas.openxmlformats.org/drawingml/2006/main">
              <a:ext uri="{FF2B5EF4-FFF2-40B4-BE49-F238E27FC236}">
                <a16:creationId xmlns:a16="http://schemas.microsoft.com/office/drawing/2014/main" id="{C960D833-F6EA-C5E9-6DE4-D21876FC340D}"/>
              </a:ext>
            </a:extLst>
          </p:cNvPr>
          <p:cNvSpPr>
            <a:spLocks xmlns:a="http://schemas.openxmlformats.org/drawingml/2006/main" noGrp="1"/>
          </p:cNvSpPr>
          <p:nvPr/>
        </p:nvSpPr>
        <p:spPr>
          <a:xfrm xmlns:a="http://schemas.openxmlformats.org/drawingml/2006/main">
            <a:off x="3172795" y="4563078"/>
            <a:ext cx="1612900"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75.9%</a:t>
            </a:r>
          </a:p>
        </p:txBody>
      </p:sp>
      <p:sp>
        <p:nvSpPr>
          <p:cNvPr id="33" name="Content Placeholder 9">
            <a:extLst xmlns:a="http://schemas.openxmlformats.org/drawingml/2006/main">
              <a:ext uri="{FF2B5EF4-FFF2-40B4-BE49-F238E27FC236}">
                <a16:creationId xmlns:a16="http://schemas.microsoft.com/office/drawing/2014/main" id="{BF33EEB6-55CD-E6FE-95D2-55A288BCF125}"/>
              </a:ext>
            </a:extLst>
          </p:cNvPr>
          <p:cNvSpPr>
            <a:spLocks xmlns:a="http://schemas.openxmlformats.org/drawingml/2006/main" noGrp="1"/>
          </p:cNvSpPr>
          <p:nvPr/>
        </p:nvSpPr>
        <p:spPr>
          <a:xfrm xmlns:a="http://schemas.openxmlformats.org/drawingml/2006/main">
            <a:off x="3264235" y="5466828"/>
            <a:ext cx="1612900" cy="392952"/>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1600">
                <a:solidFill>
                  <a:prstClr val="black"/>
                </a:solidFill>
                <a:latin typeface="Helvetica Neue"/>
                <a:ea typeface="Helvetica Neue"/>
                <a:cs typeface="Helvetica Neue"/>
              </a:rPr>
              <a:t>Glass recall · 22/29</a:t>
            </a:r>
          </a:p>
        </p:txBody>
      </p:sp>
      <p:sp>
        <p:nvSpPr>
          <p:cNvPr id="35" name="Content Placeholder 9">
            <a:extLst xmlns:a="http://schemas.openxmlformats.org/drawingml/2006/main">
              <a:ext uri="{FF2B5EF4-FFF2-40B4-BE49-F238E27FC236}">
                <a16:creationId xmlns:a16="http://schemas.microsoft.com/office/drawing/2014/main" id="{6ABC2165-3103-0F8C-58B6-34BB68635572}"/>
              </a:ext>
            </a:extLst>
          </p:cNvPr>
          <p:cNvSpPr>
            <a:spLocks xmlns:a="http://schemas.openxmlformats.org/drawingml/2006/main" noGrp="1"/>
          </p:cNvSpPr>
          <p:nvPr/>
        </p:nvSpPr>
        <p:spPr>
          <a:xfrm xmlns:a="http://schemas.openxmlformats.org/drawingml/2006/main">
            <a:off x="5771616" y="4563078"/>
            <a:ext cx="1612900"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78.9%</a:t>
            </a:r>
          </a:p>
        </p:txBody>
      </p:sp>
      <p:sp>
        <p:nvSpPr>
          <p:cNvPr id="36" name="Content Placeholder 9">
            <a:extLst xmlns:a="http://schemas.openxmlformats.org/drawingml/2006/main">
              <a:ext uri="{FF2B5EF4-FFF2-40B4-BE49-F238E27FC236}">
                <a16:creationId xmlns:a16="http://schemas.microsoft.com/office/drawing/2014/main" id="{C48CB7DC-F282-1D69-FD55-0B1565AB0418}"/>
              </a:ext>
            </a:extLst>
          </p:cNvPr>
          <p:cNvSpPr>
            <a:spLocks xmlns:a="http://schemas.openxmlformats.org/drawingml/2006/main" noGrp="1"/>
          </p:cNvSpPr>
          <p:nvPr/>
        </p:nvSpPr>
        <p:spPr>
          <a:xfrm xmlns:a="http://schemas.openxmlformats.org/drawingml/2006/main">
            <a:off x="5863056" y="5466828"/>
            <a:ext cx="1612900" cy="392952"/>
          </a:xfrm>
          <a:prstGeom xmlns:a="http://schemas.openxmlformats.org/drawingml/2006/main" prst="rect">
            <a:avLst/>
          </a:prstGeom>
        </p:spPr>
        <p:txBody>
          <a:bodyPr xmlns:a="http://schemas.openxmlformats.org/drawingml/2006/main" vert="horz" lIns="0" tIns="0" rIns="0" bIns="0" anchor="b">
            <a:normAutofit fontScale="92988"/>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1600">
                <a:solidFill>
                  <a:prstClr val="black"/>
                </a:solidFill>
                <a:latin typeface="Helvetica Neue"/>
                <a:ea typeface="Helvetica Neue"/>
                <a:cs typeface="Helvetica Neue"/>
              </a:rPr>
              <a:t>Scream recall · 30/38</a:t>
            </a:r>
          </a:p>
        </p:txBody>
      </p:sp>
      <p:sp>
        <p:nvSpPr>
          <p:cNvPr id="4" name="Rounded Rectangle 3">
            <a:extLst xmlns:a="http://schemas.openxmlformats.org/drawingml/2006/main">
              <a:ext uri="{FF2B5EF4-FFF2-40B4-BE49-F238E27FC236}">
                <a16:creationId xmlns:a16="http://schemas.microsoft.com/office/drawing/2014/main" id="{BD5FE77B-90E1-5236-3990-7079CE78B791}"/>
              </a:ext>
            </a:extLst>
          </p:cNvPr>
          <p:cNvSpPr>
            <a:spLocks xmlns:a="http://schemas.openxmlformats.org/drawingml/2006/main" noGrp="1"/>
          </p:cNvSpPr>
          <p:nvPr/>
        </p:nvSpPr>
        <p:spPr>
          <a:xfrm xmlns:a="http://schemas.openxmlformats.org/drawingml/2006/main">
            <a:off x="393700" y="2241550"/>
            <a:ext cx="2334563" cy="1882398"/>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Rounded Rectangle 4">
            <a:extLst xmlns:a="http://schemas.openxmlformats.org/drawingml/2006/main">
              <a:ext uri="{FF2B5EF4-FFF2-40B4-BE49-F238E27FC236}">
                <a16:creationId xmlns:a16="http://schemas.microsoft.com/office/drawing/2014/main" id="{60C351F7-AC2A-1B40-78B5-13B90FA91BEA}"/>
              </a:ext>
            </a:extLst>
          </p:cNvPr>
          <p:cNvSpPr>
            <a:spLocks xmlns:a="http://schemas.openxmlformats.org/drawingml/2006/main" noGrp="1"/>
          </p:cNvSpPr>
          <p:nvPr/>
        </p:nvSpPr>
        <p:spPr>
          <a:xfrm xmlns:a="http://schemas.openxmlformats.org/drawingml/2006/main">
            <a:off x="2968634" y="2241550"/>
            <a:ext cx="2334563" cy="1882398"/>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ounded Rectangle 6">
            <a:extLst xmlns:a="http://schemas.openxmlformats.org/drawingml/2006/main">
              <a:ext uri="{FF2B5EF4-FFF2-40B4-BE49-F238E27FC236}">
                <a16:creationId xmlns:a16="http://schemas.microsoft.com/office/drawing/2014/main" id="{11CEE641-9418-21DE-A949-29DF25A0EFFD}"/>
              </a:ext>
            </a:extLst>
          </p:cNvPr>
          <p:cNvSpPr>
            <a:spLocks xmlns:a="http://schemas.openxmlformats.org/drawingml/2006/main" noGrp="1"/>
          </p:cNvSpPr>
          <p:nvPr/>
        </p:nvSpPr>
        <p:spPr>
          <a:xfrm xmlns:a="http://schemas.openxmlformats.org/drawingml/2006/main">
            <a:off x="5543569" y="2241550"/>
            <a:ext cx="2334563" cy="1882398"/>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Content Placeholder 9">
            <a:extLst xmlns:a="http://schemas.openxmlformats.org/drawingml/2006/main">
              <a:ext uri="{FF2B5EF4-FFF2-40B4-BE49-F238E27FC236}">
                <a16:creationId xmlns:a16="http://schemas.microsoft.com/office/drawing/2014/main" id="{C27408C0-0932-3E46-A6F1-86E2F1C7E1EB}"/>
              </a:ext>
            </a:extLst>
          </p:cNvPr>
          <p:cNvSpPr>
            <a:spLocks xmlns:a="http://schemas.openxmlformats.org/drawingml/2006/main" noGrp="1"/>
          </p:cNvSpPr>
          <p:nvPr/>
        </p:nvSpPr>
        <p:spPr>
          <a:xfrm xmlns:a="http://schemas.openxmlformats.org/drawingml/2006/main">
            <a:off x="565150" y="2448528"/>
            <a:ext cx="1612900"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165</a:t>
            </a:r>
          </a:p>
        </p:txBody>
      </p:sp>
      <p:sp>
        <p:nvSpPr>
          <p:cNvPr id="9" name="Content Placeholder 9">
            <a:extLst xmlns:a="http://schemas.openxmlformats.org/drawingml/2006/main">
              <a:ext uri="{FF2B5EF4-FFF2-40B4-BE49-F238E27FC236}">
                <a16:creationId xmlns:a16="http://schemas.microsoft.com/office/drawing/2014/main" id="{56E44BE8-FC97-2F06-AD91-3DEB9C1337DC}"/>
              </a:ext>
            </a:extLst>
          </p:cNvPr>
          <p:cNvSpPr>
            <a:spLocks xmlns:a="http://schemas.openxmlformats.org/drawingml/2006/main" noGrp="1"/>
          </p:cNvSpPr>
          <p:nvPr/>
        </p:nvSpPr>
        <p:spPr>
          <a:xfrm xmlns:a="http://schemas.openxmlformats.org/drawingml/2006/main">
            <a:off x="656590" y="3352278"/>
            <a:ext cx="1612900" cy="392952"/>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1600">
                <a:solidFill>
                  <a:prstClr val="black"/>
                </a:solidFill>
                <a:latin typeface="Helvetica Neue"/>
                <a:ea typeface="Helvetica Neue"/>
                <a:cs typeface="Helvetica Neue"/>
              </a:rPr>
              <a:t>Test groups</a:t>
            </a:r>
          </a:p>
        </p:txBody>
      </p:sp>
      <p:sp>
        <p:nvSpPr>
          <p:cNvPr id="10" name="Content Placeholder 9">
            <a:extLst xmlns:a="http://schemas.openxmlformats.org/drawingml/2006/main">
              <a:ext uri="{FF2B5EF4-FFF2-40B4-BE49-F238E27FC236}">
                <a16:creationId xmlns:a16="http://schemas.microsoft.com/office/drawing/2014/main" id="{DF499E89-5132-2D79-D060-7F883BF46606}"/>
              </a:ext>
            </a:extLst>
          </p:cNvPr>
          <p:cNvSpPr>
            <a:spLocks xmlns:a="http://schemas.openxmlformats.org/drawingml/2006/main" noGrp="1"/>
          </p:cNvSpPr>
          <p:nvPr/>
        </p:nvSpPr>
        <p:spPr>
          <a:xfrm xmlns:a="http://schemas.openxmlformats.org/drawingml/2006/main">
            <a:off x="3172795" y="2448528"/>
            <a:ext cx="1612900"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85.5%</a:t>
            </a:r>
          </a:p>
        </p:txBody>
      </p:sp>
      <p:sp>
        <p:nvSpPr>
          <p:cNvPr id="11" name="Content Placeholder 9">
            <a:extLst xmlns:a="http://schemas.openxmlformats.org/drawingml/2006/main">
              <a:ext uri="{FF2B5EF4-FFF2-40B4-BE49-F238E27FC236}">
                <a16:creationId xmlns:a16="http://schemas.microsoft.com/office/drawing/2014/main" id="{5C3FD83C-7E51-3532-0CC5-3111AC378682}"/>
              </a:ext>
            </a:extLst>
          </p:cNvPr>
          <p:cNvSpPr>
            <a:spLocks xmlns:a="http://schemas.openxmlformats.org/drawingml/2006/main" noGrp="1"/>
          </p:cNvSpPr>
          <p:nvPr/>
        </p:nvSpPr>
        <p:spPr>
          <a:xfrm xmlns:a="http://schemas.openxmlformats.org/drawingml/2006/main">
            <a:off x="3264235" y="3352278"/>
            <a:ext cx="1612900" cy="392952"/>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1600">
                <a:solidFill>
                  <a:prstClr val="black"/>
                </a:solidFill>
                <a:latin typeface="Helvetica Neue"/>
                <a:ea typeface="Helvetica Neue"/>
                <a:cs typeface="Helvetica Neue"/>
              </a:rPr>
              <a:t>Accuracy · 141/165</a:t>
            </a:r>
          </a:p>
        </p:txBody>
      </p:sp>
      <p:sp>
        <p:nvSpPr>
          <p:cNvPr id="12" name="Content Placeholder 9">
            <a:extLst xmlns:a="http://schemas.openxmlformats.org/drawingml/2006/main">
              <a:ext uri="{FF2B5EF4-FFF2-40B4-BE49-F238E27FC236}">
                <a16:creationId xmlns:a16="http://schemas.microsoft.com/office/drawing/2014/main" id="{69C6FF59-91B0-A266-F811-6C509F30CF4B}"/>
              </a:ext>
            </a:extLst>
          </p:cNvPr>
          <p:cNvSpPr>
            <a:spLocks xmlns:a="http://schemas.openxmlformats.org/drawingml/2006/main" noGrp="1"/>
          </p:cNvSpPr>
          <p:nvPr/>
        </p:nvSpPr>
        <p:spPr>
          <a:xfrm xmlns:a="http://schemas.openxmlformats.org/drawingml/2006/main">
            <a:off x="5771616" y="2448528"/>
            <a:ext cx="1612900" cy="903750"/>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5000" u="none" cap="none">
                <a:ln>
                  <a:noFill/>
                </a:ln>
                <a:solidFill>
                  <a:prstClr val="black"/>
                </a:solidFill>
                <a:latin typeface="Helvetica Neue"/>
                <a:ea typeface="Helvetica Neue"/>
                <a:cs typeface="Helvetica Neue"/>
              </a:rPr>
              <a:t>0.837</a:t>
            </a:r>
          </a:p>
        </p:txBody>
      </p:sp>
      <p:sp>
        <p:nvSpPr>
          <p:cNvPr id="13" name="Content Placeholder 9">
            <a:extLst xmlns:a="http://schemas.openxmlformats.org/drawingml/2006/main">
              <a:ext uri="{FF2B5EF4-FFF2-40B4-BE49-F238E27FC236}">
                <a16:creationId xmlns:a16="http://schemas.microsoft.com/office/drawing/2014/main" id="{CB933D0C-0148-034A-E964-ED7F56E5FB68}"/>
              </a:ext>
            </a:extLst>
          </p:cNvPr>
          <p:cNvSpPr>
            <a:spLocks xmlns:a="http://schemas.openxmlformats.org/drawingml/2006/main" noGrp="1"/>
          </p:cNvSpPr>
          <p:nvPr/>
        </p:nvSpPr>
        <p:spPr>
          <a:xfrm xmlns:a="http://schemas.openxmlformats.org/drawingml/2006/main">
            <a:off x="5863056" y="3352278"/>
            <a:ext cx="1612900" cy="392952"/>
          </a:xfrm>
          <a:prstGeom xmlns:a="http://schemas.openxmlformats.org/drawingml/2006/main" prst="rect">
            <a:avLst/>
          </a:prstGeom>
        </p:spPr>
        <p:txBody>
          <a:bodyPr xmlns:a="http://schemas.openxmlformats.org/drawingml/2006/main" vert="horz" lIns="0" tIns="0" rIns="0" bIns="0" anchor="b">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2540" indent="0" algn="l">
              <a:lnSpc>
                <a:spcPct val="110000"/>
              </a:lnSpc>
              <a:spcBef>
                <a:spcPts val="0"/>
              </a:spcBef>
              <a:spcAft>
                <a:spcPts val="0"/>
              </a:spcAft>
              <a:buNone/>
            </a:pPr>
            <a:r>
              <a:rPr sz="1600">
                <a:solidFill>
                  <a:prstClr val="black"/>
                </a:solidFill>
                <a:latin typeface="Helvetica Neue"/>
                <a:ea typeface="Helvetica Neue"/>
                <a:cs typeface="Helvetica Neue"/>
              </a:rPr>
              <a:t>Macro F1</a:t>
            </a:r>
          </a:p>
        </p:txBody>
      </p:sp>
    </p:spTree>
    <p:extLst>
      <p:ext uri="{BB962C8B-B14F-4D97-AF65-F5344CB8AC3E}">
        <p14:creationId xmlns:p14="http://schemas.microsoft.com/office/powerpoint/2010/main" val="85501997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9" name="Rounded Rectangle 18">
            <a:extLst xmlns:a="http://schemas.openxmlformats.org/drawingml/2006/main">
              <a:ext uri="{FF2B5EF4-FFF2-40B4-BE49-F238E27FC236}">
                <a16:creationId xmlns:a16="http://schemas.microsoft.com/office/drawing/2014/main" id="{1D44F7AB-1763-C9DF-D07A-AAEE9DB548AE}"/>
              </a:ext>
            </a:extLst>
          </p:cNvPr>
          <p:cNvSpPr>
            <a:spLocks xmlns:a="http://schemas.openxmlformats.org/drawingml/2006/main" noGrp="1"/>
          </p:cNvSpPr>
          <p:nvPr/>
        </p:nvSpPr>
        <p:spPr>
          <a:xfrm xmlns:a="http://schemas.openxmlformats.org/drawingml/2006/main">
            <a:off x="8233335" y="3022600"/>
            <a:ext cx="2581975" cy="2971800"/>
          </a:xfrm>
          <a:prstGeom xmlns:a="http://schemas.openxmlformats.org/drawingml/2006/main" prst="roundRect">
            <a:avLst>
              <a:gd name="adj" fmla="val 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Content Placeholder 15">
            <a:extLst xmlns:a="http://schemas.openxmlformats.org/drawingml/2006/main">
              <a:ext uri="{FF2B5EF4-FFF2-40B4-BE49-F238E27FC236}">
                <a16:creationId xmlns:a16="http://schemas.microsoft.com/office/drawing/2014/main" id="{DEA69B8B-AC82-5D8D-6DC3-1435E10EFA74}"/>
              </a:ext>
            </a:extLst>
          </p:cNvPr>
          <p:cNvSpPr>
            <a:spLocks xmlns:a="http://schemas.openxmlformats.org/drawingml/2006/main" noGrp="1"/>
          </p:cNvSpPr>
          <p:nvPr/>
        </p:nvSpPr>
        <p:spPr>
          <a:xfrm xmlns:a="http://schemas.openxmlformats.org/drawingml/2006/main">
            <a:off x="8458602" y="3325812"/>
            <a:ext cx="2145400" cy="1677988"/>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a:lnSpc>
                <a:spcPct val="90000"/>
              </a:lnSpc>
              <a:spcBef>
                <a:spcPts val="1000"/>
              </a:spcBef>
              <a:buNone/>
              <a:defRPr sz="1600">
                <a:solidFill>
                  <a:schemeClr val="tx1"/>
                </a:solidFill>
                <a:latin typeface="+mn-lt"/>
                <a:ea typeface="+mn-lt"/>
                <a:cs typeface="+mn-lt"/>
              </a:defRPr>
            </a:lvl1pPr>
            <a:lvl2pPr marL="685800" indent="-228600" algn="l">
              <a:lnSpc>
                <a:spcPct val="90000"/>
              </a:lnSpc>
              <a:spcBef>
                <a:spcPts val="500"/>
              </a:spcBef>
              <a:buNone/>
              <a:defRPr sz="1600">
                <a:solidFill>
                  <a:schemeClr val="tx1"/>
                </a:solidFill>
                <a:latin typeface="+mn-lt"/>
                <a:ea typeface="+mn-lt"/>
                <a:cs typeface="+mn-lt"/>
              </a:defRPr>
            </a:lvl2pPr>
            <a:lvl3pPr marL="1143000" indent="-228600" algn="l">
              <a:lnSpc>
                <a:spcPct val="90000"/>
              </a:lnSpc>
              <a:spcBef>
                <a:spcPts val="500"/>
              </a:spcBef>
              <a:buNone/>
              <a:defRPr sz="1600">
                <a:solidFill>
                  <a:schemeClr val="tx1"/>
                </a:solidFill>
                <a:latin typeface="+mn-lt"/>
                <a:ea typeface="+mn-lt"/>
                <a:cs typeface="+mn-lt"/>
              </a:defRPr>
            </a:lvl3pPr>
            <a:lvl4pPr marL="1600200" indent="-228600" algn="l">
              <a:lnSpc>
                <a:spcPct val="90000"/>
              </a:lnSpc>
              <a:spcBef>
                <a:spcPts val="500"/>
              </a:spcBef>
              <a:buNone/>
              <a:defRPr sz="1600">
                <a:solidFill>
                  <a:schemeClr val="tx1"/>
                </a:solidFill>
                <a:latin typeface="+mn-lt"/>
                <a:ea typeface="+mn-lt"/>
                <a:cs typeface="+mn-lt"/>
              </a:defRPr>
            </a:lvl4pPr>
            <a:lvl5pPr marL="2057400" indent="-228600" algn="l">
              <a:lnSpc>
                <a:spcPct val="90000"/>
              </a:lnSpc>
              <a:spcBef>
                <a:spcPts val="500"/>
              </a:spcBef>
              <a:buNone/>
              <a:defRPr sz="16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a:latin typeface="Helvetica Neue"/>
                <a:ea typeface="Helvetica Neue"/>
                <a:cs typeface="Helvetica Neue"/>
              </a:rPr>
              <a:t>LOW-THRESHOLD ABLATION</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Kept the relaxed shortcut; removed its required YAMNet gate. This unsafe variant: 58.2% false alarms. Final Fusion: 9.2%.</a:t>
            </a:r>
          </a:p>
        </p:txBody>
      </p:sp>
      <p:sp>
        <p:nvSpPr>
          <p:cNvPr id="27" name="Text Placeholder 16">
            <a:extLst xmlns:a="http://schemas.openxmlformats.org/drawingml/2006/main">
              <a:ext uri="{FF2B5EF4-FFF2-40B4-BE49-F238E27FC236}">
                <a16:creationId xmlns:a16="http://schemas.microsoft.com/office/drawing/2014/main" id="{B6300F8B-E97D-EE9E-4225-90702D36C4D1}"/>
              </a:ext>
            </a:extLst>
          </p:cNvPr>
          <p:cNvSpPr>
            <a:spLocks xmlns:a="http://schemas.openxmlformats.org/drawingml/2006/main" noGrp="1"/>
          </p:cNvSpPr>
          <p:nvPr/>
        </p:nvSpPr>
        <p:spPr>
          <a:xfrm xmlns:a="http://schemas.openxmlformats.org/drawingml/2006/main">
            <a:off x="8487334" y="5544658"/>
            <a:ext cx="1686860" cy="207014"/>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a:lnSpc>
                <a:spcPct val="90000"/>
              </a:lnSpc>
              <a:spcBef>
                <a:spcPts val="1000"/>
              </a:spcBef>
              <a:buNone/>
              <a:defRPr sz="1800">
                <a:solidFill>
                  <a:schemeClr val="tx1"/>
                </a:solidFill>
                <a:latin typeface="+mn-lt"/>
                <a:ea typeface="+mn-lt"/>
                <a:cs typeface="+mn-lt"/>
              </a:defRPr>
            </a:lvl1pPr>
            <a:lvl2pPr marL="685800" indent="-228600" algn="l">
              <a:lnSpc>
                <a:spcPct val="90000"/>
              </a:lnSpc>
              <a:spcBef>
                <a:spcPts val="500"/>
              </a:spcBef>
              <a:buNone/>
              <a:defRPr sz="1800">
                <a:solidFill>
                  <a:schemeClr val="tx1"/>
                </a:solidFill>
                <a:latin typeface="+mn-lt"/>
                <a:ea typeface="+mn-lt"/>
                <a:cs typeface="+mn-lt"/>
              </a:defRPr>
            </a:lvl2pPr>
            <a:lvl3pPr marL="1143000" indent="-228600" algn="l">
              <a:lnSpc>
                <a:spcPct val="90000"/>
              </a:lnSpc>
              <a:spcBef>
                <a:spcPts val="500"/>
              </a:spcBef>
              <a:buNone/>
              <a:defRPr sz="1800">
                <a:solidFill>
                  <a:schemeClr val="tx1"/>
                </a:solidFill>
                <a:latin typeface="+mn-lt"/>
                <a:ea typeface="+mn-lt"/>
                <a:cs typeface="+mn-lt"/>
              </a:defRPr>
            </a:lvl3pPr>
            <a:lvl4pPr marL="1600200" indent="-228600" algn="l">
              <a:lnSpc>
                <a:spcPct val="90000"/>
              </a:lnSpc>
              <a:spcBef>
                <a:spcPts val="500"/>
              </a:spcBef>
              <a:buNone/>
              <a:defRPr sz="1800">
                <a:solidFill>
                  <a:schemeClr val="tx1"/>
                </a:solidFill>
                <a:latin typeface="+mn-lt"/>
                <a:ea typeface="+mn-lt"/>
                <a:cs typeface="+mn-lt"/>
              </a:defRPr>
            </a:lvl4pPr>
            <a:lvl5pPr marL="2057400" indent="-228600" algn="l">
              <a:lnSpc>
                <a:spcPct val="90000"/>
              </a:lnSpc>
              <a:spcBef>
                <a:spcPts val="500"/>
              </a:spcBef>
              <a:buNone/>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400">
                <a:solidFill>
                  <a:prstClr val="black"/>
                </a:solidFill>
                <a:latin typeface="Helvetica Neue"/>
                <a:ea typeface="Helvetica Neue"/>
                <a:cs typeface="Helvetica Neue"/>
              </a:rPr>
              <a:t>COMPONENT TEST</a:t>
            </a:r>
          </a:p>
        </p:txBody>
      </p:sp>
      <p:sp>
        <p:nvSpPr>
          <p:cNvPr id="28" name="Google Shape;2261;p159">
            <a:extLst xmlns:a="http://schemas.openxmlformats.org/drawingml/2006/main">
              <a:ext uri="{FF2B5EF4-FFF2-40B4-BE49-F238E27FC236}">
                <a16:creationId xmlns:a16="http://schemas.microsoft.com/office/drawing/2014/main" id="{D866E886-664F-3FB7-D53F-EC59490BDA56}"/>
              </a:ext>
            </a:extLst>
          </p:cNvPr>
          <p:cNvSpPr>
            <a:spLocks xmlns:a="http://schemas.openxmlformats.org/drawingml/2006/main" noGrp="1"/>
          </p:cNvSpPr>
          <p:nvPr/>
        </p:nvSpPr>
        <p:spPr>
          <a:xfrm xmlns:a="http://schemas.openxmlformats.org/drawingml/2006/main">
            <a:off x="8460678" y="5288071"/>
            <a:ext cx="107100" cy="107100"/>
          </a:xfrm>
          <a:prstGeom xmlns:a="http://schemas.openxmlformats.org/drawingml/2006/main" prst="ellipse">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p>
        </p:txBody>
      </p:sp>
      <p:sp>
        <p:nvSpPr>
          <p:cNvPr id="12" name="Rounded Rectangle 11">
            <a:extLst xmlns:a="http://schemas.openxmlformats.org/drawingml/2006/main">
              <a:ext uri="{FF2B5EF4-FFF2-40B4-BE49-F238E27FC236}">
                <a16:creationId xmlns:a16="http://schemas.microsoft.com/office/drawing/2014/main" id="{9164D62F-0E28-6899-D1A2-846CA2FAA06B}"/>
              </a:ext>
            </a:extLst>
          </p:cNvPr>
          <p:cNvSpPr>
            <a:spLocks xmlns:a="http://schemas.openxmlformats.org/drawingml/2006/main" noGrp="1"/>
          </p:cNvSpPr>
          <p:nvPr/>
        </p:nvSpPr>
        <p:spPr>
          <a:xfrm xmlns:a="http://schemas.openxmlformats.org/drawingml/2006/main">
            <a:off x="4293347" y="3022600"/>
            <a:ext cx="2581975" cy="2971800"/>
          </a:xfrm>
          <a:prstGeom xmlns:a="http://schemas.openxmlformats.org/drawingml/2006/main" prst="roundRect">
            <a:avLst>
              <a:gd name="adj" fmla="val 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Content Placeholder 15">
            <a:extLst xmlns:a="http://schemas.openxmlformats.org/drawingml/2006/main">
              <a:ext uri="{FF2B5EF4-FFF2-40B4-BE49-F238E27FC236}">
                <a16:creationId xmlns:a16="http://schemas.microsoft.com/office/drawing/2014/main" id="{74B5E1C3-F19B-1098-5782-2ABB1D1A91AF}"/>
              </a:ext>
            </a:extLst>
          </p:cNvPr>
          <p:cNvSpPr>
            <a:spLocks xmlns:a="http://schemas.openxmlformats.org/drawingml/2006/main" noGrp="1"/>
          </p:cNvSpPr>
          <p:nvPr/>
        </p:nvSpPr>
        <p:spPr>
          <a:xfrm xmlns:a="http://schemas.openxmlformats.org/drawingml/2006/main">
            <a:off x="4518614" y="3325812"/>
            <a:ext cx="2145400" cy="1677988"/>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a:lnSpc>
                <a:spcPct val="90000"/>
              </a:lnSpc>
              <a:spcBef>
                <a:spcPts val="1000"/>
              </a:spcBef>
              <a:buNone/>
              <a:defRPr sz="1600">
                <a:solidFill>
                  <a:schemeClr val="tx1"/>
                </a:solidFill>
                <a:latin typeface="+mn-lt"/>
                <a:ea typeface="+mn-lt"/>
                <a:cs typeface="+mn-lt"/>
              </a:defRPr>
            </a:lvl1pPr>
            <a:lvl2pPr marL="685800" indent="-228600" algn="l">
              <a:lnSpc>
                <a:spcPct val="90000"/>
              </a:lnSpc>
              <a:spcBef>
                <a:spcPts val="500"/>
              </a:spcBef>
              <a:buNone/>
              <a:defRPr sz="1600">
                <a:solidFill>
                  <a:schemeClr val="tx1"/>
                </a:solidFill>
                <a:latin typeface="+mn-lt"/>
                <a:ea typeface="+mn-lt"/>
                <a:cs typeface="+mn-lt"/>
              </a:defRPr>
            </a:lvl2pPr>
            <a:lvl3pPr marL="1143000" indent="-228600" algn="l">
              <a:lnSpc>
                <a:spcPct val="90000"/>
              </a:lnSpc>
              <a:spcBef>
                <a:spcPts val="500"/>
              </a:spcBef>
              <a:buNone/>
              <a:defRPr sz="1600">
                <a:solidFill>
                  <a:schemeClr val="tx1"/>
                </a:solidFill>
                <a:latin typeface="+mn-lt"/>
                <a:ea typeface="+mn-lt"/>
                <a:cs typeface="+mn-lt"/>
              </a:defRPr>
            </a:lvl3pPr>
            <a:lvl4pPr marL="1600200" indent="-228600" algn="l">
              <a:lnSpc>
                <a:spcPct val="90000"/>
              </a:lnSpc>
              <a:spcBef>
                <a:spcPts val="500"/>
              </a:spcBef>
              <a:buNone/>
              <a:defRPr sz="1600">
                <a:solidFill>
                  <a:schemeClr val="tx1"/>
                </a:solidFill>
                <a:latin typeface="+mn-lt"/>
                <a:ea typeface="+mn-lt"/>
                <a:cs typeface="+mn-lt"/>
              </a:defRPr>
            </a:lvl4pPr>
            <a:lvl5pPr marL="2057400" indent="-228600" algn="l">
              <a:lnSpc>
                <a:spcPct val="90000"/>
              </a:lnSpc>
              <a:spcBef>
                <a:spcPts val="500"/>
              </a:spcBef>
              <a:buNone/>
              <a:defRPr sz="16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a:latin typeface="Helvetica Neue"/>
                <a:ea typeface="Helvetica Neue"/>
                <a:cs typeface="Helvetica Neue"/>
              </a:rPr>
              <a:t>BROAD LABELS</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Generic breaking sounds polluted the glass class. We removed 158 unverified clips and rebuilt the split.</a:t>
            </a:r>
          </a:p>
        </p:txBody>
      </p:sp>
      <p:sp>
        <p:nvSpPr>
          <p:cNvPr id="7" name="Rounded Rectangle 6">
            <a:extLst xmlns:a="http://schemas.openxmlformats.org/drawingml/2006/main">
              <a:ext uri="{FF2B5EF4-FFF2-40B4-BE49-F238E27FC236}">
                <a16:creationId xmlns:a16="http://schemas.microsoft.com/office/drawing/2014/main" id="{0D46C2F3-E047-949F-E426-85D04E8B5696}"/>
              </a:ext>
            </a:extLst>
          </p:cNvPr>
          <p:cNvSpPr>
            <a:spLocks xmlns:a="http://schemas.openxmlformats.org/drawingml/2006/main" noGrp="1"/>
          </p:cNvSpPr>
          <p:nvPr/>
        </p:nvSpPr>
        <p:spPr>
          <a:xfrm xmlns:a="http://schemas.openxmlformats.org/drawingml/2006/main">
            <a:off x="393700" y="3022600"/>
            <a:ext cx="2581975" cy="2971800"/>
          </a:xfrm>
          <a:prstGeom xmlns:a="http://schemas.openxmlformats.org/drawingml/2006/main" prst="roundRect">
            <a:avLst>
              <a:gd name="adj" fmla="val 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Content Placeholder 15">
            <a:extLst xmlns:a="http://schemas.openxmlformats.org/drawingml/2006/main">
              <a:ext uri="{FF2B5EF4-FFF2-40B4-BE49-F238E27FC236}">
                <a16:creationId xmlns:a16="http://schemas.microsoft.com/office/drawing/2014/main" id="{C2D97B83-3C45-E37A-21C3-D5F333EEE61E}"/>
              </a:ext>
            </a:extLst>
          </p:cNvPr>
          <p:cNvSpPr>
            <a:spLocks xmlns:a="http://schemas.openxmlformats.org/drawingml/2006/main" noGrp="1"/>
          </p:cNvSpPr>
          <p:nvPr>
            <p:ph idx="1"/>
          </p:nvPr>
        </p:nvSpPr>
        <p:spPr>
          <a:xfrm xmlns:a="http://schemas.openxmlformats.org/drawingml/2006/main">
            <a:off x="618967" y="5549772"/>
            <a:ext cx="1730533" cy="192900"/>
          </a:xfrm>
        </p:spPr>
        <p:txBody>
          <a:bodyPr xmlns:a="http://schemas.openxmlformats.org/drawingml/2006/main">
            <a:noAutofit/>
          </a:bodyPr>
          <a:lstStyle xmlns:a="http://schemas.openxmlformats.org/drawingml/2006/main"/>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MIDTERM</a:t>
            </a:r>
          </a:p>
        </p:txBody>
      </p:sp>
      <p:sp>
        <p:nvSpPr>
          <p:cNvPr id="4" name="Slide Number Placeholder 3">
            <a:extLst xmlns:a="http://schemas.openxmlformats.org/drawingml/2006/main">
              <a:ext uri="{FF2B5EF4-FFF2-40B4-BE49-F238E27FC236}">
                <a16:creationId xmlns:a16="http://schemas.microsoft.com/office/drawing/2014/main" id="{AD63574A-89C7-955F-74B9-B91B30FDEB28}"/>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fld id="{D3D7D1C8-AE23-AA48-DF65-C742588DBE47}" type="slidenum">
              <a:t>7</a:t>
            </a:fld>
          </a:p>
        </p:txBody>
      </p:sp>
      <p:sp>
        <p:nvSpPr>
          <p:cNvPr id="11" name="Title 10">
            <a:extLst xmlns:a="http://schemas.openxmlformats.org/drawingml/2006/main">
              <a:ext uri="{FF2B5EF4-FFF2-40B4-BE49-F238E27FC236}">
                <a16:creationId xmlns:a16="http://schemas.microsoft.com/office/drawing/2014/main" id="{B8BE5863-55C6-337E-1F38-84416561EDD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Trial and error changed the system</a:t>
            </a:r>
          </a:p>
        </p:txBody>
      </p:sp>
      <p:sp>
        <p:nvSpPr>
          <p:cNvPr id="17" name="Text Placeholder 16">
            <a:extLst xmlns:a="http://schemas.openxmlformats.org/drawingml/2006/main">
              <a:ext uri="{FF2B5EF4-FFF2-40B4-BE49-F238E27FC236}">
                <a16:creationId xmlns:a16="http://schemas.microsoft.com/office/drawing/2014/main" id="{44FE8A3D-53A2-1416-CACF-BD6787D6F073}"/>
              </a:ext>
            </a:extLst>
          </p:cNvPr>
          <p:cNvSpPr>
            <a:spLocks xmlns:a="http://schemas.openxmlformats.org/drawingml/2006/main" noGrp="1"/>
          </p:cNvSpPr>
          <p:nvPr>
            <p:ph type="body" idx="12"/>
          </p:nvPr>
        </p:nvSpPr>
        <p:spPr>
          <a:xfrm xmlns:a="http://schemas.openxmlformats.org/drawingml/2006/main">
            <a:off x="4547346" y="5544658"/>
            <a:ext cx="1686860" cy="207014"/>
          </a:xfrm>
        </p:spPr>
        <p:txBody>
          <a:bodyPr xmlns:a="http://schemas.openxmlformats.org/drawingml/2006/main">
            <a:noAutofit/>
          </a:bodyPr>
          <a:lstStyle xmlns:a="http://schemas.openxmlformats.org/drawingml/2006/main"/>
          <a:p xmlns:a="http://schemas.openxmlformats.org/drawingml/2006/main">
            <a:pPr marL="0" indent="0" algn="l">
              <a:lnSpc>
                <a:spcPct val="114000"/>
              </a:lnSpc>
              <a:spcBef>
                <a:spcPts val="0"/>
              </a:spcBef>
              <a:spcAft>
                <a:spcPts val="800"/>
              </a:spcAft>
              <a:buNone/>
            </a:pPr>
            <a:r>
              <a:rPr sz="1400" u="none" cap="none">
                <a:ln>
                  <a:noFill/>
                </a:ln>
                <a:solidFill>
                  <a:prstClr val="black"/>
                </a:solidFill>
                <a:latin typeface="Helvetica Neue"/>
                <a:ea typeface="Helvetica Neue"/>
                <a:cs typeface="Helvetica Neue"/>
              </a:rPr>
              <a:t>DATA AUDIT</a:t>
            </a:r>
          </a:p>
        </p:txBody>
      </p:sp>
      <p:cxnSp>
        <p:nvCxnSpPr>
          <p:cNvPr id="52" name="Google Shape;2259;p159"/>
          <p:cNvCxnSpPr>
            <a:stCxn xmlns:a="http://schemas.openxmlformats.org/drawingml/2006/main" id="3" idx="2"/>
          </p:cNvCxnSpPr>
          <p:nvPr/>
        </p:nvCxnSpPr>
        <p:spPr>
          <a:xfrm xmlns:a="http://schemas.openxmlformats.org/drawingml/2006/main">
            <a:off x="618967" y="5341621"/>
            <a:ext cx="12245400" cy="300"/>
          </a:xfrm>
          <a:prstGeom xmlns:a="http://schemas.openxmlformats.org/drawingml/2006/main" prst="straightConnector1">
            <a:avLst/>
          </a:prstGeom>
          <a:ln xmlns:a="http://schemas.openxmlformats.org/drawingml/2006/main" w="9525" cap="flat">
            <a:solidFill>
              <a:schemeClr val="dk1"/>
            </a:solidFill>
            <a:prstDash val="solid"/>
            <a:round/>
            <a:headEnd type="none" w="med" len="med"/>
            <a:tailEnd type="none" w="med" len="med"/>
          </a:ln>
        </p:spPr>
      </p:cxnSp>
      <p:sp>
        <p:nvSpPr>
          <p:cNvPr id="3" name="Google Shape;2260;p159">
            <a:extLst xmlns:a="http://schemas.openxmlformats.org/drawingml/2006/main">
              <a:ext uri="{FF2B5EF4-FFF2-40B4-BE49-F238E27FC236}">
                <a16:creationId xmlns:a16="http://schemas.microsoft.com/office/drawing/2014/main" id="{C18CA270-D7FF-5F52-A97F-D8D6C3E591F9}"/>
              </a:ext>
            </a:extLst>
          </p:cNvPr>
          <p:cNvSpPr>
            <a:spLocks xmlns:a="http://schemas.openxmlformats.org/drawingml/2006/main" noGrp="1"/>
          </p:cNvSpPr>
          <p:nvPr/>
        </p:nvSpPr>
        <p:spPr>
          <a:xfrm xmlns:a="http://schemas.openxmlformats.org/drawingml/2006/main">
            <a:off x="618967" y="5288071"/>
            <a:ext cx="107100" cy="107100"/>
          </a:xfrm>
          <a:prstGeom xmlns:a="http://schemas.openxmlformats.org/drawingml/2006/main" prst="ellipse">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p>
        </p:txBody>
      </p:sp>
      <p:sp>
        <p:nvSpPr>
          <p:cNvPr id="5" name="Google Shape;2261;p159">
            <a:extLst xmlns:a="http://schemas.openxmlformats.org/drawingml/2006/main">
              <a:ext uri="{FF2B5EF4-FFF2-40B4-BE49-F238E27FC236}">
                <a16:creationId xmlns:a16="http://schemas.microsoft.com/office/drawing/2014/main" id="{A1A1F5EF-D65E-D2BC-463A-C5FFC2E3DA62}"/>
              </a:ext>
            </a:extLst>
          </p:cNvPr>
          <p:cNvSpPr>
            <a:spLocks xmlns:a="http://schemas.openxmlformats.org/drawingml/2006/main" noGrp="1"/>
          </p:cNvSpPr>
          <p:nvPr/>
        </p:nvSpPr>
        <p:spPr>
          <a:xfrm xmlns:a="http://schemas.openxmlformats.org/drawingml/2006/main">
            <a:off x="4520690" y="5288071"/>
            <a:ext cx="107100" cy="107100"/>
          </a:xfrm>
          <a:prstGeom xmlns:a="http://schemas.openxmlformats.org/drawingml/2006/main" prst="ellipse">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p>
        </p:txBody>
      </p:sp>
      <p:sp>
        <p:nvSpPr>
          <p:cNvPr id="8" name="Content Placeholder 15">
            <a:extLst xmlns:a="http://schemas.openxmlformats.org/drawingml/2006/main">
              <a:ext uri="{FF2B5EF4-FFF2-40B4-BE49-F238E27FC236}">
                <a16:creationId xmlns:a16="http://schemas.microsoft.com/office/drawing/2014/main" id="{E4FBD0D2-0150-2466-E4B2-FBFCAE3E3054}"/>
              </a:ext>
            </a:extLst>
          </p:cNvPr>
          <p:cNvSpPr>
            <a:spLocks xmlns:a="http://schemas.openxmlformats.org/drawingml/2006/main" noGrp="1"/>
          </p:cNvSpPr>
          <p:nvPr/>
        </p:nvSpPr>
        <p:spPr>
          <a:xfrm xmlns:a="http://schemas.openxmlformats.org/drawingml/2006/main">
            <a:off x="618967" y="3325812"/>
            <a:ext cx="2145400" cy="1677988"/>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a:lnSpc>
                <a:spcPct val="90000"/>
              </a:lnSpc>
              <a:spcBef>
                <a:spcPts val="1000"/>
              </a:spcBef>
              <a:buNone/>
              <a:defRPr sz="1600">
                <a:solidFill>
                  <a:schemeClr val="tx1"/>
                </a:solidFill>
                <a:latin typeface="+mn-lt"/>
                <a:ea typeface="+mn-lt"/>
                <a:cs typeface="+mn-lt"/>
              </a:defRPr>
            </a:lvl1pPr>
            <a:lvl2pPr marL="685800" indent="-228600" algn="l">
              <a:lnSpc>
                <a:spcPct val="90000"/>
              </a:lnSpc>
              <a:spcBef>
                <a:spcPts val="500"/>
              </a:spcBef>
              <a:buNone/>
              <a:defRPr sz="1600">
                <a:solidFill>
                  <a:schemeClr val="tx1"/>
                </a:solidFill>
                <a:latin typeface="+mn-lt"/>
                <a:ea typeface="+mn-lt"/>
                <a:cs typeface="+mn-lt"/>
              </a:defRPr>
            </a:lvl2pPr>
            <a:lvl3pPr marL="1143000" indent="-228600" algn="l">
              <a:lnSpc>
                <a:spcPct val="90000"/>
              </a:lnSpc>
              <a:spcBef>
                <a:spcPts val="500"/>
              </a:spcBef>
              <a:buNone/>
              <a:defRPr sz="1600">
                <a:solidFill>
                  <a:schemeClr val="tx1"/>
                </a:solidFill>
                <a:latin typeface="+mn-lt"/>
                <a:ea typeface="+mn-lt"/>
                <a:cs typeface="+mn-lt"/>
              </a:defRPr>
            </a:lvl3pPr>
            <a:lvl4pPr marL="1600200" indent="-228600" algn="l">
              <a:lnSpc>
                <a:spcPct val="90000"/>
              </a:lnSpc>
              <a:spcBef>
                <a:spcPts val="500"/>
              </a:spcBef>
              <a:buNone/>
              <a:defRPr sz="1600">
                <a:solidFill>
                  <a:schemeClr val="tx1"/>
                </a:solidFill>
                <a:latin typeface="+mn-lt"/>
                <a:ea typeface="+mn-lt"/>
                <a:cs typeface="+mn-lt"/>
              </a:defRPr>
            </a:lvl4pPr>
            <a:lvl5pPr marL="2057400" indent="-228600" algn="l">
              <a:lnSpc>
                <a:spcPct val="90000"/>
              </a:lnSpc>
              <a:spcBef>
                <a:spcPts val="500"/>
              </a:spcBef>
              <a:buNone/>
              <a:defRPr sz="16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a:latin typeface="Helvetica Neue"/>
                <a:ea typeface="Helvetica Neue"/>
                <a:cs typeface="Helvetica Neue"/>
              </a:rPr>
              <a:t>MEAN POOLING</a:t>
            </a:r>
          </a:p>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Started with conventional YAMNet-style clip averaging. It suits clip tagging, but short glass impacts were diluted, so we retained frame-level evidence.</a:t>
            </a:r>
          </a:p>
        </p:txBody>
      </p:sp>
    </p:spTree>
    <p:extLst>
      <p:ext uri="{BB962C8B-B14F-4D97-AF65-F5344CB8AC3E}">
        <p14:creationId xmlns:p14="http://schemas.microsoft.com/office/powerpoint/2010/main" val="6879125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 name="Rounded Rectangle 3">
            <a:extLst xmlns:a="http://schemas.openxmlformats.org/drawingml/2006/main">
              <a:ext uri="{FF2B5EF4-FFF2-40B4-BE49-F238E27FC236}">
                <a16:creationId xmlns:a16="http://schemas.microsoft.com/office/drawing/2014/main" id="{399D28F4-0533-71C4-6121-D7C1CF725D88}"/>
              </a:ext>
            </a:extLst>
          </p:cNvPr>
          <p:cNvSpPr>
            <a:spLocks xmlns:a="http://schemas.openxmlformats.org/drawingml/2006/main" noGrp="1"/>
          </p:cNvSpPr>
          <p:nvPr/>
        </p:nvSpPr>
        <p:spPr>
          <a:xfrm xmlns:a="http://schemas.openxmlformats.org/drawingml/2006/main">
            <a:off x="5930900" y="393700"/>
            <a:ext cx="5867400" cy="1638300"/>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Rounded Rectangle 4">
            <a:extLst xmlns:a="http://schemas.openxmlformats.org/drawingml/2006/main">
              <a:ext uri="{FF2B5EF4-FFF2-40B4-BE49-F238E27FC236}">
                <a16:creationId xmlns:a16="http://schemas.microsoft.com/office/drawing/2014/main" id="{3B220E5B-9AD4-0A77-D081-8DD6CEDEDE55}"/>
              </a:ext>
            </a:extLst>
          </p:cNvPr>
          <p:cNvSpPr>
            <a:spLocks xmlns:a="http://schemas.openxmlformats.org/drawingml/2006/main" noGrp="1"/>
          </p:cNvSpPr>
          <p:nvPr/>
        </p:nvSpPr>
        <p:spPr>
          <a:xfrm xmlns:a="http://schemas.openxmlformats.org/drawingml/2006/main">
            <a:off x="5930900" y="2369856"/>
            <a:ext cx="5867400" cy="1638300"/>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ounded Rectangle 5">
            <a:extLst xmlns:a="http://schemas.openxmlformats.org/drawingml/2006/main">
              <a:ext uri="{FF2B5EF4-FFF2-40B4-BE49-F238E27FC236}">
                <a16:creationId xmlns:a16="http://schemas.microsoft.com/office/drawing/2014/main" id="{8015B47D-C18B-C33D-B6B9-8B12C7F21DA3}"/>
              </a:ext>
            </a:extLst>
          </p:cNvPr>
          <p:cNvSpPr>
            <a:spLocks xmlns:a="http://schemas.openxmlformats.org/drawingml/2006/main" noGrp="1"/>
          </p:cNvSpPr>
          <p:nvPr/>
        </p:nvSpPr>
        <p:spPr>
          <a:xfrm xmlns:a="http://schemas.openxmlformats.org/drawingml/2006/main">
            <a:off x="5930900" y="4356100"/>
            <a:ext cx="5867400" cy="1638300"/>
          </a:xfrm>
          <a:prstGeom xmlns:a="http://schemas.openxmlformats.org/drawingml/2006/main" prst="roundRect">
            <a:avLst>
              <a:gd name="adj" fmla="val 3585"/>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Slide Number Placeholder 1">
            <a:extLst xmlns:a="http://schemas.openxmlformats.org/drawingml/2006/main">
              <a:ext uri="{FF2B5EF4-FFF2-40B4-BE49-F238E27FC236}">
                <a16:creationId xmlns:a16="http://schemas.microsoft.com/office/drawing/2014/main" id="{C70AE1A9-6BFA-C8F8-15D8-E0C474C9873F}"/>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fld id="{BA58DA2A-B818-18A9-29C1-B697728D5BCE}" type="slidenum">
              <a:t>8</a:t>
            </a:fld>
          </a:p>
        </p:txBody>
      </p:sp>
      <p:sp>
        <p:nvSpPr>
          <p:cNvPr id="3" name="Title 2">
            <a:extLst xmlns:a="http://schemas.openxmlformats.org/drawingml/2006/main">
              <a:ext uri="{FF2B5EF4-FFF2-40B4-BE49-F238E27FC236}">
                <a16:creationId xmlns:a16="http://schemas.microsoft.com/office/drawing/2014/main" id="{B98E6F4A-D901-EDDD-8055-85C5D5B5077A}"/>
              </a:ext>
            </a:extLst>
          </p:cNvPr>
          <p:cNvSpPr>
            <a:spLocks xmlns:a="http://schemas.openxmlformats.org/drawingml/2006/main" noGrp="1"/>
          </p:cNvSpPr>
          <p:nvPr>
            <p:ph type="title" idx="0"/>
          </p:nvPr>
        </p:nvSpPr>
        <p:spPr>
          <a:xfrm xmlns:a="http://schemas.openxmlformats.org/drawingml/2006/main">
            <a:off x="393701" y="344008"/>
            <a:ext cx="4928108" cy="1047491"/>
          </a:xfrm>
        </p:spPr>
        <p:txBody>
          <a:bodyPr xmlns:a="http://schemas.openxmlformats.org/drawingml/2006/main"/>
          <a:lstStyle xmlns:a="http://schemas.openxmlformats.org/drawingml/2006/main"/>
          <a:p xmlns:a="http://schemas.openxmlformats.org/drawingml/2006/main">
            <a:r>
              <a:t>Real-time Fusion</a:t>
            </a:r>
          </a:p>
        </p:txBody>
      </p:sp>
      <p:sp>
        <p:nvSpPr>
          <p:cNvPr id="11" name="Content Placeholder 10">
            <a:extLst xmlns:a="http://schemas.openxmlformats.org/drawingml/2006/main">
              <a:ext uri="{FF2B5EF4-FFF2-40B4-BE49-F238E27FC236}">
                <a16:creationId xmlns:a16="http://schemas.microsoft.com/office/drawing/2014/main" id="{32851832-A61E-C0E6-B2C4-DAC1BEA62DF8}"/>
              </a:ext>
            </a:extLst>
          </p:cNvPr>
          <p:cNvSpPr>
            <a:spLocks xmlns:a="http://schemas.openxmlformats.org/drawingml/2006/main" noGrp="1"/>
          </p:cNvSpPr>
          <p:nvPr>
            <p:ph idx="4294967295"/>
          </p:nvPr>
        </p:nvSpPr>
        <p:spPr>
          <a:xfrm xmlns:a="http://schemas.openxmlformats.org/drawingml/2006/main">
            <a:off x="6261100" y="672952"/>
            <a:ext cx="5287433" cy="1079796"/>
          </a:xfrm>
        </p:spPr>
        <p:txBody>
          <a:bodyPr xmlns:a="http://schemas.openxmlformats.org/drawingml/2006/main">
            <a:normAutofit fontScale="77394"/>
          </a:bodyPr>
          <a:lstStyle xmlns:a="http://schemas.openxmlformats.org/drawingml/2006/main"/>
          <a:p xmlns:a="http://schemas.openxmlformats.org/drawingml/2006/main">
            <a:pPr marL="0" indent="0" algn="l">
              <a:lnSpc>
                <a:spcPct val="110000"/>
              </a:lnSpc>
              <a:spcBef>
                <a:spcPts val="0"/>
              </a:spcBef>
              <a:spcAft>
                <a:spcPts val="0"/>
              </a:spcAft>
              <a:buNone/>
            </a:pPr>
            <a:r>
              <a:rPr sz="1800" b="0" i="0" u="none" cap="none">
                <a:ln>
                  <a:noFill/>
                </a:ln>
                <a:solidFill>
                  <a:prstClr val="black"/>
                </a:solidFill>
                <a:latin typeface="Helvetica Neue"/>
                <a:ea typeface="Helvetica Neue"/>
                <a:cs typeface="Helvetica Neue"/>
              </a:rPr>
              <a:t>SHARED YAMNET OUTPUTS</a:t>
            </a:r>
          </a:p>
          <a:p xmlns:a="http://schemas.openxmlformats.org/drawingml/2006/main">
            <a:pPr marL="0" indent="0" algn="l">
              <a:lnSpc>
                <a:spcPct val="100000"/>
              </a:lnSpc>
              <a:spcBef>
                <a:spcPts val="1300"/>
              </a:spcBef>
              <a:spcAft>
                <a:spcPts val="1300"/>
              </a:spcAft>
              <a:buNone/>
            </a:pPr>
            <a:r>
              <a:rPr sz="1800" b="0" i="0" u="none" cap="none">
                <a:ln>
                  <a:noFill/>
                </a:ln>
                <a:solidFill>
                  <a:prstClr val="black"/>
                </a:solidFill>
                <a:latin typeface="Helvetica Neue"/>
                <a:ea typeface="Helvetica Neue"/>
                <a:cs typeface="Helvetica Neue"/>
              </a:rPr>
              <a:t>Each forward pass returns 1,024-D embeddings for our head and 521 AudioSet scores for corroboration.</a:t>
            </a:r>
          </a:p>
        </p:txBody>
      </p:sp>
      <p:sp>
        <p:nvSpPr>
          <p:cNvPr id="8" name="Content Placeholder 10">
            <a:extLst xmlns:a="http://schemas.openxmlformats.org/drawingml/2006/main">
              <a:ext uri="{FF2B5EF4-FFF2-40B4-BE49-F238E27FC236}">
                <a16:creationId xmlns:a16="http://schemas.microsoft.com/office/drawing/2014/main" id="{81492ACB-99F1-D37C-A4AB-B658921013CF}"/>
              </a:ext>
            </a:extLst>
          </p:cNvPr>
          <p:cNvSpPr>
            <a:spLocks xmlns:a="http://schemas.openxmlformats.org/drawingml/2006/main" noGrp="1"/>
          </p:cNvSpPr>
          <p:nvPr/>
        </p:nvSpPr>
        <p:spPr>
          <a:xfrm xmlns:a="http://schemas.openxmlformats.org/drawingml/2006/main">
            <a:off x="6261100" y="2664788"/>
            <a:ext cx="5287433" cy="1048436"/>
          </a:xfrm>
          <a:prstGeom xmlns:a="http://schemas.openxmlformats.org/drawingml/2006/main" prst="rect">
            <a:avLst/>
          </a:prstGeom>
        </p:spPr>
        <p:txBody>
          <a:bodyPr xmlns:a="http://schemas.openxmlformats.org/drawingml/2006/main" vert="horz" lIns="0" tIns="0" rIns="0" bIns="0">
            <a:normAutofit fontScale="84459"/>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0000"/>
              </a:lnSpc>
              <a:spcBef>
                <a:spcPts val="0"/>
              </a:spcBef>
              <a:buNone/>
            </a:pPr>
            <a:r>
              <a:rPr sz="1800">
                <a:solidFill>
                  <a:prstClr val="black"/>
                </a:solidFill>
                <a:latin typeface="Helvetica Neue"/>
                <a:ea typeface="Helvetica Neue"/>
                <a:cs typeface="Helvetica Neue"/>
              </a:rPr>
              <a:t>TWO DECISION PATHS</a:t>
            </a:r>
          </a:p>
          <a:p xmlns:a="http://schemas.openxmlformats.org/drawingml/2006/main">
            <a:pPr marL="0" indent="0">
              <a:lnSpc>
                <a:spcPct val="100000"/>
              </a:lnSpc>
              <a:spcBef>
                <a:spcPts val="1300"/>
              </a:spcBef>
              <a:spcAft>
                <a:spcPts val="1300"/>
              </a:spcAft>
              <a:buNone/>
            </a:pPr>
            <a:r>
              <a:rPr sz="1800">
                <a:solidFill>
                  <a:prstClr val="black"/>
                </a:solidFill>
                <a:latin typeface="Helvetica Neue"/>
                <a:ea typeface="Helvetica Neue"/>
                <a:cs typeface="Helvetica Neue"/>
              </a:rPr>
              <a:t>A sustained classifier run can trigger directly. Otherwise, classifier and YAMNet must agree on the same frame.</a:t>
            </a:r>
          </a:p>
        </p:txBody>
      </p:sp>
      <p:sp>
        <p:nvSpPr>
          <p:cNvPr id="9" name="Content Placeholder 10">
            <a:extLst xmlns:a="http://schemas.openxmlformats.org/drawingml/2006/main">
              <a:ext uri="{FF2B5EF4-FFF2-40B4-BE49-F238E27FC236}">
                <a16:creationId xmlns:a16="http://schemas.microsoft.com/office/drawing/2014/main" id="{EE244A58-AA3E-6549-238A-E0B6EB985242}"/>
              </a:ext>
            </a:extLst>
          </p:cNvPr>
          <p:cNvSpPr>
            <a:spLocks xmlns:a="http://schemas.openxmlformats.org/drawingml/2006/main" noGrp="1"/>
          </p:cNvSpPr>
          <p:nvPr/>
        </p:nvSpPr>
        <p:spPr>
          <a:xfrm xmlns:a="http://schemas.openxmlformats.org/drawingml/2006/main">
            <a:off x="6261100" y="4656290"/>
            <a:ext cx="5287433" cy="1037920"/>
          </a:xfrm>
          <a:prstGeom xmlns:a="http://schemas.openxmlformats.org/drawingml/2006/main" prst="rect">
            <a:avLst/>
          </a:prstGeom>
        </p:spPr>
        <p:txBody>
          <a:bodyPr xmlns:a="http://schemas.openxmlformats.org/drawingml/2006/main" vert="horz" lIns="0" tIns="0" rIns="0" bIns="0">
            <a:normAutofit fontScale="83223"/>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0" indent="0">
              <a:lnSpc>
                <a:spcPct val="110000"/>
              </a:lnSpc>
              <a:spcBef>
                <a:spcPts val="0"/>
              </a:spcBef>
              <a:buNone/>
            </a:pPr>
            <a:r>
              <a:rPr sz="1800">
                <a:solidFill>
                  <a:prstClr val="black"/>
                </a:solidFill>
                <a:latin typeface="Helvetica Neue"/>
                <a:ea typeface="Helvetica Neue"/>
                <a:cs typeface="Helvetica Neue"/>
              </a:rPr>
              <a:t>LATENCY SCOPE</a:t>
            </a:r>
          </a:p>
          <a:p xmlns:a="http://schemas.openxmlformats.org/drawingml/2006/main">
            <a:pPr marL="0" indent="0">
              <a:lnSpc>
                <a:spcPct val="100000"/>
              </a:lnSpc>
              <a:spcBef>
                <a:spcPts val="1300"/>
              </a:spcBef>
              <a:spcAft>
                <a:spcPts val="1300"/>
              </a:spcAft>
              <a:buNone/>
            </a:pPr>
            <a:r>
              <a:rPr sz="1800">
                <a:solidFill>
                  <a:prstClr val="black"/>
                </a:solidFill>
                <a:latin typeface="Helvetica Neue"/>
                <a:ea typeface="Helvetica Neue"/>
                <a:cs typeface="Helvetica Neue"/>
              </a:rPr>
              <a:t>3 s window, 1 s hop. PC inference: 57 ms mean, 61 ms p95. Raspberry Pi end-to-end: [0000] ms mean, [0000] ms p95.</a:t>
            </a:r>
          </a:p>
        </p:txBody>
      </p:sp>
    </p:spTree>
    <p:extLst>
      <p:ext uri="{BB962C8B-B14F-4D97-AF65-F5344CB8AC3E}">
        <p14:creationId xmlns:p14="http://schemas.microsoft.com/office/powerpoint/2010/main" val="46562663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0" name="Content Placeholder 9">
            <a:extLst xmlns:a="http://schemas.openxmlformats.org/drawingml/2006/main">
              <a:ext uri="{FF2B5EF4-FFF2-40B4-BE49-F238E27FC236}">
                <a16:creationId xmlns:a16="http://schemas.microsoft.com/office/drawing/2014/main" id="{31C01230-0AB7-5FBA-6CB0-F4C1122A5881}"/>
              </a:ext>
            </a:extLst>
          </p:cNvPr>
          <p:cNvSpPr>
            <a:spLocks xmlns:a="http://schemas.openxmlformats.org/drawingml/2006/main" noGrp="1"/>
          </p:cNvSpPr>
          <p:nvPr>
            <p:ph idx="1"/>
          </p:nvPr>
        </p:nvSpPr>
        <p:spPr>
          <a:xfrm xmlns:a="http://schemas.openxmlformats.org/drawingml/2006/main">
            <a:off x="393700" y="2032000"/>
            <a:ext cx="3568700" cy="1981200"/>
          </a:xfrm>
        </p:spPr>
        <p:txBody>
          <a:bodyPr xmlns:a="http://schemas.openxmlformats.org/drawingml/2006/main"/>
          <a:lstStyle xmlns:a="http://schemas.openxmlformats.org/drawingml/2006/main"/>
          <a:p xmlns:a="http://schemas.openxmlformats.org/drawingml/2006/main">
            <a:pPr marL="0" indent="0" algn="l">
              <a:lnSpc>
                <a:spcPct val="110000"/>
              </a:lnSpc>
              <a:spcBef>
                <a:spcPts val="0"/>
              </a:spcBef>
              <a:spcAft>
                <a:spcPts val="0"/>
              </a:spcAft>
              <a:buNone/>
            </a:pPr>
            <a:r>
              <a:rPr sz="2400" b="0" i="0" u="none" cap="none">
                <a:ln>
                  <a:noFill/>
                </a:ln>
                <a:solidFill>
                  <a:prstClr val="black"/>
                </a:solidFill>
                <a:latin typeface="Helvetica Neue"/>
                <a:ea typeface="Helvetica Neue"/>
                <a:cs typeface="Helvetica Neue"/>
              </a:rPr>
              <a:t>DATA</a:t>
            </a:r>
          </a:p>
          <a:p xmlns:a="http://schemas.openxmlformats.org/drawingml/2006/main">
            <a:pPr marL="0" indent="0" algn="l">
              <a:lnSpc>
                <a:spcPct val="100000"/>
              </a:lnSpc>
              <a:spcBef>
                <a:spcPts val="1300"/>
              </a:spcBef>
              <a:spcAft>
                <a:spcPts val="1300"/>
              </a:spcAft>
              <a:buNone/>
            </a:pPr>
            <a:r>
              <a:rPr sz="1800" b="0" i="0" u="none" cap="none">
                <a:ln>
                  <a:noFill/>
                </a:ln>
                <a:solidFill>
                  <a:prstClr val="black"/>
                </a:solidFill>
                <a:latin typeface="Helvetica Neue"/>
                <a:ea typeface="Helvetica Neue"/>
                <a:cs typeface="Helvetica Neue"/>
              </a:rPr>
              <a:t>Collect more real microphone screams and hard negatives from the actual deployment environment.</a:t>
            </a:r>
          </a:p>
        </p:txBody>
      </p:sp>
      <p:sp>
        <p:nvSpPr>
          <p:cNvPr id="2" name="Slide Number Placeholder 1">
            <a:extLst xmlns:a="http://schemas.openxmlformats.org/drawingml/2006/main">
              <a:ext uri="{FF2B5EF4-FFF2-40B4-BE49-F238E27FC236}">
                <a16:creationId xmlns:a16="http://schemas.microsoft.com/office/drawing/2014/main" id="{5346F6B8-73F6-AB72-2971-C8B37B27DCFE}"/>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fld id="{388657AE-30A1-5A7A-6A7F-315D84436430}" type="slidenum">
              <a:t>9</a:t>
            </a:fld>
          </a:p>
        </p:txBody>
      </p:sp>
      <p:sp>
        <p:nvSpPr>
          <p:cNvPr id="11" name="Content Placeholder 10">
            <a:extLst xmlns:a="http://schemas.openxmlformats.org/drawingml/2006/main">
              <a:ext uri="{FF2B5EF4-FFF2-40B4-BE49-F238E27FC236}">
                <a16:creationId xmlns:a16="http://schemas.microsoft.com/office/drawing/2014/main" id="{36C44BD0-2306-5DD3-6221-887B2EAEA0CB}"/>
              </a:ext>
            </a:extLst>
          </p:cNvPr>
          <p:cNvSpPr>
            <a:spLocks xmlns:a="http://schemas.openxmlformats.org/drawingml/2006/main" noGrp="1"/>
          </p:cNvSpPr>
          <p:nvPr>
            <p:ph idx="10"/>
          </p:nvPr>
        </p:nvSpPr>
        <p:spPr>
          <a:xfrm xmlns:a="http://schemas.openxmlformats.org/drawingml/2006/main">
            <a:off x="4318000" y="2032000"/>
            <a:ext cx="3568700" cy="1981200"/>
          </a:xfrm>
        </p:spPr>
        <p:txBody>
          <a:bodyPr xmlns:a="http://schemas.openxmlformats.org/drawingml/2006/main"/>
          <a:lstStyle xmlns:a="http://schemas.openxmlformats.org/drawingml/2006/main"/>
          <a:p xmlns:a="http://schemas.openxmlformats.org/drawingml/2006/main">
            <a:pPr marL="0" indent="0" algn="l">
              <a:lnSpc>
                <a:spcPct val="110000"/>
              </a:lnSpc>
              <a:spcBef>
                <a:spcPts val="0"/>
              </a:spcBef>
              <a:spcAft>
                <a:spcPts val="0"/>
              </a:spcAft>
              <a:buNone/>
            </a:pPr>
            <a:r>
              <a:rPr sz="2400" b="0" i="0" u="none" cap="none">
                <a:ln>
                  <a:noFill/>
                </a:ln>
                <a:solidFill>
                  <a:prstClr val="black"/>
                </a:solidFill>
                <a:latin typeface="Helvetica Neue"/>
                <a:ea typeface="Helvetica Neue"/>
                <a:cs typeface="Helvetica Neue"/>
              </a:rPr>
              <a:t>MODEL</a:t>
            </a:r>
          </a:p>
          <a:p xmlns:a="http://schemas.openxmlformats.org/drawingml/2006/main">
            <a:pPr marL="0" indent="0" algn="l">
              <a:lnSpc>
                <a:spcPct val="100000"/>
              </a:lnSpc>
              <a:spcBef>
                <a:spcPts val="1300"/>
              </a:spcBef>
              <a:spcAft>
                <a:spcPts val="1300"/>
              </a:spcAft>
              <a:buNone/>
            </a:pPr>
            <a:r>
              <a:rPr sz="1800" b="0" i="0" u="none" cap="none">
                <a:ln>
                  <a:noFill/>
                </a:ln>
                <a:solidFill>
                  <a:prstClr val="black"/>
                </a:solidFill>
                <a:latin typeface="Helvetica Neue"/>
                <a:ea typeface="Helvetica Neue"/>
                <a:cs typeface="Helvetica Neue"/>
              </a:rPr>
              <a:t>Fine-tune selected YAMNet layers or add a compact temporal model for event duration and context.</a:t>
            </a:r>
          </a:p>
        </p:txBody>
      </p:sp>
      <p:sp>
        <p:nvSpPr>
          <p:cNvPr id="12" name="Content Placeholder 11">
            <a:extLst xmlns:a="http://schemas.openxmlformats.org/drawingml/2006/main">
              <a:ext uri="{FF2B5EF4-FFF2-40B4-BE49-F238E27FC236}">
                <a16:creationId xmlns:a16="http://schemas.microsoft.com/office/drawing/2014/main" id="{DE8FF54C-F86E-60F9-B524-2931B90F4D94}"/>
              </a:ext>
            </a:extLst>
          </p:cNvPr>
          <p:cNvSpPr>
            <a:spLocks xmlns:a="http://schemas.openxmlformats.org/drawingml/2006/main" noGrp="1"/>
          </p:cNvSpPr>
          <p:nvPr>
            <p:ph idx="11"/>
          </p:nvPr>
        </p:nvSpPr>
        <p:spPr>
          <a:xfrm xmlns:a="http://schemas.openxmlformats.org/drawingml/2006/main">
            <a:off x="8232273" y="2032000"/>
            <a:ext cx="3568700" cy="1981200"/>
          </a:xfrm>
        </p:spPr>
        <p:txBody>
          <a:bodyPr xmlns:a="http://schemas.openxmlformats.org/drawingml/2006/main"/>
          <a:lstStyle xmlns:a="http://schemas.openxmlformats.org/drawingml/2006/main"/>
          <a:p xmlns:a="http://schemas.openxmlformats.org/drawingml/2006/main">
            <a:pPr marL="0" indent="0" algn="l">
              <a:lnSpc>
                <a:spcPct val="110000"/>
              </a:lnSpc>
              <a:spcBef>
                <a:spcPts val="0"/>
              </a:spcBef>
              <a:spcAft>
                <a:spcPts val="0"/>
              </a:spcAft>
              <a:buNone/>
            </a:pPr>
            <a:r>
              <a:rPr sz="2400" b="0" i="0" u="none" cap="none">
                <a:ln>
                  <a:noFill/>
                </a:ln>
                <a:solidFill>
                  <a:prstClr val="black"/>
                </a:solidFill>
                <a:latin typeface="Helvetica Neue"/>
                <a:ea typeface="Helvetica Neue"/>
                <a:cs typeface="Helvetica Neue"/>
              </a:rPr>
              <a:t>DEPLOYMENT</a:t>
            </a:r>
          </a:p>
          <a:p xmlns:a="http://schemas.openxmlformats.org/drawingml/2006/main">
            <a:pPr marL="0" indent="0" algn="l">
              <a:lnSpc>
                <a:spcPct val="100000"/>
              </a:lnSpc>
              <a:spcBef>
                <a:spcPts val="1300"/>
              </a:spcBef>
              <a:spcAft>
                <a:spcPts val="1300"/>
              </a:spcAft>
              <a:buNone/>
            </a:pPr>
            <a:r>
              <a:rPr sz="1800" b="0" i="0" u="none" cap="none">
                <a:ln>
                  <a:noFill/>
                </a:ln>
                <a:solidFill>
                  <a:prstClr val="black"/>
                </a:solidFill>
                <a:latin typeface="Helvetica Neue"/>
                <a:ea typeface="Helvetica Neue"/>
                <a:cs typeface="Helvetica Neue"/>
              </a:rPr>
              <a:t>Validate Raspberry Pi latency under sustained load and calibrate thresholds per microphone and room.</a:t>
            </a:r>
          </a:p>
        </p:txBody>
      </p:sp>
      <p:sp>
        <p:nvSpPr>
          <p:cNvPr id="3" name="Title 2">
            <a:extLst xmlns:a="http://schemas.openxmlformats.org/drawingml/2006/main">
              <a:ext uri="{FF2B5EF4-FFF2-40B4-BE49-F238E27FC236}">
                <a16:creationId xmlns:a16="http://schemas.microsoft.com/office/drawing/2014/main" id="{BC736807-305D-4EC1-A98F-2A17C38135E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Where we can improve next</a:t>
            </a:r>
          </a:p>
        </p:txBody>
      </p:sp>
      <p:sp>
        <p:nvSpPr>
          <p:cNvPr id="13" name="Content Placeholder 9">
            <a:extLst xmlns:a="http://schemas.openxmlformats.org/drawingml/2006/main">
              <a:ext uri="{FF2B5EF4-FFF2-40B4-BE49-F238E27FC236}">
                <a16:creationId xmlns:a16="http://schemas.microsoft.com/office/drawing/2014/main" id="{19211427-9600-D234-704D-53BE123AB716}"/>
              </a:ext>
            </a:extLst>
          </p:cNvPr>
          <p:cNvSpPr>
            <a:spLocks xmlns:a="http://schemas.openxmlformats.org/drawingml/2006/main" noGrp="1"/>
          </p:cNvSpPr>
          <p:nvPr/>
        </p:nvSpPr>
        <p:spPr>
          <a:xfrm xmlns:a="http://schemas.openxmlformats.org/drawingml/2006/main">
            <a:off x="393700" y="4133787"/>
            <a:ext cx="3568700" cy="1860613"/>
          </a:xfrm>
          <a:prstGeom xmlns:a="http://schemas.openxmlformats.org/drawingml/2006/main" prst="rect">
            <a:avLst/>
          </a:prstGeom>
        </p:spPr>
        <p:txBody>
          <a:bodyPr xmlns:a="http://schemas.openxmlformats.org/drawingml/2006/main" vert="horz" lIns="0" tIns="0" rIns="0" bIns="0">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320040" indent="-226060" algn="l">
              <a:lnSpc>
                <a:spcPct val="110000"/>
              </a:lnSpc>
              <a:spcBef>
                <a:spcPts val="0"/>
              </a:spcBef>
              <a:spcAft>
                <a:spcPts val="0"/>
              </a:spcAft>
              <a:buChar char="→"/>
            </a:pPr>
            <a:r>
              <a:rPr sz="1800" b="0" i="0" u="none" cap="none">
                <a:ln>
                  <a:noFill/>
                </a:ln>
                <a:solidFill>
                  <a:prstClr val="black"/>
                </a:solidFill>
                <a:latin typeface="Helvetica Neue"/>
                <a:ea typeface="Helvetica Neue"/>
                <a:cs typeface="Helvetica Neue"/>
              </a:rPr>
              <a:t>• room impulse augmentation</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 impact / speech negatives</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 label review workflow</a:t>
            </a:r>
          </a:p>
          <a:p xmlns:a="http://schemas.openxmlformats.org/drawingml/2006/main">
            <a:pPr marL="320040" indent="-226060" algn="l">
              <a:lnSpc>
                <a:spcPct val="110000"/>
              </a:lnSpc>
              <a:spcBef>
                <a:spcPts val="1000"/>
              </a:spcBef>
              <a:spcAft>
                <a:spcPts val="1000"/>
              </a:spcAft>
              <a:buChar char="→"/>
            </a:pPr>
            <a:r>
              <a:rPr sz="1800" b="0" i="0" u="none" cap="none">
                <a:ln>
                  <a:noFill/>
                </a:ln>
                <a:solidFill>
                  <a:prstClr val="black"/>
                </a:solidFill>
                <a:latin typeface="Helvetica Neue"/>
                <a:ea typeface="Helvetica Neue"/>
                <a:cs typeface="Helvetica Neue"/>
              </a:rPr>
              <a:t>• site-specific validation</a:t>
            </a:r>
          </a:p>
        </p:txBody>
      </p:sp>
      <p:sp>
        <p:nvSpPr>
          <p:cNvPr id="20" name="Content Placeholder 9">
            <a:extLst xmlns:a="http://schemas.openxmlformats.org/drawingml/2006/main">
              <a:ext uri="{FF2B5EF4-FFF2-40B4-BE49-F238E27FC236}">
                <a16:creationId xmlns:a16="http://schemas.microsoft.com/office/drawing/2014/main" id="{AC9183D9-7CC4-79A2-884C-5E7D4E0CCD2B}"/>
              </a:ext>
            </a:extLst>
          </p:cNvPr>
          <p:cNvSpPr>
            <a:spLocks xmlns:a="http://schemas.openxmlformats.org/drawingml/2006/main" noGrp="1"/>
          </p:cNvSpPr>
          <p:nvPr/>
        </p:nvSpPr>
        <p:spPr>
          <a:xfrm xmlns:a="http://schemas.openxmlformats.org/drawingml/2006/main">
            <a:off x="4307778" y="4133787"/>
            <a:ext cx="3568700" cy="1860613"/>
          </a:xfrm>
          <a:prstGeom xmlns:a="http://schemas.openxmlformats.org/drawingml/2006/main" prst="rect">
            <a:avLst/>
          </a:prstGeom>
        </p:spPr>
        <p:txBody>
          <a:bodyPr xmlns:a="http://schemas.openxmlformats.org/drawingml/2006/main" vert="horz" lIns="0" tIns="0" rIns="0" bIns="0">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320040" indent="-226060" algn="l">
              <a:lnSpc>
                <a:spcPct val="110000"/>
              </a:lnSpc>
              <a:spcBef>
                <a:spcPts val="0"/>
              </a:spcBef>
              <a:spcAft>
                <a:spcPts val="0"/>
              </a:spcAft>
              <a:buChar char="→"/>
            </a:pPr>
            <a:r>
              <a:rPr sz="1800" b="0" i="0" u="none" cap="none">
                <a:ln>
                  <a:noFill/>
                </a:ln>
                <a:solidFill>
                  <a:prstClr val="black"/>
                </a:solidFill>
                <a:latin typeface="Helvetica Neue"/>
                <a:ea typeface="Helvetica Neue"/>
                <a:cs typeface="Helvetica Neue"/>
              </a:rPr>
              <a:t>• focal or cost-sensitive loss</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 class-specific calibration</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 temporal smoothing</a:t>
            </a:r>
          </a:p>
          <a:p xmlns:a="http://schemas.openxmlformats.org/drawingml/2006/main">
            <a:pPr marL="320040" indent="-226060" algn="l">
              <a:lnSpc>
                <a:spcPct val="110000"/>
              </a:lnSpc>
              <a:spcBef>
                <a:spcPts val="1000"/>
              </a:spcBef>
              <a:spcAft>
                <a:spcPts val="1000"/>
              </a:spcAft>
              <a:buChar char="→"/>
            </a:pPr>
            <a:r>
              <a:rPr sz="1800" b="0" i="0" u="none" cap="none">
                <a:ln>
                  <a:noFill/>
                </a:ln>
                <a:solidFill>
                  <a:prstClr val="black"/>
                </a:solidFill>
                <a:latin typeface="Helvetica Neue"/>
                <a:ea typeface="Helvetica Neue"/>
                <a:cs typeface="Helvetica Neue"/>
              </a:rPr>
              <a:t>• uncertainty rejection</a:t>
            </a:r>
          </a:p>
        </p:txBody>
      </p:sp>
      <p:sp>
        <p:nvSpPr>
          <p:cNvPr id="21" name="Content Placeholder 9">
            <a:extLst xmlns:a="http://schemas.openxmlformats.org/drawingml/2006/main">
              <a:ext uri="{FF2B5EF4-FFF2-40B4-BE49-F238E27FC236}">
                <a16:creationId xmlns:a16="http://schemas.microsoft.com/office/drawing/2014/main" id="{8026D696-5B0D-B1A2-BDA5-A14DA58894A3}"/>
              </a:ext>
            </a:extLst>
          </p:cNvPr>
          <p:cNvSpPr>
            <a:spLocks xmlns:a="http://schemas.openxmlformats.org/drawingml/2006/main" noGrp="1"/>
          </p:cNvSpPr>
          <p:nvPr/>
        </p:nvSpPr>
        <p:spPr>
          <a:xfrm xmlns:a="http://schemas.openxmlformats.org/drawingml/2006/main">
            <a:off x="8233007" y="4133787"/>
            <a:ext cx="3568700" cy="1860613"/>
          </a:xfrm>
          <a:prstGeom xmlns:a="http://schemas.openxmlformats.org/drawingml/2006/main" prst="rect">
            <a:avLst/>
          </a:prstGeom>
        </p:spPr>
        <p:txBody>
          <a:bodyPr xmlns:a="http://schemas.openxmlformats.org/drawingml/2006/main" vert="horz" lIns="0" tIns="0" rIns="0" bIns="0">
            <a:normAutofit fontScale="100000"/>
          </a:bodyPr>
          <a:lstStyle xmlns:a="http://schemas.openxmlformats.org/drawingml/2006/main">
            <a:lvl1pPr marL="228600" indent="-228600" algn="l">
              <a:lnSpc>
                <a:spcPct val="90000"/>
              </a:lnSpc>
              <a:spcBef>
                <a:spcPts val="1000"/>
              </a:spcBef>
              <a:buChar char="•"/>
              <a:defRPr sz="2400">
                <a:solidFill>
                  <a:schemeClr val="tx1"/>
                </a:solidFill>
                <a:latin typeface="+mn-lt"/>
                <a:ea typeface="+mn-lt"/>
                <a:cs typeface="+mn-lt"/>
              </a:defRPr>
            </a:lvl1pPr>
            <a:lvl2pPr marL="685800" indent="-228600" algn="l">
              <a:lnSpc>
                <a:spcPct val="90000"/>
              </a:lnSpc>
              <a:spcBef>
                <a:spcPts val="500"/>
              </a:spcBef>
              <a:buChar char="•"/>
              <a:defRPr sz="2000">
                <a:solidFill>
                  <a:schemeClr val="tx1"/>
                </a:solidFill>
                <a:latin typeface="+mn-lt"/>
                <a:ea typeface="+mn-lt"/>
                <a:cs typeface="+mn-lt"/>
              </a:defRPr>
            </a:lvl2pPr>
            <a:lvl3pPr marL="1143000" indent="-228600" algn="l">
              <a:lnSpc>
                <a:spcPct val="90000"/>
              </a:lnSpc>
              <a:spcBef>
                <a:spcPts val="500"/>
              </a:spcBef>
              <a:buChar char="•"/>
              <a:defRPr sz="18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xmlns:a="http://schemas.openxmlformats.org/drawingml/2006/main">
            <a:pPr marL="320040" indent="-226060" algn="l">
              <a:lnSpc>
                <a:spcPct val="110000"/>
              </a:lnSpc>
              <a:spcBef>
                <a:spcPts val="0"/>
              </a:spcBef>
              <a:spcAft>
                <a:spcPts val="0"/>
              </a:spcAft>
              <a:buChar char="→"/>
            </a:pPr>
            <a:r>
              <a:rPr sz="1800" b="0" i="0" u="none" cap="none">
                <a:ln>
                  <a:noFill/>
                </a:ln>
                <a:solidFill>
                  <a:prstClr val="black"/>
                </a:solidFill>
                <a:latin typeface="Helvetica Neue"/>
                <a:ea typeface="Helvetica Neue"/>
                <a:cs typeface="Helvetica Neue"/>
              </a:rPr>
              <a:t>• current: TF Hub + H5</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 TFLite converts head only</a:t>
            </a:r>
          </a:p>
          <a:p xmlns:a="http://schemas.openxmlformats.org/drawingml/2006/main">
            <a:pPr marL="320040" indent="-226060" algn="l">
              <a:lnSpc>
                <a:spcPct val="110000"/>
              </a:lnSpc>
              <a:spcBef>
                <a:spcPts val="1000"/>
              </a:spcBef>
              <a:spcAft>
                <a:spcPts val="0"/>
              </a:spcAft>
              <a:buChar char="→"/>
            </a:pPr>
            <a:r>
              <a:rPr sz="1800" b="0" i="0" u="none" cap="none">
                <a:ln>
                  <a:noFill/>
                </a:ln>
                <a:solidFill>
                  <a:prstClr val="black"/>
                </a:solidFill>
                <a:latin typeface="Helvetica Neue"/>
                <a:ea typeface="Helvetica Neue"/>
                <a:cs typeface="Helvetica Neue"/>
              </a:rPr>
              <a:t>• end-to-end latency</a:t>
            </a:r>
          </a:p>
          <a:p xmlns:a="http://schemas.openxmlformats.org/drawingml/2006/main">
            <a:pPr marL="320040" indent="-226060" algn="l">
              <a:lnSpc>
                <a:spcPct val="110000"/>
              </a:lnSpc>
              <a:spcBef>
                <a:spcPts val="1000"/>
              </a:spcBef>
              <a:spcAft>
                <a:spcPts val="1000"/>
              </a:spcAft>
              <a:buChar char="→"/>
            </a:pPr>
            <a:r>
              <a:rPr sz="1800" b="0" i="0" u="none" cap="none">
                <a:ln>
                  <a:noFill/>
                </a:ln>
                <a:solidFill>
                  <a:prstClr val="black"/>
                </a:solidFill>
                <a:latin typeface="Helvetica Neue"/>
                <a:ea typeface="Helvetica Neue"/>
                <a:cs typeface="Helvetica Neue"/>
              </a:rPr>
              <a:t>• false alarms per hour</a:t>
            </a:r>
          </a:p>
        </p:txBody>
      </p:sp>
    </p:spTree>
    <p:extLst>
      <p:ext uri="{BB962C8B-B14F-4D97-AF65-F5344CB8AC3E}">
        <p14:creationId xmlns:p14="http://schemas.microsoft.com/office/powerpoint/2010/main" val="306423119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Slide Number Placeholder 1">
            <a:extLst xmlns:a="http://schemas.openxmlformats.org/drawingml/2006/main">
              <a:ext uri="{FF2B5EF4-FFF2-40B4-BE49-F238E27FC236}">
                <a16:creationId xmlns:a16="http://schemas.microsoft.com/office/drawing/2014/main" id="{F6A32FBD-471B-0EBA-B741-E0342E72294D}"/>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fld id="{DB7BEEEC-A170-5376-2B6E-CB54687B0CB1}" type="slidenum">
              <a:t>10</a:t>
            </a:fld>
          </a:p>
        </p:txBody>
      </p:sp>
      <p:sp>
        <p:nvSpPr>
          <p:cNvPr id="3" name="Title 2">
            <a:extLst xmlns:a="http://schemas.openxmlformats.org/drawingml/2006/main">
              <a:ext uri="{FF2B5EF4-FFF2-40B4-BE49-F238E27FC236}">
                <a16:creationId xmlns:a16="http://schemas.microsoft.com/office/drawing/2014/main" id="{F6FE9EA6-28D5-24F6-5682-5886DC12588C}"/>
              </a:ext>
            </a:extLst>
          </p:cNvPr>
          <p:cNvSpPr>
            <a:spLocks xmlns:a="http://schemas.openxmlformats.org/drawingml/2006/main" noGrp="1"/>
          </p:cNvSpPr>
          <p:nvPr>
            <p:ph type="title" idx="0"/>
          </p:nvPr>
        </p:nvSpPr>
        <p:spPr>
          <a:xfrm xmlns:a="http://schemas.openxmlformats.org/drawingml/2006/main">
            <a:off x="393700" y="344008"/>
            <a:ext cx="3911600" cy="1047491"/>
          </a:xfrm>
        </p:spPr>
        <p:txBody>
          <a:bodyPr xmlns:a="http://schemas.openxmlformats.org/drawingml/2006/main"/>
          <a:lstStyle xmlns:a="http://schemas.openxmlformats.org/drawingml/2006/main"/>
          <a:p xmlns:a="http://schemas.openxmlformats.org/drawingml/2006/main">
            <a:r>
              <a:t>Security that listens</a:t>
            </a:r>
          </a:p>
        </p:txBody>
      </p:sp>
      <p:sp>
        <p:nvSpPr>
          <p:cNvPr id="4" name="Title 2">
            <a:extLst xmlns:a="http://schemas.openxmlformats.org/drawingml/2006/main">
              <a:ext uri="{FF2B5EF4-FFF2-40B4-BE49-F238E27FC236}">
                <a16:creationId xmlns:a16="http://schemas.microsoft.com/office/drawing/2014/main" id="{2F10929B-DEFF-CE26-DEB7-6097A95B3B5C}"/>
              </a:ext>
            </a:extLst>
          </p:cNvPr>
          <p:cNvSpPr>
            <a:spLocks xmlns:a="http://schemas.openxmlformats.org/drawingml/2006/main" noGrp="1"/>
          </p:cNvSpPr>
          <p:nvPr/>
        </p:nvSpPr>
        <p:spPr>
          <a:xfrm xmlns:a="http://schemas.openxmlformats.org/drawingml/2006/main">
            <a:off x="5930900" y="344008"/>
            <a:ext cx="5867400" cy="4659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sz="2900" b="0" i="0" u="none" cap="none">
                <a:solidFill>
                  <a:srgbClr val="000000"/>
                </a:solidFill>
                <a:latin typeface="Helvetica Neue"/>
                <a:ea typeface="Helvetica Neue"/>
                <a:cs typeface="Helvetica Neue"/>
              </a:defRPr>
            </a:lvl1pPr>
            <a:lvl2pPr algn="l">
              <a:lnSpc>
                <a:spcPct val="100000"/>
              </a:lnSpc>
              <a:spcBef>
                <a:spcPts val="0"/>
              </a:spcBef>
              <a:spcAft>
                <a:spcPts val="0"/>
              </a:spcAft>
              <a:buNone/>
              <a:defRPr sz="2900" b="0" i="0" u="none" cap="none">
                <a:solidFill>
                  <a:srgbClr val="000000"/>
                </a:solidFill>
                <a:latin typeface="+mj-lt"/>
                <a:ea typeface="+mj-lt"/>
                <a:cs typeface="+mj-lt"/>
              </a:defRPr>
            </a:lvl2pPr>
            <a:lvl3pPr algn="l">
              <a:lnSpc>
                <a:spcPct val="100000"/>
              </a:lnSpc>
              <a:spcBef>
                <a:spcPts val="0"/>
              </a:spcBef>
              <a:spcAft>
                <a:spcPts val="0"/>
              </a:spcAft>
              <a:buNone/>
              <a:defRPr sz="2900" b="0" i="0" u="none" cap="none">
                <a:solidFill>
                  <a:srgbClr val="000000"/>
                </a:solidFill>
                <a:latin typeface="+mj-lt"/>
                <a:ea typeface="+mj-lt"/>
                <a:cs typeface="+mj-lt"/>
              </a:defRPr>
            </a:lvl3pPr>
            <a:lvl4pPr algn="l">
              <a:lnSpc>
                <a:spcPct val="100000"/>
              </a:lnSpc>
              <a:spcBef>
                <a:spcPts val="0"/>
              </a:spcBef>
              <a:spcAft>
                <a:spcPts val="0"/>
              </a:spcAft>
              <a:buNone/>
              <a:defRPr sz="2900" b="0" i="0" u="none" cap="none">
                <a:solidFill>
                  <a:srgbClr val="000000"/>
                </a:solidFill>
                <a:latin typeface="+mj-lt"/>
                <a:ea typeface="+mj-lt"/>
                <a:cs typeface="+mj-lt"/>
              </a:defRPr>
            </a:lvl4pPr>
            <a:lvl5pPr algn="l">
              <a:lnSpc>
                <a:spcPct val="100000"/>
              </a:lnSpc>
              <a:spcBef>
                <a:spcPts val="0"/>
              </a:spcBef>
              <a:spcAft>
                <a:spcPts val="0"/>
              </a:spcAft>
              <a:buNone/>
              <a:defRPr sz="2900" b="0" i="0" u="none" cap="none">
                <a:solidFill>
                  <a:srgbClr val="000000"/>
                </a:solidFill>
                <a:latin typeface="+mj-lt"/>
                <a:ea typeface="+mj-lt"/>
                <a:cs typeface="+mj-lt"/>
              </a:defRPr>
            </a:lvl5pPr>
            <a:lvl6pPr algn="l">
              <a:lnSpc>
                <a:spcPct val="100000"/>
              </a:lnSpc>
              <a:spcBef>
                <a:spcPts val="0"/>
              </a:spcBef>
              <a:spcAft>
                <a:spcPts val="0"/>
              </a:spcAft>
              <a:buNone/>
              <a:defRPr sz="2900" b="0" i="0" u="none" cap="none">
                <a:solidFill>
                  <a:srgbClr val="000000"/>
                </a:solidFill>
                <a:latin typeface="+mj-lt"/>
                <a:ea typeface="+mj-lt"/>
                <a:cs typeface="+mj-lt"/>
              </a:defRPr>
            </a:lvl6pPr>
            <a:lvl7pPr algn="l">
              <a:lnSpc>
                <a:spcPct val="100000"/>
              </a:lnSpc>
              <a:spcBef>
                <a:spcPts val="0"/>
              </a:spcBef>
              <a:spcAft>
                <a:spcPts val="0"/>
              </a:spcAft>
              <a:buNone/>
              <a:defRPr sz="2900" b="0" i="0" u="none" cap="none">
                <a:solidFill>
                  <a:srgbClr val="000000"/>
                </a:solidFill>
                <a:latin typeface="+mj-lt"/>
                <a:ea typeface="+mj-lt"/>
                <a:cs typeface="+mj-lt"/>
              </a:defRPr>
            </a:lvl7pPr>
            <a:lvl8pPr algn="l">
              <a:lnSpc>
                <a:spcPct val="100000"/>
              </a:lnSpc>
              <a:spcBef>
                <a:spcPts val="0"/>
              </a:spcBef>
              <a:spcAft>
                <a:spcPts val="0"/>
              </a:spcAft>
              <a:buNone/>
              <a:defRPr sz="2900" b="0" i="0" u="none" cap="none">
                <a:solidFill>
                  <a:srgbClr val="000000"/>
                </a:solidFill>
                <a:latin typeface="+mj-lt"/>
                <a:ea typeface="+mj-lt"/>
                <a:cs typeface="+mj-lt"/>
              </a:defRPr>
            </a:lvl8pPr>
            <a:lvl9pPr algn="l">
              <a:lnSpc>
                <a:spcPct val="100000"/>
              </a:lnSpc>
              <a:spcBef>
                <a:spcPts val="0"/>
              </a:spcBef>
              <a:spcAft>
                <a:spcPts val="0"/>
              </a:spcAft>
              <a:buNone/>
              <a:defRPr sz="2900" b="0" i="0" u="none" cap="none">
                <a:solidFill>
                  <a:srgbClr val="000000"/>
                </a:solidFill>
                <a:latin typeface="+mj-lt"/>
                <a:ea typeface="+mj-lt"/>
                <a:cs typeface="+mj-lt"/>
              </a:defRPr>
            </a:lvl9pPr>
          </a:lstStyle>
          <a:p xmlns:a="http://schemas.openxmlformats.org/drawingml/2006/main">
            <a:pPr marL="514350" indent="-514350">
              <a:spcAft>
                <a:spcPts val="600"/>
              </a:spcAft>
              <a:buAutoNum type="arabicPeriod"/>
            </a:pPr>
            <a:r>
              <a:t>Transfer learning made the system practical</a:t>
            </a:r>
          </a:p>
          <a:p xmlns:a="http://schemas.openxmlformats.org/drawingml/2006/main">
            <a:pPr marL="514350" indent="-514350">
              <a:spcAft>
                <a:spcPts val="600"/>
              </a:spcAft>
              <a:buAutoNum type="arabicPeriod"/>
            </a:pPr>
            <a:r>
              <a:t>A custom head specialized YAMNet features</a:t>
            </a:r>
          </a:p>
          <a:p xmlns:a="http://schemas.openxmlformats.org/drawingml/2006/main">
            <a:pPr marL="514350" indent="-514350">
              <a:spcAft>
                <a:spcPts val="800"/>
              </a:spcAft>
              <a:buAutoNum type="arabicPeriod"/>
            </a:pPr>
            <a:r>
              <a:t>Frame-aligned Fusion combined two signals</a:t>
            </a:r>
          </a:p>
          <a:p xmlns:a="http://schemas.openxmlformats.org/drawingml/2006/main">
            <a:pPr marL="514350" indent="-514350">
              <a:spcAft>
                <a:spcPts val="600"/>
              </a:spcAft>
              <a:buAutoNum type="arabicPeriod"/>
            </a:pPr>
            <a:r>
              <a:t>Final Fusion reached Macro F1 0.837</a:t>
            </a:r>
          </a:p>
          <a:p xmlns:a="http://schemas.openxmlformats.org/drawingml/2006/main">
            <a:pPr marL="514350" indent="-514350">
              <a:spcAft>
                <a:spcPts val="600"/>
              </a:spcAft>
              <a:buAutoNum type="arabicPeriod"/>
            </a:pPr>
            <a:r>
              <a:t>Next: validate on fresh external data</a:t>
            </a:r>
          </a:p>
          <a:p xmlns:a="http://schemas.openxmlformats.org/drawingml/2006/main">
            <a:pPr marL="514350" indent="-514350">
              <a:spcAft>
                <a:spcPts val="600"/>
              </a:spcAft>
              <a:buAutoNum type="arabicPeriod"/>
            </a:pPr>
            <a:r>
              <a:t>Thank you — Questions?</a:t>
            </a:r>
          </a:p>
        </p:txBody>
      </p:sp>
    </p:spTree>
    <p:extLst>
      <p:ext uri="{BB962C8B-B14F-4D97-AF65-F5344CB8AC3E}">
        <p14:creationId xmlns:p14="http://schemas.microsoft.com/office/powerpoint/2010/main" val="2382563270"/>
      </p:ext>
    </p:extLst>
  </p:cSld>
</p:sld>
</file>

<file path=ppt/theme/theme1.xml><?xml version="1.0" encoding="utf-8"?>
<a:theme xmlns:a="http://schemas.openxmlformats.org/drawingml/2006/main" name="Default Codex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Helvetica Neue">
      <a:majorFont>
        <a:latin typeface="Helvetica Neue"/>
        <a:ea typeface=""/>
        <a:cs typeface=""/>
      </a:majorFont>
      <a:minorFont>
        <a:latin typeface="Helvetica Neue"/>
        <a:ea typeface=""/>
        <a:cs typeface=""/>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2026-06-21T09:38:53.5500000Z</dcterms:created>
  <dcterms:modified xsi:type="dcterms:W3CDTF">2026-06-21T09:38:53.5500000Z</dcterms:modified>
</coreProperties>
</file>