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61" r:id="rId1"/>
    <p:sldMasterId id="2147483662"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2579"/>
    <p:restoredTop sz="90000"/>
  </p:normalViewPr>
  <p:slideViewPr>
    <p:cSldViewPr snapToGrid="0" snapToObjects="1">
      <p:cViewPr varScale="1">
        <p:scale>
          <a:sx n="100" d="100"/>
          <a:sy n="100" d="100"/>
        </p:scale>
        <p:origin x="0" y="0"/>
      </p:cViewPr>
      <p:guideLst>
        <p:guide orient="horz" pos="2158"/>
        <p:guide pos="3839"/>
      </p:guideLst>
    </p:cSldViewPr>
  </p:slideViewPr>
  <p:notesTextViewPr>
    <p:cViewPr>
      <p:scale>
        <a:sx n="100" d="100"/>
        <a:sy n="100" d="100"/>
      </p:scale>
      <p:origin x="0" y="0"/>
    </p:cViewPr>
  </p:notesText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presProps" Target="presProps.xml"  /><Relationship Id="rId15" Type="http://schemas.openxmlformats.org/officeDocument/2006/relationships/viewProps" Target="viewProps.xml"  /><Relationship Id="rId16" Type="http://schemas.openxmlformats.org/officeDocument/2006/relationships/theme" Target="theme/theme1.xml"  /><Relationship Id="rId17"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idx="0"/>
          </p:nvPr>
        </p:nvSpPr>
        <p:spPr>
          <a:prstGeom prst="rect">
            <a:avLst/>
          </a:prstGeom>
        </p:spPr>
        <p:txBody>
          <a:bodyPr/>
          <a:lstStyle/>
          <a:p>
            <a:pPr>
              <a:defRPr/>
            </a:pPr>
            <a:r>
              <a:rPr lang="ko-KR" altLang="en-US"/>
              <a:t/>
            </a:r>
            <a:endParaRPr lang="ko-KR" altLang="en-US"/>
          </a:p>
        </p:txBody>
      </p:sp>
      <p:sp>
        <p:nvSpPr>
          <p:cNvPr id="3" name="Date Placeholder"/>
          <p:cNvSpPr>
            <a:spLocks noGrp="1"/>
          </p:cNvSpPr>
          <p:nvPr>
            <p:ph type="dt" sz="quarter" idx="1"/>
          </p:nvPr>
        </p:nvSpPr>
        <p:spPr>
          <a:prstGeom prst="rect">
            <a:avLst/>
          </a:prstGeom>
        </p:spPr>
        <p:txBody>
          <a:bodyPr/>
          <a:lstStyle/>
          <a:p>
            <a:pPr>
              <a:defRPr/>
            </a:pPr>
            <a:r>
              <a:rPr lang="ko-KR" altLang="en-US"/>
              <a:t/>
            </a:r>
            <a:endParaRPr lang="ko-KR" altLang="en-US"/>
          </a:p>
        </p:txBody>
      </p:sp>
      <p:sp>
        <p:nvSpPr>
          <p:cNvPr id="4" name="Slide Image Placeholder"/>
          <p:cNvSpPr>
            <a:spLocks noGrp="1" noRot="1" noChangeAspect="1" noTextEdit="1"/>
          </p:cNvSpPr>
          <p:nvPr>
            <p:ph type="sldImg" idx="2"/>
          </p:nvPr>
        </p:nvSpPr>
        <p:spPr>
          <a:prstGeom prst="rect">
            <a:avLst/>
          </a:prstGeom>
        </p:spPr>
        <p:txBody>
          <a:bodyPr/>
          <a:lstStyle/>
          <a:p>
            <a:pPr>
              <a:defRPr/>
            </a:pPr>
            <a:endParaRPr lang="ko-KR" altLang="en-US"/>
          </a:p>
        </p:txBody>
      </p:sp>
      <p:sp>
        <p:nvSpPr>
          <p:cNvPr id="5" name="Notes Placeholder"/>
          <p:cNvSpPr>
            <a:spLocks noGrp="1"/>
          </p:cNvSpPr>
          <p:nvPr>
            <p:ph type="body" sz="quarter" idx="3"/>
          </p:nvPr>
        </p:nvSpPr>
        <p:spPr>
          <a:prstGeom prst="rect">
            <a:avLst/>
          </a:prstGeom>
        </p:spPr>
        <p:txBody>
          <a:bodyPr/>
          <a:lstStyle/>
          <a:p>
            <a:pPr>
              <a:defRPr/>
            </a:pPr>
            <a:r>
              <a:rPr lang="ko-KR" altLang="en-US"/>
              <a:t/>
            </a:r>
            <a:endParaRPr lang="ko-KR" altLang="en-US"/>
          </a:p>
        </p:txBody>
      </p:sp>
      <p:sp>
        <p:nvSpPr>
          <p:cNvPr id="6" name="Footer Placeholder"/>
          <p:cNvSpPr>
            <a:spLocks noGrp="1"/>
          </p:cNvSpPr>
          <p:nvPr>
            <p:ph type="ftr" sz="quarter" idx="4"/>
          </p:nvPr>
        </p:nvSpPr>
        <p:spPr>
          <a:prstGeom prst="rect">
            <a:avLst/>
          </a:prstGeom>
        </p:spPr>
        <p:txBody>
          <a:bodyPr/>
          <a:lstStyle/>
          <a:p>
            <a:pPr>
              <a:defRPr/>
            </a:pPr>
            <a:r>
              <a:rPr lang="ko-KR" altLang="en-US"/>
              <a:t/>
            </a:r>
            <a:endParaRPr lang="ko-KR" altLang="en-US"/>
          </a:p>
        </p:txBody>
      </p:sp>
      <p:sp>
        <p:nvSpPr>
          <p:cNvPr id="7" name="Slide Number Placeholder"/>
          <p:cNvSpPr>
            <a:spLocks noGrp="1"/>
          </p:cNvSpPr>
          <p:nvPr>
            <p:ph type="sldNum" sz="quarter" idx="5"/>
          </p:nvPr>
        </p:nvSpPr>
        <p:spPr>
          <a:prstGeom prst="rect">
            <a:avLst/>
          </a:prstGeom>
        </p:spPr>
        <p:txBody>
          <a:bodyPr/>
          <a:lstStyle/>
          <a:p>
            <a:pPr>
              <a:defRPr/>
            </a:pPr>
            <a:r>
              <a:rPr lang="ko-KR" altLang="en-US"/>
              <a:t/>
            </a:r>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Good afternoon. Our project is an edge AI security system that listens for two threat sounds: breaking glass and screams. It runs on a Raspberry Pi, classifies audio in real time, and triggers physical and remote alerts. I will focus on the baseline, our model, what failed, what finally worked, and what should improve next.</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marL="0" indent="0" algn="l">
              <a:spcBef>
                <a:spcPts val="0"/>
              </a:spcBef>
              <a:spcAft>
                <a:spcPts val="0"/>
              </a:spcAft>
              <a:buNone/>
              <a:defRPr/>
            </a:pPr>
            <a:r>
              <a:rPr lang="ko-KR" altLang="en-US"/>
              <a:t>Why use sound at all? Cameras and motion sensors are useful, but they have blind spots. A microphone can detect an event even when the source is outside the camera view. Our design also keeps inference on the edge: raw audio does not need to be continuously uploaded. When a threat is confirmed, the system can immediately activate a buzzer and LED, take a photo, write a log, and send a Telegram message.</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marL="0" indent="0" algn="l">
              <a:spcBef>
                <a:spcPts val="0"/>
              </a:spcBef>
              <a:spcAft>
                <a:spcPts val="0"/>
              </a:spcAft>
              <a:buNone/>
              <a:defRPr/>
            </a:pPr>
            <a:r>
              <a:rPr lang="ko-KR" altLang="en-US"/>
              <a:t>Our retained model keeps YAMNet as a frozen feature extractor but adds a task-specific classifier. Every audio frame becomes a 1,024-dimensional embedding. The classifier uses dense layers of 512, 256, and 128 units, followed by a three-class softmax. Batch normalization, dropout, and L2 regularization reduce overfitting. The official policy was selected on validation and uses classifier-only thresholds of 0.95 for glass and 0.40 for scream, with one and three consecutive frames respectively.</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These are the official strict-label test results for the retained model. It correctly classified 136 of 165 source groups, for 82.4 percent accuracy and 0.801 Macro F1. Glass recall was 24 of 29, and scream recall was 27 of 38. On 98 normal groups, 13 produced a false alarm. These counts are important because the class sample sizes are modest. No new candidate passed the validation promotion rule, which required higher Macro F1 than the retained model, at most five percent normal false alarms, and at least seventy percent recall for both events.</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The official and original demo policies optimize different risks. The official classifier-only policy achieved Macro F1 0.801, normal false alarms of 13.3 percent, glass recall of 82.8 percent, and scream recall of 71.1 percent. The original demo used higher thresholds, YAMNet corroboration, scream mean and margin filters, and an RMS gate in the live microphone loop. The historical offline ablation did not include that RMS gate. In that ablation, Macro F1 was 0.804, false alarms fell to 7.1 percent, glass recall stayed at 82.8 percent, and scream recall fell to 57.9 percent. This comparison was not used for model selection.</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To conclude, transfer learning made the detector practical, while source-group splitting and explicit validation gates made the evaluation more defensible. Comparing the official and original demo policies exposes the real trade-off: fewer false alarms versus more missed screams. The next engineering goal is to reduce false alarms without sacrificing threat recall. Thank you. I am ready for your questions.</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dd44e47e018a433a"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standalone="yes" ?><Relationships xmlns="http://schemas.openxmlformats.org/package/2006/relationships"><Relationship Id="Rc9c9b914ae7a4c96" Type="http://schemas.openxmlformats.org/officeDocument/2006/relationships/slideMaster" Target="../slideMasters/slideMaster1.xml"  /></Relationships>
</file>

<file path=ppt/slideLayouts/slideLayout1.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p:cSld>
    <p:spTree>
      <p:nvGrpSpPr>
        <p:cNvPr id="1" name=""/>
        <p:cNvGrpSpPr/>
        <p:nvPr/>
      </p:nvGrpSpPr>
      <p:grpSpPr>
        <a:xfrm>
          <a:off x="0" y="0"/>
          <a:ext cx="0" cy="0"/>
          <a:chOff x="0" y="0"/>
          <a:chExt cx="0" cy="0"/>
        </a:xfrm>
      </p:grpSpPr>
    </p:spTree>
  </p:cSld>
  <p:clrMapOvr>
    <a:masterClrMapping/>
  </p:clrMapOvr>
  <p:transition xmlns:mc="http://schemas.openxmlformats.org/markup-compatibility/2006" xmlns:hp="http://schemas.haansoft.com/office/presentation/8.0" mc:Ignorable="hp" hp:hslDur="500"/>
</p:sldLayout>
</file>

<file path=ppt/slideLayouts/slideLayout3.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Masters/_rels/slideMaster1.xml.rels><?xml version="1.0" encoding="UTF-8" standalone="yes" ?><Relationships xmlns="http://schemas.openxmlformats.org/package/2006/relationships"><Relationship Id="R0696718aaa034c3c" Type="http://schemas.openxmlformats.org/officeDocument/2006/relationships/slideLayout" Target="../slideLayouts/slideLayout1.xml"  /><Relationship Id="R0b25bbe7e1cf4e40" Type="http://schemas.openxmlformats.org/officeDocument/2006/relationships/slideLayout" Target="../slideLayouts/slideLayout1.xml"  /><Relationship Id="R9a76c124509540f9" Type="http://schemas.openxmlformats.org/officeDocument/2006/relationships/slideLayout" Target="../slideLayouts/slideLayout3.xml"  /><Relationship Id="Rc7f2260e48eb4448" Type="http://schemas.openxmlformats.org/officeDocument/2006/relationships/theme" Target="../theme/theme1.xml"  /><Relationship Id="Rc9c5b7a65933410b" Type="http://schemas.openxmlformats.org/officeDocument/2006/relationships/slideLayout" Target="../slideLayouts/slideLayout3.xml"  /></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 Target="../theme/theme2.xml"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25bbe7e1cf4e40"/>
    <p:sldLayoutId xmlns:r="http://schemas.openxmlformats.org/officeDocument/2006/relationships" id="2147483650" r:id="R9a76c124509540f9"/>
    <p:sldLayoutId xmlns:r="http://schemas.openxmlformats.org/officeDocument/2006/relationships" id="2147483651" r:id="R517cfd618cf5406f"/>
    <p:sldLayoutId xmlns:r="http://schemas.openxmlformats.org/officeDocument/2006/relationships" id="2147483652" r:id="R0696718aaa034c3c"/>
    <p:sldLayoutId xmlns:r="http://schemas.openxmlformats.org/officeDocument/2006/relationships" id="2147483653" r:id="R8f17f54670ce4b1e"/>
    <p:sldLayoutId xmlns:r="http://schemas.openxmlformats.org/officeDocument/2006/relationships" id="2147483654" r:id="Rc9c5b7a65933410b"/>
    <p:sldLayoutId xmlns:r="http://schemas.openxmlformats.org/officeDocument/2006/relationships" id="2147483655" r:id="R54f57608be47423f"/>
    <p:sldLayoutId xmlns:r="http://schemas.openxmlformats.org/officeDocument/2006/relationships" id="2147483656" r:id="Rb9b9fe50c1c74d9d"/>
    <p:sldLayoutId xmlns:r="http://schemas.openxmlformats.org/officeDocument/2006/relationships" id="2147483657" r:id="Rbcfbfe53173740a9"/>
    <p:sldLayoutId xmlns:r="http://schemas.openxmlformats.org/officeDocument/2006/relationships" id="2147483658" r:id="Rff72bdb2b03e4cbb"/>
  </p:sldLayoutIdLst>
  <p:hf hdr="0" dt="0"/>
  <p:txStyles>
    <p:titleStyle>
      <a:lvl1pPr xmlns:a="http://schemas.openxmlformats.org/drawingml/2006/main" algn="l">
        <a:lnSpc>
          <a:spcPct val="90000"/>
        </a:lnSpc>
        <a:spcBef>
          <a:spcPts val="0"/>
        </a:spcBef>
        <a:buNone/>
        <a:defRPr sz="29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4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0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18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slideMaster2.xml><?xml version="1.0" encoding="utf-8"?>
<p:sld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Lst>
  <p:transition xmlns:mc="http://schemas.openxmlformats.org/markup-compatibility/2006" xmlns:hp="http://schemas.haansoft.com/office/presentation/8.0" mc:Ignorable="hp" hp:hslDur="500"/>
</p:sldMaster>
</file>

<file path=ppt/slides/_rels/slide1.xml.rels><?xml version="1.0" encoding="UTF-8" standalone="yes" ?><Relationships xmlns="http://schemas.openxmlformats.org/package/2006/relationships"><Relationship Id="Ra1d93708e0d04839" Type="http://schemas.openxmlformats.org/officeDocument/2006/relationships/notesSlide" Target="../notesSlides/notesSlide1.xml"  /><Relationship Id="Rbc8fba0f20674ac0"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129c78d230e14d39" Type="http://schemas.openxmlformats.org/officeDocument/2006/relationships/notesSlide" Target="../notesSlides/notesSlide2.xml"  /><Relationship Id="Rd2f7a9addda2469c"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c0df65bbec234987"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63087bc5f87643a5" Type="http://schemas.openxmlformats.org/officeDocument/2006/relationships/notesSlide" Target="../notesSlides/notesSlide3.xml"  /><Relationship Id="Re3929bfd4bff40bb"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7a6944da63874773"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18e6cccfb12a4eb6"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3.xml"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8BFE633A-551A-54B1-5F36-B66CCEBD8D53}"/>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Edge AI Threat-Sound</a:t>
            </a:r>
          </a:p>
          <a:p xmlns:a="http://schemas.openxmlformats.org/drawingml/2006/main">
            <a:r>
              <a:rPr sz="7200"/>
              <a:t>Detection</a:t>
            </a:r>
          </a:p>
        </p:txBody>
      </p:sp>
      <p:sp>
        <p:nvSpPr>
          <p:cNvPr id="5" name="Subtitle 4">
            <a:extLst xmlns:a="http://schemas.openxmlformats.org/drawingml/2006/main">
              <a:ext uri="{FF2B5EF4-FFF2-40B4-BE49-F238E27FC236}">
                <a16:creationId xmlns:a16="http://schemas.microsoft.com/office/drawing/2014/main" id="{5FD18192-DA46-5723-C973-8A30A162A3C1}"/>
              </a:ext>
            </a:extLst>
          </p:cNvPr>
          <p:cNvSpPr>
            <a:spLocks xmlns:a="http://schemas.openxmlformats.org/drawingml/2006/main" noGrp="1"/>
          </p:cNvSpPr>
          <p:nvPr>
            <p:ph type="subTitle" idx="1"/>
          </p:nvPr>
        </p:nvSpPr>
        <p:spPr>
          <a:xfrm xmlns:a="http://schemas.openxmlformats.org/drawingml/2006/main">
            <a:off x="393700" y="4789429"/>
            <a:ext cx="3568700" cy="1218417"/>
          </a:xfrm>
        </p:spPr>
        <p:txBody>
          <a:bodyPr xmlns:a="http://schemas.openxmlformats.org/drawingml/2006/main">
            <a:noAutofit/>
          </a:bodyPr>
          <a:lstStyle xmlns:a="http://schemas.openxmlformats.org/drawingml/2006/main"/>
          <a:p xmlns:a="http://schemas.openxmlformats.org/drawingml/2006/main">
            <a:r>
              <a:rPr sz="2000"/>
              <a:t>Glass break · Scream · Normal</a:t>
            </a:r>
          </a:p>
          <a:p xmlns:a="http://schemas.openxmlformats.org/drawingml/2006/main">
            <a:r>
              <a:rPr sz="2000"/>
              <a:t>Raspberry Pi 4 · YAMNet · IoT alerts</a:t>
            </a:r>
          </a:p>
          <a:p xmlns:a="http://schemas.openxmlformats.org/drawingml/2006/main">
            <a:r>
              <a:rPr sz="2000"/>
              <a:t>Final presentation · June 22, 2026</a:t>
            </a:r>
          </a:p>
        </p:txBody>
      </p:sp>
      <p:sp>
        <p:nvSpPr>
          <p:cNvPr id="6" name="Subtitle 4">
            <a:extLst xmlns:a="http://schemas.openxmlformats.org/drawingml/2006/main">
              <a:ext uri="{FF2B5EF4-FFF2-40B4-BE49-F238E27FC236}">
                <a16:creationId xmlns:a16="http://schemas.microsoft.com/office/drawing/2014/main" id="{38267A14-2A60-F4BB-37BE-E21D050F53D8}"/>
              </a:ext>
            </a:extLst>
          </p:cNvPr>
          <p:cNvSpPr>
            <a:spLocks xmlns:a="http://schemas.openxmlformats.org/drawingml/2006/main" noGrp="1"/>
          </p:cNvSpPr>
          <p:nvPr/>
        </p:nvSpPr>
        <p:spPr>
          <a:xfrm xmlns:a="http://schemas.openxmlformats.org/drawingml/2006/main">
            <a:off x="393699" y="392241"/>
            <a:ext cx="3578411"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r>
              <a:rPr sz="1800"/>
              <a:t>HUFS IoT TERM PROJECT</a:t>
            </a:r>
          </a:p>
        </p:txBody>
      </p:sp>
      <p:sp>
        <p:nvSpPr>
          <p:cNvPr id="8" name="Subtitle 4">
            <a:extLst xmlns:a="http://schemas.openxmlformats.org/drawingml/2006/main">
              <a:ext uri="{FF2B5EF4-FFF2-40B4-BE49-F238E27FC236}">
                <a16:creationId xmlns:a16="http://schemas.microsoft.com/office/drawing/2014/main" id="{7A9AD72C-F254-8F77-B9BB-AA0D9A0210D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lgn="r">
              <a:buNone/>
            </a:pPr>
            <a:r>
              <a:rPr sz="1800"/>
              <a:t>REAL-TIME SMART SURVEILLANCE</a:t>
            </a:r>
          </a:p>
        </p:txBody>
      </p:sp>
    </p:spTree>
    <p:extLst>
      <p:ext uri="{BB962C8B-B14F-4D97-AF65-F5344CB8AC3E}">
        <p14:creationId xmlns:p14="http://schemas.microsoft.com/office/powerpoint/2010/main" val="5632416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5AB35336-B601-40DE-AAF6-508F0F4CB872}"/>
              </a:ext>
            </a:extLst>
          </p:cNvPr>
          <p:cNvSpPr>
            <a:spLocks xmlns:a="http://schemas.openxmlformats.org/drawingml/2006/main" noGrp="1"/>
          </p:cNvSpPr>
          <p:nvPr>
            <p:ph idx="1"/>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t>COVERAGE GAP</a:t>
            </a:r>
          </a:p>
          <a:p xmlns:a="http://schemas.openxmlformats.org/drawingml/2006/main">
            <a:pPr marL="0" indent="0">
              <a:spcAft>
                <a:spcPts val="1300"/>
              </a:spcAft>
              <a:buNone/>
            </a:pPr>
            <a:r>
              <a:rPr sz="1900"/>
              <a:t>Cameras and motion sensors miss events outside their field of view. Sound adds an independent signal.</a:t>
            </a:r>
          </a:p>
        </p:txBody>
      </p:sp>
      <p:sp>
        <p:nvSpPr>
          <p:cNvPr id="556" name="Google Shape;556;p61">
            <a:extLst xmlns:a="http://schemas.openxmlformats.org/drawingml/2006/main">
              <a:ext uri="{FF2B5EF4-FFF2-40B4-BE49-F238E27FC236}">
                <a16:creationId xmlns:a16="http://schemas.microsoft.com/office/drawing/2014/main" id="{266AC2A4-9BA4-4F9E-96DC-AA4ABEA7A100}"/>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E2598689-54C9-18A7-3A19-ED76AA08988F}" type="slidenum">
              <a:t>2</a:t>
            </a:fld>
          </a:p>
        </p:txBody>
      </p:sp>
      <p:sp>
        <p:nvSpPr>
          <p:cNvPr id="559" name="Google Shape;559;p61">
            <a:extLst xmlns:a="http://schemas.openxmlformats.org/drawingml/2006/main">
              <a:ext uri="{FF2B5EF4-FFF2-40B4-BE49-F238E27FC236}">
                <a16:creationId xmlns:a16="http://schemas.microsoft.com/office/drawing/2014/main" id="{B947E6A4-9E50-413F-9005-5865C1860F3A}"/>
              </a:ext>
            </a:extLst>
          </p:cNvPr>
          <p:cNvSpPr>
            <a:spLocks xmlns:a="http://schemas.openxmlformats.org/drawingml/2006/main" noGrp="1"/>
          </p:cNvSpPr>
          <p:nvPr>
            <p:ph idx="10"/>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solidFill>
                  <a:schemeClr val="dk1"/>
                </a:solidFill>
              </a:rPr>
              <a:t>EDGE PRIVACY</a:t>
            </a:r>
          </a:p>
          <a:p xmlns:a="http://schemas.openxmlformats.org/drawingml/2006/main">
            <a:pPr marL="0" indent="0">
              <a:spcAft>
                <a:spcPts val="1300"/>
              </a:spcAft>
              <a:buNone/>
            </a:pPr>
            <a:r>
              <a:rPr sz="1900">
                <a:solidFill>
                  <a:schemeClr val="dk1"/>
                </a:solidFill>
              </a:rPr>
              <a:t>Audio is analyzed locally on a Raspberry Pi. Only detected events and evidence are transmitted.</a:t>
            </a:r>
          </a:p>
        </p:txBody>
      </p:sp>
      <p:sp>
        <p:nvSpPr>
          <p:cNvPr id="560" name="Google Shape;560;p61">
            <a:extLst xmlns:a="http://schemas.openxmlformats.org/drawingml/2006/main">
              <a:ext uri="{FF2B5EF4-FFF2-40B4-BE49-F238E27FC236}">
                <a16:creationId xmlns:a16="http://schemas.microsoft.com/office/drawing/2014/main" id="{4C7EED5A-75D0-4947-87A1-4F5236FAEB17}"/>
              </a:ext>
            </a:extLst>
          </p:cNvPr>
          <p:cNvSpPr>
            <a:spLocks xmlns:a="http://schemas.openxmlformats.org/drawingml/2006/main" noGrp="1"/>
          </p:cNvSpPr>
          <p:nvPr>
            <p:ph idx="11"/>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solidFill>
                  <a:schemeClr val="dk1"/>
                </a:solidFill>
              </a:rPr>
              <a:t>AUTOMATED RESPONSE</a:t>
            </a:r>
          </a:p>
          <a:p xmlns:a="http://schemas.openxmlformats.org/drawingml/2006/main">
            <a:pPr marL="0" indent="0">
              <a:spcAft>
                <a:spcPts val="1300"/>
              </a:spcAft>
              <a:buNone/>
            </a:pPr>
            <a:r>
              <a:rPr sz="1900">
                <a:solidFill>
                  <a:schemeClr val="dk1"/>
                </a:solidFill>
              </a:rPr>
              <a:t>One detection triggers a buzzer, LED, camera capture, event log, and Telegram notification.</a:t>
            </a:r>
          </a:p>
        </p:txBody>
      </p:sp>
      <p:sp>
        <p:nvSpPr>
          <p:cNvPr id="557" name="Google Shape;557;p61">
            <a:extLst xmlns:a="http://schemas.openxmlformats.org/drawingml/2006/main">
              <a:ext uri="{FF2B5EF4-FFF2-40B4-BE49-F238E27FC236}">
                <a16:creationId xmlns:a16="http://schemas.microsoft.com/office/drawing/2014/main" id="{E7B40452-B16C-43CE-9098-256ABCCB332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Why listen for threats?</a:t>
            </a:r>
          </a:p>
        </p:txBody>
      </p:sp>
      <p:sp>
        <p:nvSpPr>
          <p:cNvPr id="561" name="Google Shape;561;p61">
            <a:extLst xmlns:a="http://schemas.openxmlformats.org/drawingml/2006/main">
              <a:ext uri="{FF2B5EF4-FFF2-40B4-BE49-F238E27FC236}">
                <a16:creationId xmlns:a16="http://schemas.microsoft.com/office/drawing/2014/main" id="{77942AB7-6490-4260-8DE0-97F0D0FC8B9C}"/>
              </a:ext>
            </a:extLst>
          </p:cNvPr>
          <p:cNvSpPr>
            <a:spLocks xmlns:a="http://schemas.openxmlformats.org/drawingml/2006/main" noGrp="1"/>
          </p:cNvSpPr>
          <p:nvPr/>
        </p:nvSpPr>
        <p:spPr>
          <a:xfrm xmlns:a="http://schemas.openxmlformats.org/drawingml/2006/main">
            <a:off x="4279904" y="3433102"/>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2" name="Google Shape;562;p61">
            <a:extLst xmlns:a="http://schemas.openxmlformats.org/drawingml/2006/main">
              <a:ext uri="{FF2B5EF4-FFF2-40B4-BE49-F238E27FC236}">
                <a16:creationId xmlns:a16="http://schemas.microsoft.com/office/drawing/2014/main" id="{4164F68C-528B-45C3-98CE-50B53AA6E60D}"/>
              </a:ext>
            </a:extLst>
          </p:cNvPr>
          <p:cNvSpPr>
            <a:spLocks xmlns:a="http://schemas.openxmlformats.org/drawingml/2006/main" noGrp="1"/>
          </p:cNvSpPr>
          <p:nvPr/>
        </p:nvSpPr>
        <p:spPr>
          <a:xfrm xmlns:a="http://schemas.openxmlformats.org/drawingml/2006/main">
            <a:off x="333666" y="3429011"/>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3" name="Google Shape;563;p61">
            <a:extLst xmlns:a="http://schemas.openxmlformats.org/drawingml/2006/main">
              <a:ext uri="{FF2B5EF4-FFF2-40B4-BE49-F238E27FC236}">
                <a16:creationId xmlns:a16="http://schemas.microsoft.com/office/drawing/2014/main" id="{C92AB1EB-084E-46D5-8EF2-4DF29F0036F1}"/>
              </a:ext>
            </a:extLst>
          </p:cNvPr>
          <p:cNvSpPr>
            <a:spLocks xmlns:a="http://schemas.openxmlformats.org/drawingml/2006/main" noGrp="1"/>
          </p:cNvSpPr>
          <p:nvPr/>
        </p:nvSpPr>
        <p:spPr>
          <a:xfrm xmlns:a="http://schemas.openxmlformats.org/drawingml/2006/main">
            <a:off x="8214664" y="3474581"/>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587077762"/>
      </p:ext>
    </p:extLst>
  </p:cSld>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
          </p:nvPr>
        </p:nvSpPr>
        <p:spPr/>
        <p:txBody>
          <a:bodyPr/>
          <a:lstStyle/>
          <a:p>
            <a:pPr>
              <a:defRPr/>
            </a:pPr>
            <a:fld id="{202359C0-8A7A-196E-DD58-8E6569619F09}" type="slidenum">
              <a:rPr lang="en-US" altLang="en-US"/>
              <a:pPr>
                <a:defRPr/>
              </a:pPr>
              <a:t>3</a:t>
            </a:fld>
            <a:endParaRPr lang="en-US" altLang="en-US"/>
          </a:p>
        </p:txBody>
      </p:sp>
      <p:sp>
        <p:nvSpPr>
          <p:cNvPr id="11" name="Title 10"/>
          <p:cNvSpPr>
            <a:spLocks noGrp="1"/>
          </p:cNvSpPr>
          <p:nvPr>
            <p:ph type="title" idx="0"/>
          </p:nvPr>
        </p:nvSpPr>
        <p:spPr>
          <a:xfrm>
            <a:off x="393700" y="344008"/>
            <a:ext cx="5534180" cy="1047491"/>
          </a:xfrm>
        </p:spPr>
        <p:txBody>
          <a:bodyPr/>
          <a:lstStyle/>
          <a:p>
            <a:pPr lvl="0">
              <a:defRPr/>
            </a:pPr>
            <a:r>
              <a:rPr lang="ko-KR" altLang="en-US"/>
              <a:t>Baseline: YAMNet-only ablation</a:t>
            </a:r>
            <a:endParaRPr lang="ko-KR" altLang="en-US"/>
          </a:p>
        </p:txBody>
      </p:sp>
      <p:sp>
        <p:nvSpPr>
          <p:cNvPr id="3" name="Rounded Rectangle 2"/>
          <p:cNvSpPr>
            <a:spLocks noGrp="1"/>
          </p:cNvSpPr>
          <p:nvPr/>
        </p:nvSpPr>
        <p:spPr>
          <a:xfrm>
            <a:off x="393700" y="2032000"/>
            <a:ext cx="2581975" cy="2656541"/>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2" name="Rounded Rectangle 1"/>
          <p:cNvSpPr>
            <a:spLocks noGrp="1"/>
          </p:cNvSpPr>
          <p:nvPr/>
        </p:nvSpPr>
        <p:spPr>
          <a:xfrm>
            <a:off x="0" y="5385955"/>
            <a:ext cx="12192000" cy="14859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12" name="Content Placeholder 9"/>
          <p:cNvSpPr>
            <a:spLocks noGrp="1"/>
          </p:cNvSpPr>
          <p:nvPr/>
        </p:nvSpPr>
        <p:spPr>
          <a:xfrm>
            <a:off x="631052" y="2251890"/>
            <a:ext cx="2133315" cy="903750"/>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16 kHz</a:t>
            </a:r>
            <a:endParaRPr sz="5000" u="none" cap="none">
              <a:solidFill>
                <a:prstClr val="black"/>
              </a:solidFill>
              <a:latin typeface="Helvetica Neue"/>
              <a:ea typeface="Helvetica Neue"/>
              <a:cs typeface="Helvetica Neue"/>
            </a:endParaRPr>
          </a:p>
        </p:txBody>
      </p:sp>
      <p:sp>
        <p:nvSpPr>
          <p:cNvPr id="16" name="Content Placeholder 15"/>
          <p:cNvSpPr>
            <a:spLocks noGrp="1"/>
          </p:cNvSpPr>
          <p:nvPr>
            <p:ph idx="4294967295"/>
          </p:nvPr>
        </p:nvSpPr>
        <p:spPr>
          <a:xfrm>
            <a:off x="697670" y="3740150"/>
            <a:ext cx="2066698" cy="615950"/>
          </a:xfrm>
        </p:spPr>
        <p:txBody>
          <a:bodyPr>
            <a:noAutofit/>
          </a:bodyPr>
          <a:lstStyle/>
          <a:p>
            <a:pPr marL="0" indent="0">
              <a:lnSpc>
                <a:spcPct val="114000"/>
              </a:lnSpc>
              <a:spcBef>
                <a:spcPts val="0"/>
              </a:spcBef>
              <a:spcAft>
                <a:spcPts val="800"/>
              </a:spcAft>
              <a:buNone/>
              <a:defRPr/>
            </a:pPr>
            <a:r>
              <a:rPr sz="1400">
                <a:latin typeface="Helvetica Neue"/>
                <a:ea typeface="Helvetica Neue"/>
                <a:cs typeface="Helvetica Neue"/>
              </a:rPr>
              <a:t>Mono audio</a:t>
            </a:r>
            <a:endParaRPr sz="1400">
              <a:latin typeface="Helvetica Neue"/>
              <a:ea typeface="Helvetica Neue"/>
              <a:cs typeface="Helvetica Neue"/>
            </a:endParaRPr>
          </a:p>
          <a:p>
            <a:pPr marL="0" indent="0">
              <a:lnSpc>
                <a:spcPct val="114000"/>
              </a:lnSpc>
              <a:spcBef>
                <a:spcPts val="0"/>
              </a:spcBef>
              <a:spcAft>
                <a:spcPts val="800"/>
              </a:spcAft>
              <a:buNone/>
              <a:defRPr/>
            </a:pPr>
            <a:r>
              <a:rPr sz="1400">
                <a:latin typeface="Helvetica Neue"/>
                <a:ea typeface="Helvetica Neue"/>
                <a:cs typeface="Helvetica Neue"/>
              </a:rPr>
              <a:t>waveform</a:t>
            </a:r>
            <a:endParaRPr sz="1400">
              <a:latin typeface="Helvetica Neue"/>
              <a:ea typeface="Helvetica Neue"/>
              <a:cs typeface="Helvetica Neue"/>
            </a:endParaRPr>
          </a:p>
        </p:txBody>
      </p:sp>
      <p:sp>
        <p:nvSpPr>
          <p:cNvPr id="34" name="Rounded Rectangle 33"/>
          <p:cNvSpPr>
            <a:spLocks noGrp="1"/>
          </p:cNvSpPr>
          <p:nvPr/>
        </p:nvSpPr>
        <p:spPr>
          <a:xfrm>
            <a:off x="3345905" y="2032000"/>
            <a:ext cx="2581975" cy="2656541"/>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35" name="Content Placeholder 9"/>
          <p:cNvSpPr>
            <a:spLocks noGrp="1"/>
          </p:cNvSpPr>
          <p:nvPr/>
        </p:nvSpPr>
        <p:spPr>
          <a:xfrm>
            <a:off x="3583257" y="2251890"/>
            <a:ext cx="2133315" cy="903750"/>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YAMNet</a:t>
            </a:r>
            <a:endParaRPr sz="5000" u="none" cap="none">
              <a:solidFill>
                <a:prstClr val="black"/>
              </a:solidFill>
              <a:latin typeface="Helvetica Neue"/>
              <a:ea typeface="Helvetica Neue"/>
              <a:cs typeface="Helvetica Neue"/>
            </a:endParaRPr>
          </a:p>
        </p:txBody>
      </p:sp>
      <p:sp>
        <p:nvSpPr>
          <p:cNvPr id="36" name="Content Placeholder 15"/>
          <p:cNvSpPr>
            <a:spLocks noGrp="1"/>
          </p:cNvSpPr>
          <p:nvPr/>
        </p:nvSpPr>
        <p:spPr>
          <a:xfrm>
            <a:off x="3649875" y="3740150"/>
            <a:ext cx="2066698" cy="615950"/>
          </a:xfrm>
          <a:prstGeom prst="rect">
            <a:avLst/>
          </a:prstGeom>
        </p:spPr>
        <p:txBody>
          <a:bodyPr vert="horz" lIns="0" tIns="0" rIns="0" bIns="0">
            <a:no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sz="1400">
                <a:latin typeface="Helvetica Neue"/>
                <a:ea typeface="Helvetica Neue"/>
                <a:cs typeface="Helvetica Neue"/>
              </a:rPr>
              <a:t>Pretrained AudioSet</a:t>
            </a:r>
            <a:endParaRPr sz="1400">
              <a:latin typeface="Helvetica Neue"/>
              <a:ea typeface="Helvetica Neue"/>
              <a:cs typeface="Helvetica Neue"/>
            </a:endParaRPr>
          </a:p>
          <a:p>
            <a:pPr marL="0" indent="0">
              <a:lnSpc>
                <a:spcPct val="114000"/>
              </a:lnSpc>
              <a:spcBef>
                <a:spcPts val="0"/>
              </a:spcBef>
              <a:spcAft>
                <a:spcPts val="800"/>
              </a:spcAft>
              <a:buNone/>
              <a:defRPr/>
            </a:pPr>
            <a:r>
              <a:rPr sz="1400">
                <a:latin typeface="Helvetica Neue"/>
                <a:ea typeface="Helvetica Neue"/>
                <a:cs typeface="Helvetica Neue"/>
              </a:rPr>
              <a:t>network</a:t>
            </a:r>
            <a:endParaRPr sz="1400">
              <a:latin typeface="Helvetica Neue"/>
              <a:ea typeface="Helvetica Neue"/>
              <a:cs typeface="Helvetica Neue"/>
            </a:endParaRPr>
          </a:p>
        </p:txBody>
      </p:sp>
      <p:sp>
        <p:nvSpPr>
          <p:cNvPr id="37" name="Rounded Rectangle 36"/>
          <p:cNvSpPr>
            <a:spLocks noGrp="1"/>
          </p:cNvSpPr>
          <p:nvPr/>
        </p:nvSpPr>
        <p:spPr>
          <a:xfrm>
            <a:off x="6271986" y="2032000"/>
            <a:ext cx="2581975" cy="2656541"/>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38" name="Content Placeholder 9"/>
          <p:cNvSpPr>
            <a:spLocks noGrp="1"/>
          </p:cNvSpPr>
          <p:nvPr/>
        </p:nvSpPr>
        <p:spPr>
          <a:xfrm>
            <a:off x="6509338" y="2251890"/>
            <a:ext cx="2133315" cy="903750"/>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521</a:t>
            </a:r>
            <a:endParaRPr sz="5000" u="none" cap="none">
              <a:solidFill>
                <a:prstClr val="black"/>
              </a:solidFill>
              <a:latin typeface="Helvetica Neue"/>
              <a:ea typeface="Helvetica Neue"/>
              <a:cs typeface="Helvetica Neue"/>
            </a:endParaRPr>
          </a:p>
        </p:txBody>
      </p:sp>
      <p:sp>
        <p:nvSpPr>
          <p:cNvPr id="39" name="Content Placeholder 15"/>
          <p:cNvSpPr>
            <a:spLocks noGrp="1"/>
          </p:cNvSpPr>
          <p:nvPr/>
        </p:nvSpPr>
        <p:spPr>
          <a:xfrm>
            <a:off x="6575956" y="3740150"/>
            <a:ext cx="2066698" cy="615950"/>
          </a:xfrm>
          <a:prstGeom prst="rect">
            <a:avLst/>
          </a:prstGeom>
        </p:spPr>
        <p:txBody>
          <a:bodyPr vert="horz" lIns="0" tIns="0" rIns="0" bIns="0">
            <a:no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sz="1400">
                <a:latin typeface="Helvetica Neue"/>
                <a:ea typeface="Helvetica Neue"/>
                <a:cs typeface="Helvetica Neue"/>
              </a:rPr>
              <a:t>Generic class</a:t>
            </a:r>
            <a:endParaRPr sz="1400">
              <a:latin typeface="Helvetica Neue"/>
              <a:ea typeface="Helvetica Neue"/>
              <a:cs typeface="Helvetica Neue"/>
            </a:endParaRPr>
          </a:p>
          <a:p>
            <a:pPr marL="0" indent="0">
              <a:lnSpc>
                <a:spcPct val="114000"/>
              </a:lnSpc>
              <a:spcBef>
                <a:spcPts val="0"/>
              </a:spcBef>
              <a:spcAft>
                <a:spcPts val="800"/>
              </a:spcAft>
              <a:buNone/>
              <a:defRPr/>
            </a:pPr>
            <a:r>
              <a:rPr sz="1400">
                <a:latin typeface="Helvetica Neue"/>
                <a:ea typeface="Helvetica Neue"/>
                <a:cs typeface="Helvetica Neue"/>
              </a:rPr>
              <a:t>probabilities</a:t>
            </a:r>
            <a:endParaRPr sz="1400">
              <a:latin typeface="Helvetica Neue"/>
              <a:ea typeface="Helvetica Neue"/>
              <a:cs typeface="Helvetica Neue"/>
            </a:endParaRPr>
          </a:p>
        </p:txBody>
      </p:sp>
      <p:sp>
        <p:nvSpPr>
          <p:cNvPr id="40" name="Rounded Rectangle 39"/>
          <p:cNvSpPr>
            <a:spLocks noGrp="1"/>
          </p:cNvSpPr>
          <p:nvPr/>
        </p:nvSpPr>
        <p:spPr>
          <a:xfrm>
            <a:off x="9224191" y="2032000"/>
            <a:ext cx="2581975" cy="2656541"/>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41" name="Content Placeholder 9"/>
          <p:cNvSpPr>
            <a:spLocks noGrp="1"/>
          </p:cNvSpPr>
          <p:nvPr/>
        </p:nvSpPr>
        <p:spPr>
          <a:xfrm>
            <a:off x="9461543" y="2251890"/>
            <a:ext cx="2133315" cy="903750"/>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Rules</a:t>
            </a:r>
            <a:endParaRPr sz="5000" u="none" cap="none">
              <a:solidFill>
                <a:prstClr val="black"/>
              </a:solidFill>
              <a:latin typeface="Helvetica Neue"/>
              <a:ea typeface="Helvetica Neue"/>
              <a:cs typeface="Helvetica Neue"/>
            </a:endParaRPr>
          </a:p>
        </p:txBody>
      </p:sp>
      <p:sp>
        <p:nvSpPr>
          <p:cNvPr id="42" name="Content Placeholder 15"/>
          <p:cNvSpPr>
            <a:spLocks noGrp="1"/>
          </p:cNvSpPr>
          <p:nvPr/>
        </p:nvSpPr>
        <p:spPr>
          <a:xfrm>
            <a:off x="9528161" y="3740150"/>
            <a:ext cx="2066698" cy="615950"/>
          </a:xfrm>
          <a:prstGeom prst="rect">
            <a:avLst/>
          </a:prstGeom>
        </p:spPr>
        <p:txBody>
          <a:bodyPr vert="horz" lIns="0" tIns="0" rIns="0" bIns="0">
            <a:no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sz="1400">
                <a:latin typeface="Helvetica Neue"/>
                <a:ea typeface="Helvetica Neue"/>
                <a:cs typeface="Helvetica Neue"/>
              </a:rPr>
              <a:t>Map scores to</a:t>
            </a:r>
            <a:endParaRPr sz="1400">
              <a:latin typeface="Helvetica Neue"/>
              <a:ea typeface="Helvetica Neue"/>
              <a:cs typeface="Helvetica Neue"/>
            </a:endParaRPr>
          </a:p>
          <a:p>
            <a:pPr marL="0" indent="0">
              <a:lnSpc>
                <a:spcPct val="114000"/>
              </a:lnSpc>
              <a:spcBef>
                <a:spcPts val="0"/>
              </a:spcBef>
              <a:spcAft>
                <a:spcPts val="800"/>
              </a:spcAft>
              <a:buNone/>
              <a:defRPr/>
            </a:pPr>
            <a:r>
              <a:rPr sz="1400">
                <a:latin typeface="Helvetica Neue"/>
                <a:ea typeface="Helvetica Neue"/>
                <a:cs typeface="Helvetica Neue"/>
              </a:rPr>
              <a:t>3 target classes</a:t>
            </a:r>
            <a:endParaRPr sz="1400">
              <a:latin typeface="Helvetica Neue"/>
              <a:ea typeface="Helvetica Neue"/>
              <a:cs typeface="Helvetica Neue"/>
            </a:endParaRPr>
          </a:p>
        </p:txBody>
      </p:sp>
      <p:sp>
        <p:nvSpPr>
          <p:cNvPr id="43" name="Content Placeholder 2"/>
          <p:cNvSpPr>
            <a:spLocks noGrp="1"/>
          </p:cNvSpPr>
          <p:nvPr/>
        </p:nvSpPr>
        <p:spPr>
          <a:xfrm>
            <a:off x="6261100" y="400899"/>
            <a:ext cx="5539873" cy="990600"/>
          </a:xfrm>
          <a:prstGeom prst="rect">
            <a:avLst/>
          </a:prstGeom>
        </p:spPr>
        <p:txBody>
          <a:bodyPr lIns="0" tIns="0" rIns="0" bIns="0">
            <a:no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sz="1600">
                <a:latin typeface="Helvetica Neue"/>
                <a:ea typeface="Helvetica Neue"/>
                <a:cs typeface="Helvetica Neue"/>
              </a:rPr>
              <a:t>Exploratory post-hoc test ablation: Macro F1 0.756; glass recall 20/29; scream recall 19/38. Not used for model selection.</a:t>
            </a:r>
            <a:endParaRPr sz="1600">
              <a:latin typeface="Helvetica Neue"/>
              <a:ea typeface="Helvetica Neue"/>
              <a:cs typeface="Helvetica Neue"/>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5E6F3576-FAD9-7780-1390-E4CCDDDDF4C8}"/>
              </a:ext>
            </a:extLst>
          </p:cNvPr>
          <p:cNvSpPr>
            <a:spLocks xmlns:a="http://schemas.openxmlformats.org/drawingml/2006/main" noGrp="1"/>
          </p:cNvSpPr>
          <p:nvPr>
            <p:ph idx="1"/>
          </p:nvPr>
        </p:nvSpPr>
        <p:spPr>
          <a:xfrm xmlns:a="http://schemas.openxmlformats.org/drawingml/2006/main">
            <a:off x="393700" y="2391832"/>
            <a:ext cx="3568700" cy="360256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solidFill>
                  <a:prstClr val="black"/>
                </a:solidFill>
                <a:latin typeface="Helvetica Neue Medium"/>
                <a:ea typeface="Helvetica Neue Medium"/>
                <a:cs typeface="Helvetica Neue Medium"/>
              </a:rPr>
              <a:t>01</a:t>
            </a:r>
          </a:p>
          <a:p xmlns:a="http://schemas.openxmlformats.org/drawingml/2006/main">
            <a:pPr marL="0" indent="0">
              <a:lnSpc>
                <a:spcPct val="114000"/>
              </a:lnSpc>
              <a:spcBef>
                <a:spcPts val="0"/>
              </a:spcBef>
              <a:spcAft>
                <a:spcPts val="800"/>
              </a:spcAft>
              <a:buNone/>
            </a:pPr>
            <a:r>
              <a:rPr sz="1800">
                <a:solidFill>
                  <a:prstClr val="black"/>
                </a:solidFill>
                <a:latin typeface="Helvetica Neue Medium"/>
                <a:ea typeface="Helvetica Neue Medium"/>
                <a:cs typeface="Helvetica Neue Medium"/>
              </a:rPr>
              <a:t>FRONT END</a:t>
            </a:r>
          </a:p>
          <a:p xmlns:a="http://schemas.openxmlformats.org/drawingml/2006/main">
            <a:pPr marL="0" indent="0">
              <a:lnSpc>
                <a:spcPct val="114000"/>
              </a:lnSpc>
              <a:spcBef>
                <a:spcPts val="0"/>
              </a:spcBef>
              <a:spcAft>
                <a:spcPts val="1000"/>
              </a:spcAft>
              <a:buNone/>
            </a:pPr>
            <a:r>
              <a:rPr sz="1600">
                <a:latin typeface="Helvetica Neue"/>
                <a:ea typeface="Helvetica Neue"/>
                <a:cs typeface="Helvetica Neue"/>
              </a:rPr>
              <a:t>16 kHz mono audio enters frozen YAMNet. Each frame becomes a 1,024-dimensional embedding.</a:t>
            </a:r>
          </a:p>
          <a:p xmlns:a="http://schemas.openxmlformats.org/drawingml/2006/main">
            <a:pPr>
              <a:lnSpc>
                <a:spcPct val="114000"/>
              </a:lnSpc>
              <a:spcBef>
                <a:spcPts val="0"/>
              </a:spcBef>
              <a:spcAft>
                <a:spcPts val="800"/>
              </a:spcAft>
              <a:buNone/>
            </a:pPr>
            <a:r>
              <a:rPr sz="1600">
                <a:solidFill>
                  <a:prstClr val="black"/>
                </a:solidFill>
                <a:latin typeface="Helvetica Neue"/>
                <a:ea typeface="Helvetica Neue"/>
                <a:cs typeface="Helvetica Neue"/>
              </a:rPr>
              <a:t>• pretrained features</a:t>
            </a:r>
          </a:p>
          <a:p xmlns:a="http://schemas.openxmlformats.org/drawingml/2006/main">
            <a:pPr>
              <a:lnSpc>
                <a:spcPct val="114000"/>
              </a:lnSpc>
              <a:spcBef>
                <a:spcPts val="0"/>
              </a:spcBef>
              <a:spcAft>
                <a:spcPts val="800"/>
              </a:spcAft>
              <a:buNone/>
            </a:pPr>
            <a:r>
              <a:rPr sz="1600">
                <a:solidFill>
                  <a:prstClr val="black"/>
                </a:solidFill>
                <a:latin typeface="Helvetica Neue"/>
                <a:ea typeface="Helvetica Neue"/>
                <a:cs typeface="Helvetica Neue"/>
              </a:rPr>
              <a:t>• cached embeddings</a:t>
            </a:r>
          </a:p>
          <a:p xmlns:a="http://schemas.openxmlformats.org/drawingml/2006/main">
            <a:pPr>
              <a:lnSpc>
                <a:spcPct val="114000"/>
              </a:lnSpc>
              <a:spcBef>
                <a:spcPts val="0"/>
              </a:spcBef>
              <a:spcAft>
                <a:spcPts val="800"/>
              </a:spcAft>
              <a:buNone/>
            </a:pPr>
            <a:r>
              <a:rPr sz="1600">
                <a:solidFill>
                  <a:prstClr val="black"/>
                </a:solidFill>
                <a:latin typeface="Helvetica Neue"/>
                <a:ea typeface="Helvetica Neue"/>
                <a:cs typeface="Helvetica Neue"/>
              </a:rPr>
              <a:t>• frame-level input</a:t>
            </a:r>
          </a:p>
        </p:txBody>
      </p:sp>
      <p:sp>
        <p:nvSpPr>
          <p:cNvPr id="532" name="Google Shape;532;p58">
            <a:extLst xmlns:a="http://schemas.openxmlformats.org/drawingml/2006/main">
              <a:ext uri="{FF2B5EF4-FFF2-40B4-BE49-F238E27FC236}">
                <a16:creationId xmlns:a16="http://schemas.microsoft.com/office/drawing/2014/main" id="{DBEA618B-866F-6F23-43A9-78F2D3127872}"/>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EFD6AB9A-5F9E-5F59-51AB-3C8734130965}" type="slidenum">
              <a:t>4</a:t>
            </a:fld>
          </a:p>
        </p:txBody>
      </p:sp>
      <p:sp>
        <p:nvSpPr>
          <p:cNvPr id="2" name="Content Placeholder 1">
            <a:extLst xmlns:a="http://schemas.openxmlformats.org/drawingml/2006/main">
              <a:ext uri="{FF2B5EF4-FFF2-40B4-BE49-F238E27FC236}">
                <a16:creationId xmlns:a16="http://schemas.microsoft.com/office/drawing/2014/main" id="{7ED2788F-D3A7-1987-7296-9AC0BE2A1D11}"/>
              </a:ext>
            </a:extLst>
          </p:cNvPr>
          <p:cNvSpPr>
            <a:spLocks xmlns:a="http://schemas.openxmlformats.org/drawingml/2006/main" noGrp="1"/>
          </p:cNvSpPr>
          <p:nvPr>
            <p:ph idx="10"/>
          </p:nvPr>
        </p:nvSpPr>
        <p:spPr>
          <a:xfrm xmlns:a="http://schemas.openxmlformats.org/drawingml/2006/main">
            <a:off x="4318000" y="2374900"/>
            <a:ext cx="3568700" cy="3619500"/>
          </a:xfrm>
        </p:spPr>
        <p:txBody>
          <a:bodyPr xmlns:a="http://schemas.openxmlformats.org/drawingml/2006/main">
            <a:normAutofit fontScale="100000"/>
          </a:bodyPr>
          <a:lstStyle xmlns:a="http://schemas.openxmlformats.org/drawingml/2006/main"/>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02</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TASK HEAD</a:t>
            </a:r>
          </a:p>
          <a:p xmlns:a="http://schemas.openxmlformats.org/drawingml/2006/main">
            <a:pPr marL="0" indent="0" algn="l">
              <a:lnSpc>
                <a:spcPct val="114000"/>
              </a:lnSpc>
              <a:spcBef>
                <a:spcPts val="0"/>
              </a:spcBef>
              <a:spcAft>
                <a:spcPts val="1000"/>
              </a:spcAft>
              <a:buNone/>
            </a:pPr>
            <a:r>
              <a:rPr sz="1600" b="0" i="0" u="none" cap="none">
                <a:ln>
                  <a:noFill/>
                </a:ln>
                <a:solidFill>
                  <a:prstClr val="black"/>
                </a:solidFill>
                <a:latin typeface="Helvetica Neue"/>
                <a:ea typeface="Helvetica Neue"/>
                <a:cs typeface="Helvetica Neue"/>
              </a:rPr>
              <a:t>Dense 512 → 256 → 128 → 3-way softmax, with batch normalization, dropout, and L2 regularization.</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 glass</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 normal</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 scream</a:t>
            </a:r>
          </a:p>
        </p:txBody>
      </p:sp>
      <p:sp>
        <p:nvSpPr>
          <p:cNvPr id="3" name="Content Placeholder 2">
            <a:extLst xmlns:a="http://schemas.openxmlformats.org/drawingml/2006/main">
              <a:ext uri="{FF2B5EF4-FFF2-40B4-BE49-F238E27FC236}">
                <a16:creationId xmlns:a16="http://schemas.microsoft.com/office/drawing/2014/main" id="{0AB3D00A-6146-FC12-E7D6-0A4E6D490B4A}"/>
              </a:ext>
            </a:extLst>
          </p:cNvPr>
          <p:cNvSpPr>
            <a:spLocks xmlns:a="http://schemas.openxmlformats.org/drawingml/2006/main" noGrp="1"/>
          </p:cNvSpPr>
          <p:nvPr>
            <p:ph idx="11"/>
          </p:nvPr>
        </p:nvSpPr>
        <p:spPr>
          <a:xfrm xmlns:a="http://schemas.openxmlformats.org/drawingml/2006/main">
            <a:off x="8232273" y="2374900"/>
            <a:ext cx="3568700" cy="3619500"/>
          </a:xfrm>
        </p:spPr>
        <p:txBody>
          <a:bodyPr xmlns:a="http://schemas.openxmlformats.org/drawingml/2006/main">
            <a:normAutofit fontScale="100000"/>
          </a:bodyPr>
          <a:lstStyle xmlns:a="http://schemas.openxmlformats.org/drawingml/2006/main"/>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03</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OFFICIAL POLICY</a:t>
            </a:r>
          </a:p>
          <a:p xmlns:a="http://schemas.openxmlformats.org/drawingml/2006/main">
            <a:pPr marL="0" indent="0" algn="l">
              <a:lnSpc>
                <a:spcPct val="114000"/>
              </a:lnSpc>
              <a:spcBef>
                <a:spcPts val="0"/>
              </a:spcBef>
              <a:spcAft>
                <a:spcPts val="1000"/>
              </a:spcAft>
              <a:buNone/>
            </a:pPr>
            <a:r>
              <a:rPr sz="1600" b="0" i="0" u="none" cap="none">
                <a:ln>
                  <a:noFill/>
                </a:ln>
                <a:solidFill>
                  <a:prstClr val="black"/>
                </a:solidFill>
                <a:latin typeface="Helvetica Neue"/>
                <a:ea typeface="Helvetica Neue"/>
                <a:cs typeface="Helvetica Neue"/>
              </a:rPr>
              <a:t>Validation-selected classifier thresholds convert frame probabilities into one audio-level label.</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 glass: 0.95 / 1 frame</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 scream: 0.40 / 3 frames</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 no YAMNet fusion</a:t>
            </a:r>
          </a:p>
        </p:txBody>
      </p:sp>
      <p:sp>
        <p:nvSpPr>
          <p:cNvPr id="533" name="Google Shape;533;p58">
            <a:extLst xmlns:a="http://schemas.openxmlformats.org/drawingml/2006/main">
              <a:ext uri="{FF2B5EF4-FFF2-40B4-BE49-F238E27FC236}">
                <a16:creationId xmlns:a16="http://schemas.microsoft.com/office/drawing/2014/main" id="{24C70FFE-9D4B-9EEB-4231-9B1B74B40AFB}"/>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Retained model: YAMNet embeddings + custom head</a:t>
            </a:r>
          </a:p>
        </p:txBody>
      </p:sp>
    </p:spTree>
    <p:extLst>
      <p:ext uri="{BB962C8B-B14F-4D97-AF65-F5344CB8AC3E}">
        <p14:creationId xmlns:p14="http://schemas.microsoft.com/office/powerpoint/2010/main" val="2966171638"/>
      </p:ext>
    </p:extLst>
  </p:cSld>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393700" y="2032000"/>
            <a:ext cx="3568700" cy="1981200"/>
          </a:xfrm>
        </p:spPr>
        <p:txBody>
          <a:bodyPr/>
          <a:lstStyle/>
          <a:p>
            <a:pPr marL="0" indent="0" algn="l">
              <a:lnSpc>
                <a:spcPct val="110000"/>
              </a:lnSpc>
              <a:spcBef>
                <a:spcPts val="0"/>
              </a:spcBef>
              <a:spcAft>
                <a:spcPts val="0"/>
              </a:spcAft>
              <a:buNone/>
              <a:defRPr/>
            </a:pPr>
            <a:r>
              <a:rPr sz="2400" b="0" i="0" u="none" cap="none">
                <a:solidFill>
                  <a:prstClr val="black"/>
                </a:solidFill>
                <a:latin typeface="Helvetica Neue"/>
                <a:ea typeface="Helvetica Neue"/>
                <a:cs typeface="Helvetica Neue"/>
              </a:rPr>
              <a:t>DATA QUALITY</a:t>
            </a:r>
            <a:endParaRPr sz="2400" b="0" i="0" u="none" cap="none">
              <a:solidFill>
                <a:prstClr val="black"/>
              </a:solidFill>
              <a:latin typeface="Helvetica Neue"/>
              <a:ea typeface="Helvetica Neue"/>
              <a:cs typeface="Helvetica Neue"/>
            </a:endParaRPr>
          </a:p>
          <a:p>
            <a:pPr marL="0" indent="0" algn="l">
              <a:lnSpc>
                <a:spcPct val="100000"/>
              </a:lnSpc>
              <a:spcBef>
                <a:spcPts val="1300"/>
              </a:spcBef>
              <a:spcAft>
                <a:spcPts val="1300"/>
              </a:spcAft>
              <a:buNone/>
              <a:defRPr/>
            </a:pPr>
            <a:r>
              <a:rPr sz="1800" b="0" i="0" u="none" cap="none">
                <a:solidFill>
                  <a:prstClr val="black"/>
                </a:solidFill>
                <a:latin typeface="Helvetica Neue"/>
                <a:ea typeface="Helvetica Neue"/>
                <a:cs typeface="Helvetica Neue"/>
              </a:rPr>
              <a:t>We excluded 158 broad “smash / breaking / crushing” glass clips and kept only verified glass or shatter events.</a:t>
            </a:r>
            <a:endParaRPr sz="1800" b="0" i="0" u="none" cap="none">
              <a:solidFill>
                <a:prstClr val="black"/>
              </a:solidFill>
              <a:latin typeface="Helvetica Neue"/>
              <a:ea typeface="Helvetica Neue"/>
              <a:cs typeface="Helvetica Neue"/>
            </a:endParaRPr>
          </a:p>
        </p:txBody>
      </p:sp>
      <p:sp>
        <p:nvSpPr>
          <p:cNvPr id="2" name="Slide Number Placeholder 1"/>
          <p:cNvSpPr>
            <a:spLocks noGrp="1"/>
          </p:cNvSpPr>
          <p:nvPr>
            <p:ph type="sldNum" idx="4"/>
          </p:nvPr>
        </p:nvSpPr>
        <p:spPr/>
        <p:txBody>
          <a:bodyPr/>
          <a:lstStyle/>
          <a:p>
            <a:pPr>
              <a:defRPr/>
            </a:pPr>
            <a:fld id="{EE5B3003-2C54-13C6-9832-7637201064DE}" type="slidenum">
              <a:rPr lang="en-US" altLang="en-US"/>
              <a:pPr>
                <a:defRPr/>
              </a:pPr>
              <a:t>5</a:t>
            </a:fld>
            <a:endParaRPr lang="en-US" altLang="en-US"/>
          </a:p>
        </p:txBody>
      </p:sp>
      <p:sp>
        <p:nvSpPr>
          <p:cNvPr id="11" name="Content Placeholder 10"/>
          <p:cNvSpPr>
            <a:spLocks noGrp="1"/>
          </p:cNvSpPr>
          <p:nvPr>
            <p:ph idx="10"/>
          </p:nvPr>
        </p:nvSpPr>
        <p:spPr>
          <a:xfrm>
            <a:off x="4318000" y="2032000"/>
            <a:ext cx="3568700" cy="1981200"/>
          </a:xfrm>
        </p:spPr>
        <p:txBody>
          <a:bodyPr/>
          <a:lstStyle/>
          <a:p>
            <a:pPr marL="0" indent="0" algn="l">
              <a:lnSpc>
                <a:spcPct val="110000"/>
              </a:lnSpc>
              <a:spcBef>
                <a:spcPts val="0"/>
              </a:spcBef>
              <a:spcAft>
                <a:spcPts val="0"/>
              </a:spcAft>
              <a:buNone/>
              <a:defRPr/>
            </a:pPr>
            <a:r>
              <a:rPr sz="2400" b="0" i="0" u="none" cap="none">
                <a:solidFill>
                  <a:prstClr val="black"/>
                </a:solidFill>
                <a:latin typeface="Helvetica Neue"/>
                <a:ea typeface="Helvetica Neue"/>
                <a:cs typeface="Helvetica Neue"/>
              </a:rPr>
              <a:t>LEAKAGE CONTROL</a:t>
            </a:r>
            <a:endParaRPr sz="2400" b="0" i="0" u="none" cap="none">
              <a:solidFill>
                <a:prstClr val="black"/>
              </a:solidFill>
              <a:latin typeface="Helvetica Neue"/>
              <a:ea typeface="Helvetica Neue"/>
              <a:cs typeface="Helvetica Neue"/>
            </a:endParaRPr>
          </a:p>
          <a:p>
            <a:pPr marL="0" indent="0" algn="l">
              <a:lnSpc>
                <a:spcPct val="100000"/>
              </a:lnSpc>
              <a:spcBef>
                <a:spcPts val="1300"/>
              </a:spcBef>
              <a:spcAft>
                <a:spcPts val="1300"/>
              </a:spcAft>
              <a:buNone/>
              <a:defRPr/>
            </a:pPr>
            <a:r>
              <a:rPr sz="1800" b="0" i="0" u="none" cap="none">
                <a:solidFill>
                  <a:prstClr val="black"/>
                </a:solidFill>
                <a:latin typeface="Helvetica Neue"/>
                <a:ea typeface="Helvetica Neue"/>
                <a:cs typeface="Helvetica Neue"/>
              </a:rPr>
              <a:t>Splits were made by original source. Duplicate files and shared YouTube IDs cannot cross train, validation, and test.</a:t>
            </a:r>
            <a:endParaRPr sz="1800" b="0" i="0" u="none" cap="none">
              <a:solidFill>
                <a:prstClr val="black"/>
              </a:solidFill>
              <a:latin typeface="Helvetica Neue"/>
              <a:ea typeface="Helvetica Neue"/>
              <a:cs typeface="Helvetica Neue"/>
            </a:endParaRPr>
          </a:p>
        </p:txBody>
      </p:sp>
      <p:sp>
        <p:nvSpPr>
          <p:cNvPr id="12" name="Content Placeholder 11"/>
          <p:cNvSpPr>
            <a:spLocks noGrp="1"/>
          </p:cNvSpPr>
          <p:nvPr>
            <p:ph idx="11"/>
          </p:nvPr>
        </p:nvSpPr>
        <p:spPr>
          <a:xfrm>
            <a:off x="8232273" y="2032000"/>
            <a:ext cx="3568700" cy="1981200"/>
          </a:xfrm>
        </p:spPr>
        <p:txBody>
          <a:bodyPr/>
          <a:lstStyle/>
          <a:p>
            <a:pPr marL="0" indent="0" algn="l">
              <a:lnSpc>
                <a:spcPct val="110000"/>
              </a:lnSpc>
              <a:spcBef>
                <a:spcPts val="0"/>
              </a:spcBef>
              <a:spcAft>
                <a:spcPts val="0"/>
              </a:spcAft>
              <a:buNone/>
              <a:defRPr/>
            </a:pPr>
            <a:r>
              <a:rPr sz="2400" b="0" i="0" u="none" cap="none">
                <a:solidFill>
                  <a:prstClr val="black"/>
                </a:solidFill>
                <a:latin typeface="Helvetica Neue"/>
                <a:ea typeface="Helvetica Neue"/>
                <a:cs typeface="Helvetica Neue"/>
              </a:rPr>
              <a:t>SELECTION RULE</a:t>
            </a:r>
            <a:endParaRPr sz="2400" b="0" i="0" u="none" cap="none">
              <a:solidFill>
                <a:prstClr val="black"/>
              </a:solidFill>
              <a:latin typeface="Helvetica Neue"/>
              <a:ea typeface="Helvetica Neue"/>
              <a:cs typeface="Helvetica Neue"/>
            </a:endParaRPr>
          </a:p>
          <a:p>
            <a:pPr marL="0" indent="0" algn="l">
              <a:lnSpc>
                <a:spcPct val="100000"/>
              </a:lnSpc>
              <a:spcBef>
                <a:spcPts val="1300"/>
              </a:spcBef>
              <a:spcAft>
                <a:spcPts val="1300"/>
              </a:spcAft>
              <a:buNone/>
              <a:defRPr/>
            </a:pPr>
            <a:r>
              <a:rPr sz="1800" b="0" i="0" u="none" cap="none">
                <a:solidFill>
                  <a:prstClr val="black"/>
                </a:solidFill>
                <a:latin typeface="Helvetica Neue"/>
                <a:ea typeface="Helvetica Neue"/>
                <a:cs typeface="Helvetica Neue"/>
              </a:rPr>
              <a:t>Candidates and thresholds use validation only. The 165-group test set is evaluated once after selection.</a:t>
            </a:r>
            <a:endParaRPr sz="1800" b="0" i="0" u="none" cap="none">
              <a:solidFill>
                <a:prstClr val="black"/>
              </a:solidFill>
              <a:latin typeface="Helvetica Neue"/>
              <a:ea typeface="Helvetica Neue"/>
              <a:cs typeface="Helvetica Neue"/>
            </a:endParaRPr>
          </a:p>
        </p:txBody>
      </p:sp>
      <p:sp>
        <p:nvSpPr>
          <p:cNvPr id="3" name="Title 2"/>
          <p:cNvSpPr>
            <a:spLocks noGrp="1"/>
          </p:cNvSpPr>
          <p:nvPr>
            <p:ph type="title" idx="0"/>
          </p:nvPr>
        </p:nvSpPr>
        <p:spPr/>
        <p:txBody>
          <a:bodyPr/>
          <a:lstStyle/>
          <a:p>
            <a:pPr lvl="0">
              <a:defRPr/>
            </a:pPr>
            <a:r>
              <a:rPr lang="ko-KR" altLang="en-US"/>
              <a:t>A stricter experiment, not just a larger dataset</a:t>
            </a:r>
            <a:endParaRPr lang="ko-KR" altLang="en-US"/>
          </a:p>
        </p:txBody>
      </p:sp>
      <p:sp>
        <p:nvSpPr>
          <p:cNvPr id="13" name="Content Placeholder 9"/>
          <p:cNvSpPr>
            <a:spLocks noGrp="1"/>
          </p:cNvSpPr>
          <p:nvPr/>
        </p:nvSpPr>
        <p:spPr>
          <a:xfrm>
            <a:off x="393700" y="4133787"/>
            <a:ext cx="3568700" cy="1860613"/>
          </a:xfrm>
          <a:prstGeom prst="rect">
            <a:avLst/>
          </a:prstGeom>
        </p:spPr>
        <p:txBody>
          <a:bodyPr vert="horz" lIns="0" tIns="0" rIns="0" bIns="0">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320040" indent="-226060" algn="l">
              <a:lnSpc>
                <a:spcPct val="110000"/>
              </a:lnSpc>
              <a:spcBef>
                <a:spcPts val="0"/>
              </a:spcBef>
              <a:spcAft>
                <a:spcPts val="0"/>
              </a:spcAft>
              <a:buChar char="→"/>
              <a:defRPr/>
            </a:pPr>
            <a:r>
              <a:rPr sz="1800" b="0" i="0" u="none" cap="none">
                <a:solidFill>
                  <a:prstClr val="black"/>
                </a:solidFill>
                <a:latin typeface="Helvetica Neue"/>
                <a:ea typeface="Helvetica Neue"/>
                <a:cs typeface="Helvetica Neue"/>
              </a:rPr>
              <a:t>Train: 732 groups</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0"/>
              </a:spcAft>
              <a:buChar char="→"/>
              <a:defRPr/>
            </a:pPr>
            <a:r>
              <a:rPr sz="1800" b="0" i="0" u="none" cap="none">
                <a:solidFill>
                  <a:prstClr val="black"/>
                </a:solidFill>
                <a:latin typeface="Helvetica Neue"/>
                <a:ea typeface="Helvetica Neue"/>
                <a:cs typeface="Helvetica Neue"/>
              </a:rPr>
              <a:t>Validation: 156 groups</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0"/>
              </a:spcAft>
              <a:buChar char="→"/>
              <a:defRPr/>
            </a:pPr>
            <a:r>
              <a:rPr sz="1800" b="0" i="0" u="none" cap="none">
                <a:solidFill>
                  <a:prstClr val="black"/>
                </a:solidFill>
                <a:latin typeface="Helvetica Neue"/>
                <a:ea typeface="Helvetica Neue"/>
                <a:cs typeface="Helvetica Neue"/>
              </a:rPr>
              <a:t>Test: 165 groups</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1000"/>
              </a:spcAft>
              <a:buChar char="→"/>
              <a:defRPr/>
            </a:pPr>
            <a:r>
              <a:rPr sz="1800" b="0" i="0" u="none" cap="none">
                <a:solidFill>
                  <a:prstClr val="black"/>
                </a:solidFill>
                <a:latin typeface="Helvetica Neue"/>
                <a:ea typeface="Helvetica Neue"/>
                <a:cs typeface="Helvetica Neue"/>
              </a:rPr>
              <a:t>Seed: 42</a:t>
            </a:r>
            <a:endParaRPr sz="1800" b="0" i="0" u="none" cap="none">
              <a:solidFill>
                <a:prstClr val="black"/>
              </a:solidFill>
              <a:latin typeface="Helvetica Neue"/>
              <a:ea typeface="Helvetica Neue"/>
              <a:cs typeface="Helvetica Neue"/>
            </a:endParaRPr>
          </a:p>
        </p:txBody>
      </p:sp>
      <p:sp>
        <p:nvSpPr>
          <p:cNvPr id="20" name="Content Placeholder 9"/>
          <p:cNvSpPr>
            <a:spLocks noGrp="1"/>
          </p:cNvSpPr>
          <p:nvPr/>
        </p:nvSpPr>
        <p:spPr>
          <a:xfrm>
            <a:off x="4307778" y="4133787"/>
            <a:ext cx="3568700" cy="1860613"/>
          </a:xfrm>
          <a:prstGeom prst="rect">
            <a:avLst/>
          </a:prstGeom>
        </p:spPr>
        <p:txBody>
          <a:bodyPr vert="horz" lIns="0" tIns="0" rIns="0" bIns="0">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320040" indent="-226060" algn="l">
              <a:lnSpc>
                <a:spcPct val="110000"/>
              </a:lnSpc>
              <a:spcBef>
                <a:spcPts val="0"/>
              </a:spcBef>
              <a:spcAft>
                <a:spcPts val="0"/>
              </a:spcAft>
              <a:buChar char="→"/>
              <a:defRPr/>
            </a:pPr>
            <a:r>
              <a:rPr sz="1800" b="0" i="0" u="none" cap="none">
                <a:solidFill>
                  <a:prstClr val="black"/>
                </a:solidFill>
                <a:latin typeface="Helvetica Neue"/>
                <a:ea typeface="Helvetica Neue"/>
                <a:cs typeface="Helvetica Neue"/>
              </a:rPr>
              <a:t>325 duplicate aliases merged</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0"/>
              </a:spcAft>
              <a:buChar char="→"/>
              <a:defRPr/>
            </a:pPr>
            <a:r>
              <a:rPr sz="1800" b="0" i="0" u="none" cap="none">
                <a:solidFill>
                  <a:prstClr val="black"/>
                </a:solidFill>
                <a:latin typeface="Helvetica Neue"/>
                <a:ea typeface="Helvetica Neue"/>
                <a:cs typeface="Helvetica Neue"/>
              </a:rPr>
              <a:t>Original-source split</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0"/>
              </a:spcAft>
              <a:buChar char="→"/>
              <a:defRPr/>
            </a:pPr>
            <a:r>
              <a:rPr sz="1800" b="0" i="0" u="none" cap="none">
                <a:solidFill>
                  <a:prstClr val="black"/>
                </a:solidFill>
                <a:latin typeface="Helvetica Neue"/>
                <a:ea typeface="Helvetica Neue"/>
                <a:cs typeface="Helvetica Neue"/>
              </a:rPr>
              <a:t>No test threshold tuning</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1000"/>
              </a:spcAft>
              <a:buChar char="→"/>
              <a:defRPr/>
            </a:pPr>
            <a:r>
              <a:rPr sz="1800" b="0" i="0" u="none" cap="none">
                <a:solidFill>
                  <a:prstClr val="black"/>
                </a:solidFill>
                <a:latin typeface="Helvetica Neue"/>
                <a:ea typeface="Helvetica Neue"/>
                <a:cs typeface="Helvetica Neue"/>
              </a:rPr>
              <a:t>Independent groups</a:t>
            </a:r>
            <a:endParaRPr sz="1800" b="0" i="0" u="none" cap="none">
              <a:solidFill>
                <a:prstClr val="black"/>
              </a:solidFill>
              <a:latin typeface="Helvetica Neue"/>
              <a:ea typeface="Helvetica Neue"/>
              <a:cs typeface="Helvetica Neue"/>
            </a:endParaRPr>
          </a:p>
        </p:txBody>
      </p:sp>
      <p:sp>
        <p:nvSpPr>
          <p:cNvPr id="21" name="Content Placeholder 9"/>
          <p:cNvSpPr>
            <a:spLocks noGrp="1"/>
          </p:cNvSpPr>
          <p:nvPr/>
        </p:nvSpPr>
        <p:spPr>
          <a:xfrm>
            <a:off x="8233007" y="4133787"/>
            <a:ext cx="3568700" cy="1860613"/>
          </a:xfrm>
          <a:prstGeom prst="rect">
            <a:avLst/>
          </a:prstGeom>
        </p:spPr>
        <p:txBody>
          <a:bodyPr vert="horz" lIns="0" tIns="0" rIns="0" bIns="0">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320040" indent="-226060" algn="l">
              <a:lnSpc>
                <a:spcPct val="110000"/>
              </a:lnSpc>
              <a:spcBef>
                <a:spcPts val="0"/>
              </a:spcBef>
              <a:spcAft>
                <a:spcPts val="0"/>
              </a:spcAft>
              <a:buChar char="→"/>
              <a:defRPr/>
            </a:pPr>
            <a:r>
              <a:rPr sz="1800" b="0" i="0" u="none" cap="none">
                <a:solidFill>
                  <a:prstClr val="black"/>
                </a:solidFill>
                <a:latin typeface="Helvetica Neue"/>
                <a:ea typeface="Helvetica Neue"/>
                <a:cs typeface="Helvetica Neue"/>
              </a:rPr>
              <a:t>Validation promotion gate:</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0"/>
              </a:spcAft>
              <a:buChar char="→"/>
              <a:defRPr/>
            </a:pPr>
            <a:r>
              <a:rPr sz="1800" b="0" i="0" u="none" cap="none">
                <a:solidFill>
                  <a:prstClr val="black"/>
                </a:solidFill>
                <a:latin typeface="Helvetica Neue"/>
                <a:ea typeface="Helvetica Neue"/>
                <a:cs typeface="Helvetica Neue"/>
              </a:rPr>
              <a:t>Macro F1 &gt; retained model</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0"/>
              </a:spcAft>
              <a:buChar char="→"/>
              <a:defRPr/>
            </a:pPr>
            <a:r>
              <a:rPr sz="1800" b="0" i="0" u="none" cap="none">
                <a:solidFill>
                  <a:prstClr val="black"/>
                </a:solidFill>
                <a:latin typeface="Helvetica Neue"/>
                <a:ea typeface="Helvetica Neue"/>
                <a:cs typeface="Helvetica Neue"/>
              </a:rPr>
              <a:t>Normal false alarm ≤ 5%</a:t>
            </a:r>
            <a:endParaRPr sz="1800" b="0" i="0" u="none" cap="none">
              <a:solidFill>
                <a:prstClr val="black"/>
              </a:solidFill>
              <a:latin typeface="Helvetica Neue"/>
              <a:ea typeface="Helvetica Neue"/>
              <a:cs typeface="Helvetica Neue"/>
            </a:endParaRPr>
          </a:p>
          <a:p>
            <a:pPr marL="320040" indent="-226060" algn="l">
              <a:lnSpc>
                <a:spcPct val="110000"/>
              </a:lnSpc>
              <a:spcBef>
                <a:spcPts val="1000"/>
              </a:spcBef>
              <a:spcAft>
                <a:spcPts val="1000"/>
              </a:spcAft>
              <a:buChar char="→"/>
              <a:defRPr/>
            </a:pPr>
            <a:r>
              <a:rPr sz="1800" b="0" i="0" u="none" cap="none">
                <a:solidFill>
                  <a:prstClr val="black"/>
                </a:solidFill>
                <a:latin typeface="Helvetica Neue"/>
                <a:ea typeface="Helvetica Neue"/>
                <a:cs typeface="Helvetica Neue"/>
              </a:rPr>
              <a:t>Both event recalls ≥ 70%</a:t>
            </a:r>
            <a:endParaRPr sz="1800" b="0" i="0" u="none" cap="none">
              <a:solidFill>
                <a:prstClr val="black"/>
              </a:solidFill>
              <a:latin typeface="Helvetica Neue"/>
              <a:ea typeface="Helvetica Neue"/>
              <a:cs typeface="Helvetica Neue"/>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4"/>
          </p:nvPr>
        </p:nvSpPr>
        <p:spPr/>
        <p:txBody>
          <a:bodyPr/>
          <a:lstStyle/>
          <a:p>
            <a:pPr>
              <a:defRPr/>
            </a:pPr>
            <a:fld id="{8C630A04-5A25-9E0C-9436-126091DB86B3}" type="slidenum">
              <a:rPr lang="en-US" altLang="en-US"/>
              <a:pPr>
                <a:defRPr/>
              </a:pPr>
              <a:t>6</a:t>
            </a:fld>
            <a:endParaRPr lang="en-US" altLang="en-US"/>
          </a:p>
        </p:txBody>
      </p:sp>
      <p:sp>
        <p:nvSpPr>
          <p:cNvPr id="3" name="Title 2"/>
          <p:cNvSpPr>
            <a:spLocks noGrp="1"/>
          </p:cNvSpPr>
          <p:nvPr>
            <p:ph type="title" idx="0"/>
          </p:nvPr>
        </p:nvSpPr>
        <p:spPr>
          <a:xfrm>
            <a:off x="393700" y="344009"/>
            <a:ext cx="7484432" cy="687058"/>
          </a:xfrm>
        </p:spPr>
        <p:txBody>
          <a:bodyPr/>
          <a:lstStyle/>
          <a:p>
            <a:pPr lvl="0">
              <a:defRPr/>
            </a:pPr>
            <a:r>
              <a:rPr lang="ko-KR" altLang="en-US"/>
              <a:t>Official test results</a:t>
            </a:r>
            <a:endParaRPr lang="ko-KR" altLang="en-US"/>
          </a:p>
        </p:txBody>
      </p:sp>
      <p:sp>
        <p:nvSpPr>
          <p:cNvPr id="6" name="Rounded Rectangle 5"/>
          <p:cNvSpPr>
            <a:spLocks noGrp="1"/>
          </p:cNvSpPr>
          <p:nvPr/>
        </p:nvSpPr>
        <p:spPr>
          <a:xfrm>
            <a:off x="393700" y="4356100"/>
            <a:ext cx="2334563" cy="1882398"/>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19" name="Rounded Rectangle 18"/>
          <p:cNvSpPr>
            <a:spLocks noGrp="1"/>
          </p:cNvSpPr>
          <p:nvPr/>
        </p:nvSpPr>
        <p:spPr>
          <a:xfrm>
            <a:off x="2968634" y="4356100"/>
            <a:ext cx="2334563" cy="1882398"/>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20" name="Rounded Rectangle 19"/>
          <p:cNvSpPr>
            <a:spLocks noGrp="1"/>
          </p:cNvSpPr>
          <p:nvPr/>
        </p:nvSpPr>
        <p:spPr>
          <a:xfrm>
            <a:off x="5543569" y="4356100"/>
            <a:ext cx="2334563" cy="1882398"/>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25" name="Footer Placeholder 24"/>
          <p:cNvSpPr>
            <a:spLocks noGrp="1"/>
          </p:cNvSpPr>
          <p:nvPr>
            <p:ph type="ftr" idx="3"/>
          </p:nvPr>
        </p:nvSpPr>
        <p:spPr/>
        <p:txBody>
          <a:bodyPr/>
          <a:lstStyle/>
          <a:p>
            <a:pPr lvl="0">
              <a:defRPr/>
            </a:pPr>
            <a:r>
              <a:rPr sz="1100"/>
              <a:t>*Strict-label test set · 165 independent source groups · June 20, 2026</a:t>
            </a:r>
            <a:endParaRPr sz="1100"/>
          </a:p>
        </p:txBody>
      </p:sp>
      <p:sp>
        <p:nvSpPr>
          <p:cNvPr id="28" name="Content Placeholder 2"/>
          <p:cNvSpPr>
            <a:spLocks noGrp="1"/>
          </p:cNvSpPr>
          <p:nvPr/>
        </p:nvSpPr>
        <p:spPr>
          <a:xfrm>
            <a:off x="8232273" y="2374900"/>
            <a:ext cx="3568700" cy="3863597"/>
          </a:xfrm>
          <a:prstGeom prst="rect">
            <a:avLst/>
          </a:prstGeom>
        </p:spPr>
        <p:txBody>
          <a:bodyPr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sz="1800">
                <a:solidFill>
                  <a:prstClr val="black"/>
                </a:solidFill>
                <a:latin typeface="Helvetica Neue Medium"/>
                <a:ea typeface="Helvetica Neue Medium"/>
                <a:cs typeface="Helvetica Neue Medium"/>
              </a:rPr>
              <a:t>WHAT THE NUMBERS MEAN</a:t>
            </a:r>
            <a:endParaRPr sz="1800">
              <a:solidFill>
                <a:prstClr val="black"/>
              </a:solidFill>
              <a:latin typeface="Helvetica Neue Medium"/>
              <a:ea typeface="Helvetica Neue Medium"/>
              <a:cs typeface="Helvetica Neue Medium"/>
            </a:endParaRPr>
          </a:p>
          <a:p>
            <a:pPr marL="0" indent="0">
              <a:lnSpc>
                <a:spcPct val="114000"/>
              </a:lnSpc>
              <a:spcBef>
                <a:spcPts val="0"/>
              </a:spcBef>
              <a:spcAft>
                <a:spcPts val="800"/>
              </a:spcAft>
              <a:buNone/>
              <a:defRPr/>
            </a:pPr>
            <a:r>
              <a:rPr sz="1400">
                <a:solidFill>
                  <a:prstClr val="black"/>
                </a:solidFill>
                <a:latin typeface="Helvetica Neue"/>
                <a:ea typeface="Helvetica Neue"/>
                <a:cs typeface="Helvetica Neue"/>
              </a:rPr>
              <a:t>The retained model recovered most glass events, but missed 11 of 38 screams and raised 13 alarms on 98 normal groups.</a:t>
            </a:r>
            <a:endParaRPr sz="1400">
              <a:solidFill>
                <a:prstClr val="black"/>
              </a:solidFill>
              <a:latin typeface="Helvetica Neue"/>
              <a:ea typeface="Helvetica Neue"/>
              <a:cs typeface="Helvetica Neue"/>
            </a:endParaRPr>
          </a:p>
          <a:p>
            <a:pPr marL="0" indent="0">
              <a:lnSpc>
                <a:spcPct val="114000"/>
              </a:lnSpc>
              <a:spcBef>
                <a:spcPts val="0"/>
              </a:spcBef>
              <a:spcAft>
                <a:spcPts val="800"/>
              </a:spcAft>
              <a:buNone/>
              <a:defRPr/>
            </a:pPr>
            <a:endParaRPr sz="1400">
              <a:solidFill>
                <a:prstClr val="black"/>
              </a:solidFill>
              <a:latin typeface="Helvetica Neue"/>
              <a:ea typeface="Helvetica Neue"/>
              <a:cs typeface="Helvetica Neue"/>
            </a:endParaRPr>
          </a:p>
          <a:p>
            <a:pPr marL="0" indent="0">
              <a:lnSpc>
                <a:spcPct val="114000"/>
              </a:lnSpc>
              <a:spcBef>
                <a:spcPts val="0"/>
              </a:spcBef>
              <a:spcAft>
                <a:spcPts val="800"/>
              </a:spcAft>
              <a:buNone/>
              <a:defRPr/>
            </a:pPr>
            <a:r>
              <a:rPr sz="1400">
                <a:solidFill>
                  <a:prstClr val="black"/>
                </a:solidFill>
                <a:latin typeface="Helvetica Neue"/>
                <a:ea typeface="Helvetica Neue"/>
                <a:cs typeface="Helvetica Neue"/>
              </a:rPr>
              <a:t>No candidate passed the validation promotion gate, so the operating model was not replaced.</a:t>
            </a:r>
            <a:endParaRPr sz="1400">
              <a:solidFill>
                <a:prstClr val="black"/>
              </a:solidFill>
              <a:latin typeface="Helvetica Neue"/>
              <a:ea typeface="Helvetica Neue"/>
              <a:cs typeface="Helvetica Neue"/>
            </a:endParaRPr>
          </a:p>
        </p:txBody>
      </p:sp>
      <p:sp>
        <p:nvSpPr>
          <p:cNvPr id="30" name="Content Placeholder 9"/>
          <p:cNvSpPr>
            <a:spLocks noGrp="1"/>
          </p:cNvSpPr>
          <p:nvPr/>
        </p:nvSpPr>
        <p:spPr>
          <a:xfrm>
            <a:off x="565150" y="4563078"/>
            <a:ext cx="1612900" cy="903750"/>
          </a:xfrm>
          <a:prstGeom prst="rect">
            <a:avLst/>
          </a:prstGeom>
        </p:spPr>
        <p:txBody>
          <a:bodyPr vert="horz" lIns="0" tIns="0" rIns="0" bIns="0" anchor="b">
            <a:normAutofit fontScale="85000" lnSpcReduction="200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13.3%</a:t>
            </a:r>
            <a:endParaRPr sz="5000" u="none" cap="none">
              <a:solidFill>
                <a:prstClr val="black"/>
              </a:solidFill>
              <a:latin typeface="Helvetica Neue"/>
              <a:ea typeface="Helvetica Neue"/>
              <a:cs typeface="Helvetica Neue"/>
            </a:endParaRPr>
          </a:p>
        </p:txBody>
      </p:sp>
      <p:sp>
        <p:nvSpPr>
          <p:cNvPr id="31" name="Content Placeholder 9"/>
          <p:cNvSpPr>
            <a:spLocks noGrp="1"/>
          </p:cNvSpPr>
          <p:nvPr/>
        </p:nvSpPr>
        <p:spPr>
          <a:xfrm>
            <a:off x="656590" y="5466828"/>
            <a:ext cx="1612900" cy="392952"/>
          </a:xfrm>
          <a:prstGeom prst="rect">
            <a:avLst/>
          </a:prstGeom>
        </p:spPr>
        <p:txBody>
          <a:bodyPr vert="horz" lIns="0" tIns="0" rIns="0" bIns="0" anchor="b">
            <a:normAutofit fontScale="73263"/>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1600">
                <a:solidFill>
                  <a:prstClr val="black"/>
                </a:solidFill>
                <a:latin typeface="Helvetica Neue"/>
                <a:ea typeface="Helvetica Neue"/>
                <a:cs typeface="Helvetica Neue"/>
              </a:rPr>
              <a:t>Normal false alarm · 13/98</a:t>
            </a:r>
            <a:endParaRPr sz="1600">
              <a:solidFill>
                <a:prstClr val="black"/>
              </a:solidFill>
              <a:latin typeface="Helvetica Neue"/>
              <a:ea typeface="Helvetica Neue"/>
              <a:cs typeface="Helvetica Neue"/>
            </a:endParaRPr>
          </a:p>
        </p:txBody>
      </p:sp>
      <p:sp>
        <p:nvSpPr>
          <p:cNvPr id="32" name="Content Placeholder 9"/>
          <p:cNvSpPr>
            <a:spLocks noGrp="1"/>
          </p:cNvSpPr>
          <p:nvPr/>
        </p:nvSpPr>
        <p:spPr>
          <a:xfrm>
            <a:off x="3172795" y="4563078"/>
            <a:ext cx="1612900" cy="903750"/>
          </a:xfrm>
          <a:prstGeom prst="rect">
            <a:avLst/>
          </a:prstGeom>
        </p:spPr>
        <p:txBody>
          <a:bodyPr vert="horz" lIns="0" tIns="0" rIns="0" bIns="0" anchor="b">
            <a:normAutofit fontScale="85000" lnSpcReduction="200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82.8%</a:t>
            </a:r>
            <a:endParaRPr sz="5000" u="none" cap="none">
              <a:solidFill>
                <a:prstClr val="black"/>
              </a:solidFill>
              <a:latin typeface="Helvetica Neue"/>
              <a:ea typeface="Helvetica Neue"/>
              <a:cs typeface="Helvetica Neue"/>
            </a:endParaRPr>
          </a:p>
        </p:txBody>
      </p:sp>
      <p:sp>
        <p:nvSpPr>
          <p:cNvPr id="33" name="Content Placeholder 9"/>
          <p:cNvSpPr>
            <a:spLocks noGrp="1"/>
          </p:cNvSpPr>
          <p:nvPr/>
        </p:nvSpPr>
        <p:spPr>
          <a:xfrm>
            <a:off x="3264235" y="5466828"/>
            <a:ext cx="1612900" cy="392952"/>
          </a:xfrm>
          <a:prstGeom prst="rect">
            <a:avLst/>
          </a:prstGeom>
        </p:spPr>
        <p:txBody>
          <a:bodyPr vert="horz" lIns="0" tIns="0" rIns="0" bIns="0" anchor="b">
            <a:normAutofit fontScale="85000" lnSpcReduction="200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1600">
                <a:solidFill>
                  <a:prstClr val="black"/>
                </a:solidFill>
                <a:latin typeface="Helvetica Neue"/>
                <a:ea typeface="Helvetica Neue"/>
                <a:cs typeface="Helvetica Neue"/>
              </a:rPr>
              <a:t>Glass recall · 24/29</a:t>
            </a:r>
            <a:endParaRPr sz="1600">
              <a:solidFill>
                <a:prstClr val="black"/>
              </a:solidFill>
              <a:latin typeface="Helvetica Neue"/>
              <a:ea typeface="Helvetica Neue"/>
              <a:cs typeface="Helvetica Neue"/>
            </a:endParaRPr>
          </a:p>
        </p:txBody>
      </p:sp>
      <p:sp>
        <p:nvSpPr>
          <p:cNvPr id="35" name="Content Placeholder 9"/>
          <p:cNvSpPr>
            <a:spLocks noGrp="1"/>
          </p:cNvSpPr>
          <p:nvPr/>
        </p:nvSpPr>
        <p:spPr>
          <a:xfrm>
            <a:off x="5771616" y="4563078"/>
            <a:ext cx="1612900" cy="903750"/>
          </a:xfrm>
          <a:prstGeom prst="rect">
            <a:avLst/>
          </a:prstGeom>
        </p:spPr>
        <p:txBody>
          <a:bodyPr vert="horz" lIns="0" tIns="0" rIns="0" bIns="0" anchor="b">
            <a:normAutofit fontScale="85000" lnSpcReduction="200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71.1%</a:t>
            </a:r>
            <a:endParaRPr sz="5000" u="none" cap="none">
              <a:solidFill>
                <a:prstClr val="black"/>
              </a:solidFill>
              <a:latin typeface="Helvetica Neue"/>
              <a:ea typeface="Helvetica Neue"/>
              <a:cs typeface="Helvetica Neue"/>
            </a:endParaRPr>
          </a:p>
        </p:txBody>
      </p:sp>
      <p:sp>
        <p:nvSpPr>
          <p:cNvPr id="36" name="Content Placeholder 9"/>
          <p:cNvSpPr>
            <a:spLocks noGrp="1"/>
          </p:cNvSpPr>
          <p:nvPr/>
        </p:nvSpPr>
        <p:spPr>
          <a:xfrm>
            <a:off x="5863056" y="5466828"/>
            <a:ext cx="1612900" cy="392952"/>
          </a:xfrm>
          <a:prstGeom prst="rect">
            <a:avLst/>
          </a:prstGeom>
        </p:spPr>
        <p:txBody>
          <a:bodyPr vert="horz" lIns="0" tIns="0" rIns="0" bIns="0" anchor="b">
            <a:normAutofit fontScale="85000" lnSpcReduction="200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1600">
                <a:solidFill>
                  <a:prstClr val="black"/>
                </a:solidFill>
                <a:latin typeface="Helvetica Neue"/>
                <a:ea typeface="Helvetica Neue"/>
                <a:cs typeface="Helvetica Neue"/>
              </a:rPr>
              <a:t>Scream recall · 27/38</a:t>
            </a:r>
            <a:endParaRPr sz="1600">
              <a:solidFill>
                <a:prstClr val="black"/>
              </a:solidFill>
              <a:latin typeface="Helvetica Neue"/>
              <a:ea typeface="Helvetica Neue"/>
              <a:cs typeface="Helvetica Neue"/>
            </a:endParaRPr>
          </a:p>
        </p:txBody>
      </p:sp>
      <p:sp>
        <p:nvSpPr>
          <p:cNvPr id="4" name="Rounded Rectangle 3"/>
          <p:cNvSpPr>
            <a:spLocks noGrp="1"/>
          </p:cNvSpPr>
          <p:nvPr/>
        </p:nvSpPr>
        <p:spPr>
          <a:xfrm>
            <a:off x="393700" y="2241550"/>
            <a:ext cx="2334563" cy="1882398"/>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5" name="Rounded Rectangle 4"/>
          <p:cNvSpPr>
            <a:spLocks noGrp="1"/>
          </p:cNvSpPr>
          <p:nvPr/>
        </p:nvSpPr>
        <p:spPr>
          <a:xfrm>
            <a:off x="2968634" y="2241550"/>
            <a:ext cx="2334563" cy="1882398"/>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7" name="Rounded Rectangle 6"/>
          <p:cNvSpPr>
            <a:spLocks noGrp="1"/>
          </p:cNvSpPr>
          <p:nvPr/>
        </p:nvSpPr>
        <p:spPr>
          <a:xfrm>
            <a:off x="5543569" y="2241550"/>
            <a:ext cx="2334563" cy="1882398"/>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8" name="Content Placeholder 9"/>
          <p:cNvSpPr>
            <a:spLocks noGrp="1"/>
          </p:cNvSpPr>
          <p:nvPr/>
        </p:nvSpPr>
        <p:spPr>
          <a:xfrm>
            <a:off x="565150" y="2448528"/>
            <a:ext cx="1612900" cy="903750"/>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165</a:t>
            </a:r>
            <a:endParaRPr sz="5000" u="none" cap="none">
              <a:solidFill>
                <a:prstClr val="black"/>
              </a:solidFill>
              <a:latin typeface="Helvetica Neue"/>
              <a:ea typeface="Helvetica Neue"/>
              <a:cs typeface="Helvetica Neue"/>
            </a:endParaRPr>
          </a:p>
        </p:txBody>
      </p:sp>
      <p:sp>
        <p:nvSpPr>
          <p:cNvPr id="9" name="Content Placeholder 9"/>
          <p:cNvSpPr>
            <a:spLocks noGrp="1"/>
          </p:cNvSpPr>
          <p:nvPr/>
        </p:nvSpPr>
        <p:spPr>
          <a:xfrm>
            <a:off x="656590" y="3352278"/>
            <a:ext cx="1612900" cy="392952"/>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1600">
                <a:solidFill>
                  <a:prstClr val="black"/>
                </a:solidFill>
                <a:latin typeface="Helvetica Neue"/>
                <a:ea typeface="Helvetica Neue"/>
                <a:cs typeface="Helvetica Neue"/>
              </a:rPr>
              <a:t>Test groups</a:t>
            </a:r>
            <a:endParaRPr sz="1600">
              <a:solidFill>
                <a:prstClr val="black"/>
              </a:solidFill>
              <a:latin typeface="Helvetica Neue"/>
              <a:ea typeface="Helvetica Neue"/>
              <a:cs typeface="Helvetica Neue"/>
            </a:endParaRPr>
          </a:p>
        </p:txBody>
      </p:sp>
      <p:sp>
        <p:nvSpPr>
          <p:cNvPr id="10" name="Content Placeholder 9"/>
          <p:cNvSpPr>
            <a:spLocks noGrp="1"/>
          </p:cNvSpPr>
          <p:nvPr/>
        </p:nvSpPr>
        <p:spPr>
          <a:xfrm>
            <a:off x="3172795" y="2448528"/>
            <a:ext cx="1612900" cy="903750"/>
          </a:xfrm>
          <a:prstGeom prst="rect">
            <a:avLst/>
          </a:prstGeom>
        </p:spPr>
        <p:txBody>
          <a:bodyPr vert="horz" lIns="0" tIns="0" rIns="0" bIns="0" anchor="b">
            <a:normAutofit fontScale="85000" lnSpcReduction="200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82.4%</a:t>
            </a:r>
            <a:endParaRPr sz="5000" u="none" cap="none">
              <a:solidFill>
                <a:prstClr val="black"/>
              </a:solidFill>
              <a:latin typeface="Helvetica Neue"/>
              <a:ea typeface="Helvetica Neue"/>
              <a:cs typeface="Helvetica Neue"/>
            </a:endParaRPr>
          </a:p>
        </p:txBody>
      </p:sp>
      <p:sp>
        <p:nvSpPr>
          <p:cNvPr id="11" name="Content Placeholder 9"/>
          <p:cNvSpPr>
            <a:spLocks noGrp="1"/>
          </p:cNvSpPr>
          <p:nvPr/>
        </p:nvSpPr>
        <p:spPr>
          <a:xfrm>
            <a:off x="3264235" y="3352278"/>
            <a:ext cx="1612900" cy="392952"/>
          </a:xfrm>
          <a:prstGeom prst="rect">
            <a:avLst/>
          </a:prstGeom>
        </p:spPr>
        <p:txBody>
          <a:bodyPr vert="horz" lIns="0" tIns="0" rIns="0" bIns="0" anchor="b">
            <a:normAutofit fontScale="85000" lnSpcReduction="200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1600">
                <a:solidFill>
                  <a:prstClr val="black"/>
                </a:solidFill>
                <a:latin typeface="Helvetica Neue"/>
                <a:ea typeface="Helvetica Neue"/>
                <a:cs typeface="Helvetica Neue"/>
              </a:rPr>
              <a:t>Accuracy · 136/165</a:t>
            </a:r>
            <a:endParaRPr sz="1600">
              <a:solidFill>
                <a:prstClr val="black"/>
              </a:solidFill>
              <a:latin typeface="Helvetica Neue"/>
              <a:ea typeface="Helvetica Neue"/>
              <a:cs typeface="Helvetica Neue"/>
            </a:endParaRPr>
          </a:p>
        </p:txBody>
      </p:sp>
      <p:sp>
        <p:nvSpPr>
          <p:cNvPr id="12" name="Content Placeholder 9"/>
          <p:cNvSpPr>
            <a:spLocks noGrp="1"/>
          </p:cNvSpPr>
          <p:nvPr/>
        </p:nvSpPr>
        <p:spPr>
          <a:xfrm>
            <a:off x="5771616" y="2448528"/>
            <a:ext cx="1612900" cy="903750"/>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5000" u="none" cap="none">
                <a:solidFill>
                  <a:prstClr val="black"/>
                </a:solidFill>
                <a:latin typeface="Helvetica Neue"/>
                <a:ea typeface="Helvetica Neue"/>
                <a:cs typeface="Helvetica Neue"/>
              </a:rPr>
              <a:t>0.801</a:t>
            </a:r>
            <a:endParaRPr sz="5000" u="none" cap="none">
              <a:solidFill>
                <a:prstClr val="black"/>
              </a:solidFill>
              <a:latin typeface="Helvetica Neue"/>
              <a:ea typeface="Helvetica Neue"/>
              <a:cs typeface="Helvetica Neue"/>
            </a:endParaRPr>
          </a:p>
        </p:txBody>
      </p:sp>
      <p:sp>
        <p:nvSpPr>
          <p:cNvPr id="13" name="Content Placeholder 9"/>
          <p:cNvSpPr>
            <a:spLocks noGrp="1"/>
          </p:cNvSpPr>
          <p:nvPr/>
        </p:nvSpPr>
        <p:spPr>
          <a:xfrm>
            <a:off x="5863056" y="3352278"/>
            <a:ext cx="1612900" cy="392952"/>
          </a:xfrm>
          <a:prstGeom prst="rect">
            <a:avLst/>
          </a:prstGeom>
        </p:spPr>
        <p:txBody>
          <a:bodyPr vert="horz" lIns="0" tIns="0" rIns="0" bIns="0" anchor="b">
            <a:normAutofit/>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2540" indent="0" algn="l">
              <a:lnSpc>
                <a:spcPct val="110000"/>
              </a:lnSpc>
              <a:spcBef>
                <a:spcPts val="0"/>
              </a:spcBef>
              <a:spcAft>
                <a:spcPts val="0"/>
              </a:spcAft>
              <a:buNone/>
              <a:defRPr/>
            </a:pPr>
            <a:r>
              <a:rPr sz="1600">
                <a:solidFill>
                  <a:prstClr val="black"/>
                </a:solidFill>
                <a:latin typeface="Helvetica Neue"/>
                <a:ea typeface="Helvetica Neue"/>
                <a:cs typeface="Helvetica Neue"/>
              </a:rPr>
              <a:t>Macro F1</a:t>
            </a:r>
            <a:endParaRPr sz="1600">
              <a:solidFill>
                <a:prstClr val="black"/>
              </a:solidFill>
              <a:latin typeface="Helvetica Neue"/>
              <a:ea typeface="Helvetica Neue"/>
              <a:cs typeface="Helvetica Neue"/>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9" name="Rounded Rectangle 18"/>
          <p:cNvSpPr>
            <a:spLocks noGrp="1"/>
          </p:cNvSpPr>
          <p:nvPr/>
        </p:nvSpPr>
        <p:spPr>
          <a:xfrm>
            <a:off x="8233335" y="3022600"/>
            <a:ext cx="2581975" cy="29718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26" name="Content Placeholder 15"/>
          <p:cNvSpPr>
            <a:spLocks noGrp="1"/>
          </p:cNvSpPr>
          <p:nvPr/>
        </p:nvSpPr>
        <p:spPr>
          <a:xfrm>
            <a:off x="8458602" y="3325812"/>
            <a:ext cx="2145400" cy="1677988"/>
          </a:xfrm>
          <a:prstGeom prst="rect">
            <a:avLst/>
          </a:prstGeom>
        </p:spPr>
        <p:txBody>
          <a:bodyPr vert="horz" lIns="0" tIns="0" rIns="0" bIns="0">
            <a:noAutofit/>
          </a:bodyPr>
          <a:lstStyle>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a:latin typeface="Helvetica Neue"/>
                <a:ea typeface="Helvetica Neue"/>
                <a:cs typeface="Helvetica Neue"/>
              </a:rPr>
              <a:t>CANDIDATE C</a:t>
            </a:r>
            <a:endParaRPr>
              <a:latin typeface="Helvetica Neue"/>
              <a:ea typeface="Helvetica Neue"/>
              <a:cs typeface="Helvetica Neue"/>
            </a:endParaRPr>
          </a:p>
          <a:p>
            <a:pPr marL="0" indent="0">
              <a:lnSpc>
                <a:spcPct val="114000"/>
              </a:lnSpc>
              <a:spcBef>
                <a:spcPts val="0"/>
              </a:spcBef>
              <a:spcAft>
                <a:spcPts val="800"/>
              </a:spcAft>
              <a:buNone/>
              <a:defRPr/>
            </a:pPr>
            <a:r>
              <a:rPr sz="1400">
                <a:latin typeface="Helvetica Neue"/>
                <a:ea typeface="Helvetica Neue"/>
                <a:cs typeface="Helvetica Neue"/>
              </a:rPr>
              <a:t>Normal false alarms fell to 3.2%, but scream recall was only 60.5%. We rejected the upgrade.</a:t>
            </a:r>
            <a:endParaRPr sz="1400">
              <a:latin typeface="Helvetica Neue"/>
              <a:ea typeface="Helvetica Neue"/>
              <a:cs typeface="Helvetica Neue"/>
            </a:endParaRPr>
          </a:p>
        </p:txBody>
      </p:sp>
      <p:sp>
        <p:nvSpPr>
          <p:cNvPr id="27" name="Text Placeholder 16"/>
          <p:cNvSpPr>
            <a:spLocks noGrp="1"/>
          </p:cNvSpPr>
          <p:nvPr/>
        </p:nvSpPr>
        <p:spPr>
          <a:xfrm>
            <a:off x="8487334" y="5544658"/>
            <a:ext cx="1686860" cy="207014"/>
          </a:xfrm>
          <a:prstGeom prst="rect">
            <a:avLst/>
          </a:prstGeom>
        </p:spPr>
        <p:txBody>
          <a:bodyPr vert="horz" lIns="0" tIns="0" rIns="0" bIns="0">
            <a:noAutofit/>
          </a:bodyPr>
          <a:lstStyle>
            <a:lvl1pPr marL="228600" indent="-228600" algn="l">
              <a:lnSpc>
                <a:spcPct val="90000"/>
              </a:lnSpc>
              <a:spcBef>
                <a:spcPts val="1000"/>
              </a:spcBef>
              <a:buNone/>
              <a:defRPr sz="1800">
                <a:solidFill>
                  <a:schemeClr val="tx1"/>
                </a:solidFill>
                <a:latin typeface="+mn-lt"/>
                <a:ea typeface="+mn-lt"/>
                <a:cs typeface="+mn-lt"/>
              </a:defRPr>
            </a:lvl1pPr>
            <a:lvl2pPr marL="685800" indent="-228600" algn="l">
              <a:lnSpc>
                <a:spcPct val="90000"/>
              </a:lnSpc>
              <a:spcBef>
                <a:spcPts val="500"/>
              </a:spcBef>
              <a:buNone/>
              <a:defRPr sz="1800">
                <a:solidFill>
                  <a:schemeClr val="tx1"/>
                </a:solidFill>
                <a:latin typeface="+mn-lt"/>
                <a:ea typeface="+mn-lt"/>
                <a:cs typeface="+mn-lt"/>
              </a:defRPr>
            </a:lvl2pPr>
            <a:lvl3pPr marL="1143000" indent="-228600" algn="l">
              <a:lnSpc>
                <a:spcPct val="90000"/>
              </a:lnSpc>
              <a:spcBef>
                <a:spcPts val="500"/>
              </a:spcBef>
              <a:buNone/>
              <a:defRPr sz="1800">
                <a:solidFill>
                  <a:schemeClr val="tx1"/>
                </a:solidFill>
                <a:latin typeface="+mn-lt"/>
                <a:ea typeface="+mn-lt"/>
                <a:cs typeface="+mn-lt"/>
              </a:defRPr>
            </a:lvl3pPr>
            <a:lvl4pPr marL="1600200" indent="-228600" algn="l">
              <a:lnSpc>
                <a:spcPct val="90000"/>
              </a:lnSpc>
              <a:spcBef>
                <a:spcPts val="500"/>
              </a:spcBef>
              <a:buNone/>
              <a:defRPr sz="1800">
                <a:solidFill>
                  <a:schemeClr val="tx1"/>
                </a:solidFill>
                <a:latin typeface="+mn-lt"/>
                <a:ea typeface="+mn-lt"/>
                <a:cs typeface="+mn-lt"/>
              </a:defRPr>
            </a:lvl4pPr>
            <a:lvl5pPr marL="2057400" indent="-228600" algn="l">
              <a:lnSpc>
                <a:spcPct val="90000"/>
              </a:lnSpc>
              <a:spcBef>
                <a:spcPts val="500"/>
              </a:spcBef>
              <a:buNone/>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sz="1400">
                <a:solidFill>
                  <a:prstClr val="black"/>
                </a:solidFill>
                <a:latin typeface="Helvetica Neue"/>
                <a:ea typeface="Helvetica Neue"/>
                <a:cs typeface="Helvetica Neue"/>
              </a:rPr>
              <a:t>FINAL SELECTION</a:t>
            </a:r>
            <a:endParaRPr sz="1400">
              <a:solidFill>
                <a:prstClr val="black"/>
              </a:solidFill>
              <a:latin typeface="Helvetica Neue"/>
              <a:ea typeface="Helvetica Neue"/>
              <a:cs typeface="Helvetica Neue"/>
            </a:endParaRPr>
          </a:p>
        </p:txBody>
      </p:sp>
      <p:sp>
        <p:nvSpPr>
          <p:cNvPr id="28" name="Google Shape;2261;p159"/>
          <p:cNvSpPr>
            <a:spLocks noGrp="1"/>
          </p:cNvSpPr>
          <p:nvPr/>
        </p:nvSpPr>
        <p:spPr>
          <a:xfrm>
            <a:off x="8460678" y="5288071"/>
            <a:ext cx="107100" cy="107100"/>
          </a:xfrm>
          <a:prstGeom prst="ellipse">
            <a:avLst/>
          </a:prstGeom>
          <a:solidFill>
            <a:schemeClr val="dk1"/>
          </a:solidFill>
          <a:ln>
            <a:noFill/>
          </a:ln>
        </p:spPr>
        <p:txBody>
          <a:bodyPr wrap="square" lIns="91424" tIns="91424" rIns="91424" bIns="91424" anchor="ctr">
            <a:noAutofit/>
          </a:bodyPr>
          <a:lstStyle/>
          <a:p>
            <a:pPr marL="0" indent="0" algn="ctr">
              <a:lnSpc>
                <a:spcPct val="100000"/>
              </a:lnSpc>
              <a:spcBef>
                <a:spcPts val="0"/>
              </a:spcBef>
              <a:spcAft>
                <a:spcPts val="0"/>
              </a:spcAft>
              <a:buNone/>
              <a:defRPr/>
            </a:pPr>
            <a:endParaRPr lang="ko-KR" altLang="en-US"/>
          </a:p>
        </p:txBody>
      </p:sp>
      <p:sp>
        <p:nvSpPr>
          <p:cNvPr id="12" name="Rounded Rectangle 11"/>
          <p:cNvSpPr>
            <a:spLocks noGrp="1"/>
          </p:cNvSpPr>
          <p:nvPr/>
        </p:nvSpPr>
        <p:spPr>
          <a:xfrm>
            <a:off x="4293347" y="3022600"/>
            <a:ext cx="2581975" cy="29718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13" name="Content Placeholder 15"/>
          <p:cNvSpPr>
            <a:spLocks noGrp="1"/>
          </p:cNvSpPr>
          <p:nvPr/>
        </p:nvSpPr>
        <p:spPr>
          <a:xfrm>
            <a:off x="4518614" y="3325812"/>
            <a:ext cx="2145400" cy="1677988"/>
          </a:xfrm>
          <a:prstGeom prst="rect">
            <a:avLst/>
          </a:prstGeom>
        </p:spPr>
        <p:txBody>
          <a:bodyPr vert="horz" lIns="0" tIns="0" rIns="0" bIns="0">
            <a:noAutofit/>
          </a:bodyPr>
          <a:lstStyle>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a:latin typeface="Helvetica Neue"/>
                <a:ea typeface="Helvetica Neue"/>
                <a:cs typeface="Helvetica Neue"/>
              </a:rPr>
              <a:t>BROAD LABELS</a:t>
            </a:r>
            <a:endParaRPr>
              <a:latin typeface="Helvetica Neue"/>
              <a:ea typeface="Helvetica Neue"/>
              <a:cs typeface="Helvetica Neue"/>
            </a:endParaRPr>
          </a:p>
          <a:p>
            <a:pPr marL="0" indent="0">
              <a:lnSpc>
                <a:spcPct val="114000"/>
              </a:lnSpc>
              <a:spcBef>
                <a:spcPts val="0"/>
              </a:spcBef>
              <a:spcAft>
                <a:spcPts val="800"/>
              </a:spcAft>
              <a:buNone/>
              <a:defRPr/>
            </a:pPr>
            <a:r>
              <a:rPr sz="1400">
                <a:latin typeface="Helvetica Neue"/>
                <a:ea typeface="Helvetica Neue"/>
                <a:cs typeface="Helvetica Neue"/>
              </a:rPr>
              <a:t>Generic breaking sounds polluted the glass class. We removed 158 unverified clips and rebuilt the split.</a:t>
            </a:r>
            <a:endParaRPr sz="1400">
              <a:latin typeface="Helvetica Neue"/>
              <a:ea typeface="Helvetica Neue"/>
              <a:cs typeface="Helvetica Neue"/>
            </a:endParaRPr>
          </a:p>
        </p:txBody>
      </p:sp>
      <p:sp>
        <p:nvSpPr>
          <p:cNvPr id="7" name="Rounded Rectangle 6"/>
          <p:cNvSpPr>
            <a:spLocks noGrp="1"/>
          </p:cNvSpPr>
          <p:nvPr/>
        </p:nvSpPr>
        <p:spPr>
          <a:xfrm>
            <a:off x="393700" y="3022600"/>
            <a:ext cx="2581975" cy="29718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16" name="Content Placeholder 15"/>
          <p:cNvSpPr>
            <a:spLocks noGrp="1"/>
          </p:cNvSpPr>
          <p:nvPr>
            <p:ph idx="1"/>
          </p:nvPr>
        </p:nvSpPr>
        <p:spPr>
          <a:xfrm>
            <a:off x="618967" y="5549772"/>
            <a:ext cx="1730533" cy="192900"/>
          </a:xfrm>
        </p:spPr>
        <p:txBody>
          <a:bodyPr>
            <a:noAutofit/>
          </a:bodyPr>
          <a:lstStyle/>
          <a:p>
            <a:pPr marL="0" indent="0">
              <a:lnSpc>
                <a:spcPct val="114000"/>
              </a:lnSpc>
              <a:spcBef>
                <a:spcPts val="0"/>
              </a:spcBef>
              <a:spcAft>
                <a:spcPts val="800"/>
              </a:spcAft>
              <a:buNone/>
              <a:defRPr/>
            </a:pPr>
            <a:r>
              <a:rPr sz="1400">
                <a:latin typeface="Helvetica Neue"/>
                <a:ea typeface="Helvetica Neue"/>
                <a:cs typeface="Helvetica Neue"/>
              </a:rPr>
              <a:t>MIDTERM</a:t>
            </a:r>
            <a:endParaRPr sz="1400">
              <a:latin typeface="Helvetica Neue"/>
              <a:ea typeface="Helvetica Neue"/>
              <a:cs typeface="Helvetica Neue"/>
            </a:endParaRPr>
          </a:p>
        </p:txBody>
      </p:sp>
      <p:sp>
        <p:nvSpPr>
          <p:cNvPr id="4" name="Slide Number Placeholder 3"/>
          <p:cNvSpPr>
            <a:spLocks noGrp="1"/>
          </p:cNvSpPr>
          <p:nvPr>
            <p:ph type="sldNum" idx="4"/>
          </p:nvPr>
        </p:nvSpPr>
        <p:spPr/>
        <p:txBody>
          <a:bodyPr/>
          <a:lstStyle/>
          <a:p>
            <a:pPr>
              <a:defRPr/>
            </a:pPr>
            <a:fld id="{D3D7D1C8-AE23-AA48-DF65-C742588DBE47}" type="slidenum">
              <a:rPr lang="en-US" altLang="en-US"/>
              <a:pPr>
                <a:defRPr/>
              </a:pPr>
              <a:t>7</a:t>
            </a:fld>
            <a:endParaRPr lang="en-US" altLang="en-US"/>
          </a:p>
        </p:txBody>
      </p:sp>
      <p:sp>
        <p:nvSpPr>
          <p:cNvPr id="11" name="Title 10"/>
          <p:cNvSpPr>
            <a:spLocks noGrp="1"/>
          </p:cNvSpPr>
          <p:nvPr>
            <p:ph type="title" idx="0"/>
          </p:nvPr>
        </p:nvSpPr>
        <p:spPr/>
        <p:txBody>
          <a:bodyPr/>
          <a:lstStyle/>
          <a:p>
            <a:pPr lvl="0">
              <a:defRPr/>
            </a:pPr>
            <a:r>
              <a:rPr lang="ko-KR" altLang="en-US"/>
              <a:t>Trial and error changed the evaluation, not only the model</a:t>
            </a:r>
            <a:endParaRPr lang="ko-KR" altLang="en-US"/>
          </a:p>
        </p:txBody>
      </p:sp>
      <p:sp>
        <p:nvSpPr>
          <p:cNvPr id="17" name="Text Placeholder 16"/>
          <p:cNvSpPr>
            <a:spLocks noGrp="1"/>
          </p:cNvSpPr>
          <p:nvPr>
            <p:ph type="body" idx="12"/>
          </p:nvPr>
        </p:nvSpPr>
        <p:spPr>
          <a:xfrm>
            <a:off x="4547346" y="5544658"/>
            <a:ext cx="1686860" cy="207014"/>
          </a:xfrm>
        </p:spPr>
        <p:txBody>
          <a:bodyPr>
            <a:noAutofit/>
          </a:bodyPr>
          <a:lstStyle/>
          <a:p>
            <a:pPr marL="0" indent="0" algn="l">
              <a:lnSpc>
                <a:spcPct val="114000"/>
              </a:lnSpc>
              <a:spcBef>
                <a:spcPts val="0"/>
              </a:spcBef>
              <a:spcAft>
                <a:spcPts val="800"/>
              </a:spcAft>
              <a:buNone/>
              <a:defRPr/>
            </a:pPr>
            <a:r>
              <a:rPr sz="1400" u="none" cap="none">
                <a:solidFill>
                  <a:prstClr val="black"/>
                </a:solidFill>
                <a:latin typeface="Helvetica Neue"/>
                <a:ea typeface="Helvetica Neue"/>
                <a:cs typeface="Helvetica Neue"/>
              </a:rPr>
              <a:t>DATA AUDIT</a:t>
            </a:r>
            <a:endParaRPr sz="1400" u="none" cap="none">
              <a:solidFill>
                <a:prstClr val="black"/>
              </a:solidFill>
              <a:latin typeface="Helvetica Neue"/>
              <a:ea typeface="Helvetica Neue"/>
              <a:cs typeface="Helvetica Neue"/>
            </a:endParaRPr>
          </a:p>
        </p:txBody>
      </p:sp>
      <p:cxnSp>
        <p:nvCxnSpPr>
          <p:cNvPr id="52" name="Google Shape;2259;p159"/>
          <p:cNvCxnSpPr>
            <a:stCxn id="3" idx="2"/>
          </p:cNvCxnSpPr>
          <p:nvPr/>
        </p:nvCxnSpPr>
        <p:spPr>
          <a:xfrm>
            <a:off x="618967" y="5341621"/>
            <a:ext cx="12245400" cy="300"/>
          </a:xfrm>
          <a:prstGeom prst="straightConnector1">
            <a:avLst/>
          </a:prstGeom>
          <a:ln w="9525" cap="flat">
            <a:solidFill>
              <a:schemeClr val="dk1"/>
            </a:solidFill>
            <a:prstDash val="solid"/>
            <a:round/>
            <a:headEnd w="med" len="med"/>
            <a:tailEnd w="med" len="med"/>
          </a:ln>
        </p:spPr>
      </p:cxnSp>
      <p:sp>
        <p:nvSpPr>
          <p:cNvPr id="3" name="Google Shape;2260;p159"/>
          <p:cNvSpPr>
            <a:spLocks noGrp="1"/>
          </p:cNvSpPr>
          <p:nvPr/>
        </p:nvSpPr>
        <p:spPr>
          <a:xfrm>
            <a:off x="618967" y="5288071"/>
            <a:ext cx="107100" cy="107100"/>
          </a:xfrm>
          <a:prstGeom prst="ellipse">
            <a:avLst/>
          </a:prstGeom>
          <a:solidFill>
            <a:schemeClr val="dk1"/>
          </a:solidFill>
          <a:ln>
            <a:noFill/>
          </a:ln>
        </p:spPr>
        <p:txBody>
          <a:bodyPr wrap="square" lIns="91424" tIns="91424" rIns="91424" bIns="91424" anchor="ctr">
            <a:noAutofit/>
          </a:bodyPr>
          <a:lstStyle/>
          <a:p>
            <a:pPr marL="0" indent="0" algn="ctr">
              <a:lnSpc>
                <a:spcPct val="100000"/>
              </a:lnSpc>
              <a:spcBef>
                <a:spcPts val="0"/>
              </a:spcBef>
              <a:spcAft>
                <a:spcPts val="0"/>
              </a:spcAft>
              <a:buNone/>
              <a:defRPr/>
            </a:pPr>
            <a:endParaRPr lang="ko-KR" altLang="en-US"/>
          </a:p>
        </p:txBody>
      </p:sp>
      <p:sp>
        <p:nvSpPr>
          <p:cNvPr id="5" name="Google Shape;2261;p159"/>
          <p:cNvSpPr>
            <a:spLocks noGrp="1"/>
          </p:cNvSpPr>
          <p:nvPr/>
        </p:nvSpPr>
        <p:spPr>
          <a:xfrm>
            <a:off x="4520690" y="5288071"/>
            <a:ext cx="107100" cy="107100"/>
          </a:xfrm>
          <a:prstGeom prst="ellipse">
            <a:avLst/>
          </a:prstGeom>
          <a:solidFill>
            <a:schemeClr val="dk1"/>
          </a:solidFill>
          <a:ln>
            <a:noFill/>
          </a:ln>
        </p:spPr>
        <p:txBody>
          <a:bodyPr wrap="square" lIns="91424" tIns="91424" rIns="91424" bIns="91424" anchor="ctr">
            <a:noAutofit/>
          </a:bodyPr>
          <a:lstStyle/>
          <a:p>
            <a:pPr marL="0" indent="0" algn="ctr">
              <a:lnSpc>
                <a:spcPct val="100000"/>
              </a:lnSpc>
              <a:spcBef>
                <a:spcPts val="0"/>
              </a:spcBef>
              <a:spcAft>
                <a:spcPts val="0"/>
              </a:spcAft>
              <a:buNone/>
              <a:defRPr/>
            </a:pPr>
            <a:endParaRPr lang="ko-KR" altLang="en-US"/>
          </a:p>
        </p:txBody>
      </p:sp>
      <p:sp>
        <p:nvSpPr>
          <p:cNvPr id="8" name="Content Placeholder 15"/>
          <p:cNvSpPr>
            <a:spLocks noGrp="1"/>
          </p:cNvSpPr>
          <p:nvPr/>
        </p:nvSpPr>
        <p:spPr>
          <a:xfrm>
            <a:off x="618967" y="3325812"/>
            <a:ext cx="2145400" cy="1677988"/>
          </a:xfrm>
          <a:prstGeom prst="rect">
            <a:avLst/>
          </a:prstGeom>
        </p:spPr>
        <p:txBody>
          <a:bodyPr vert="horz" lIns="0" tIns="0" rIns="0" bIns="0">
            <a:noAutofit/>
          </a:bodyPr>
          <a:lstStyle>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spcBef>
                <a:spcPts val="0"/>
              </a:spcBef>
              <a:spcAft>
                <a:spcPts val="800"/>
              </a:spcAft>
              <a:buNone/>
              <a:defRPr/>
            </a:pPr>
            <a:r>
              <a:rPr>
                <a:latin typeface="Helvetica Neue"/>
                <a:ea typeface="Helvetica Neue"/>
                <a:cs typeface="Helvetica Neue"/>
              </a:rPr>
              <a:t>MEAN POOLING</a:t>
            </a:r>
            <a:endParaRPr>
              <a:latin typeface="Helvetica Neue"/>
              <a:ea typeface="Helvetica Neue"/>
              <a:cs typeface="Helvetica Neue"/>
            </a:endParaRPr>
          </a:p>
          <a:p>
            <a:pPr marL="0" indent="0">
              <a:lnSpc>
                <a:spcPct val="114000"/>
              </a:lnSpc>
              <a:spcBef>
                <a:spcPts val="0"/>
              </a:spcBef>
              <a:spcAft>
                <a:spcPts val="800"/>
              </a:spcAft>
              <a:buNone/>
              <a:defRPr/>
            </a:pPr>
            <a:r>
              <a:rPr sz="1400">
                <a:latin typeface="Helvetica Neue"/>
                <a:ea typeface="Helvetica Neue"/>
                <a:cs typeface="Helvetica Neue"/>
              </a:rPr>
              <a:t>A diagnostic example showed short impacts disappearing inside long averages. This was not an official accuracy result.</a:t>
            </a:r>
            <a:endParaRPr sz="1400">
              <a:latin typeface="Helvetica Neue"/>
              <a:ea typeface="Helvetica Neue"/>
              <a:cs typeface="Helvetica Neue"/>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 name="Rounded Rectangle 3"/>
          <p:cNvSpPr>
            <a:spLocks noGrp="1"/>
          </p:cNvSpPr>
          <p:nvPr/>
        </p:nvSpPr>
        <p:spPr>
          <a:xfrm>
            <a:off x="5930900" y="393700"/>
            <a:ext cx="5867400" cy="1638300"/>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5" name="Rounded Rectangle 4"/>
          <p:cNvSpPr>
            <a:spLocks noGrp="1"/>
          </p:cNvSpPr>
          <p:nvPr/>
        </p:nvSpPr>
        <p:spPr>
          <a:xfrm>
            <a:off x="5930900" y="2369856"/>
            <a:ext cx="5867400" cy="1638300"/>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6" name="Rounded Rectangle 5"/>
          <p:cNvSpPr>
            <a:spLocks noGrp="1"/>
          </p:cNvSpPr>
          <p:nvPr/>
        </p:nvSpPr>
        <p:spPr>
          <a:xfrm>
            <a:off x="5930900" y="4356100"/>
            <a:ext cx="5867400" cy="1638300"/>
          </a:xfrm>
          <a:prstGeom prst="roundRect">
            <a:avLst>
              <a:gd name="adj" fmla="val 358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defRPr/>
            </a:pPr>
            <a:endParaRPr lang="ko-KR" altLang="en-US"/>
          </a:p>
        </p:txBody>
      </p:sp>
      <p:sp>
        <p:nvSpPr>
          <p:cNvPr id="2" name="Slide Number Placeholder 1"/>
          <p:cNvSpPr>
            <a:spLocks noGrp="1"/>
          </p:cNvSpPr>
          <p:nvPr>
            <p:ph type="sldNum" idx="4"/>
          </p:nvPr>
        </p:nvSpPr>
        <p:spPr/>
        <p:txBody>
          <a:bodyPr/>
          <a:lstStyle/>
          <a:p>
            <a:pPr>
              <a:defRPr/>
            </a:pPr>
            <a:fld id="{BA58DA2A-B818-18A9-29C1-B697728D5BCE}" type="slidenum">
              <a:rPr lang="en-US" altLang="en-US"/>
              <a:pPr>
                <a:defRPr/>
              </a:pPr>
              <a:t>8</a:t>
            </a:fld>
            <a:endParaRPr lang="en-US" altLang="en-US"/>
          </a:p>
        </p:txBody>
      </p:sp>
      <p:sp>
        <p:nvSpPr>
          <p:cNvPr id="3" name="Title 2"/>
          <p:cNvSpPr>
            <a:spLocks noGrp="1"/>
          </p:cNvSpPr>
          <p:nvPr>
            <p:ph type="title" idx="0"/>
          </p:nvPr>
        </p:nvSpPr>
        <p:spPr>
          <a:xfrm>
            <a:off x="393701" y="344008"/>
            <a:ext cx="4928108" cy="1047491"/>
          </a:xfrm>
        </p:spPr>
        <p:txBody>
          <a:bodyPr/>
          <a:lstStyle/>
          <a:p>
            <a:pPr lvl="0">
              <a:defRPr/>
            </a:pPr>
            <a:r>
              <a:rPr lang="ko-KR" altLang="en-US"/>
              <a:t>Official vs. original demo</a:t>
            </a:r>
            <a:endParaRPr lang="ko-KR" altLang="en-US"/>
          </a:p>
        </p:txBody>
      </p:sp>
      <p:sp>
        <p:nvSpPr>
          <p:cNvPr id="11" name="Content Placeholder 10"/>
          <p:cNvSpPr>
            <a:spLocks noGrp="1"/>
          </p:cNvSpPr>
          <p:nvPr>
            <p:ph idx="4294967295"/>
          </p:nvPr>
        </p:nvSpPr>
        <p:spPr>
          <a:xfrm>
            <a:off x="6261100" y="672952"/>
            <a:ext cx="5287433" cy="1079796"/>
          </a:xfrm>
        </p:spPr>
        <p:txBody>
          <a:bodyPr>
            <a:normAutofit fontScale="85000"/>
          </a:bodyPr>
          <a:lstStyle/>
          <a:p>
            <a:pPr marL="0" indent="0" algn="l">
              <a:lnSpc>
                <a:spcPct val="110000"/>
              </a:lnSpc>
              <a:spcBef>
                <a:spcPts val="0"/>
              </a:spcBef>
              <a:spcAft>
                <a:spcPts val="0"/>
              </a:spcAft>
              <a:buNone/>
              <a:defRPr/>
            </a:pPr>
            <a:r>
              <a:rPr sz="1800" b="0" i="0" u="none" cap="none">
                <a:solidFill>
                  <a:prstClr val="black"/>
                </a:solidFill>
                <a:latin typeface="Helvetica Neue"/>
                <a:ea typeface="Helvetica Neue"/>
                <a:cs typeface="Helvetica Neue"/>
              </a:rPr>
              <a:t>OFFICIAL</a:t>
            </a:r>
            <a:endParaRPr sz="1800" b="0" i="0" u="none" cap="none">
              <a:solidFill>
                <a:prstClr val="black"/>
              </a:solidFill>
              <a:latin typeface="Helvetica Neue"/>
              <a:ea typeface="Helvetica Neue"/>
              <a:cs typeface="Helvetica Neue"/>
            </a:endParaRPr>
          </a:p>
          <a:p>
            <a:pPr marL="0" indent="0" algn="l">
              <a:lnSpc>
                <a:spcPct val="100000"/>
              </a:lnSpc>
              <a:spcBef>
                <a:spcPts val="1300"/>
              </a:spcBef>
              <a:spcAft>
                <a:spcPts val="1300"/>
              </a:spcAft>
              <a:buNone/>
              <a:defRPr/>
            </a:pPr>
            <a:r>
              <a:rPr sz="1800" b="0" i="0" u="none" cap="none">
                <a:solidFill>
                  <a:prstClr val="black"/>
                </a:solidFill>
                <a:latin typeface="Helvetica Neue"/>
                <a:ea typeface="Helvetica Neue"/>
                <a:cs typeface="Helvetica Neue"/>
              </a:rPr>
              <a:t>Classifier-only; thresholds 0.95 / 0.40; consecutive frames 1 / 3. Macro F1 0.801, normal false alarms 13.3%.</a:t>
            </a:r>
            <a:endParaRPr sz="1800" b="0" i="0" u="none" cap="none">
              <a:solidFill>
                <a:prstClr val="black"/>
              </a:solidFill>
              <a:latin typeface="Helvetica Neue"/>
              <a:ea typeface="Helvetica Neue"/>
              <a:cs typeface="Helvetica Neue"/>
            </a:endParaRPr>
          </a:p>
        </p:txBody>
      </p:sp>
      <p:sp>
        <p:nvSpPr>
          <p:cNvPr id="8" name="Content Placeholder 10"/>
          <p:cNvSpPr>
            <a:spLocks noGrp="1"/>
          </p:cNvSpPr>
          <p:nvPr/>
        </p:nvSpPr>
        <p:spPr>
          <a:xfrm>
            <a:off x="6261100" y="2664788"/>
            <a:ext cx="5287433" cy="1048436"/>
          </a:xfrm>
          <a:prstGeom prst="rect">
            <a:avLst/>
          </a:prstGeom>
        </p:spPr>
        <p:txBody>
          <a:bodyPr vert="horz" lIns="0" tIns="0" rIns="0" bIns="0">
            <a:normAutofit fontScale="84459"/>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0000"/>
              </a:lnSpc>
              <a:spcBef>
                <a:spcPts val="0"/>
              </a:spcBef>
              <a:buNone/>
              <a:defRPr/>
            </a:pPr>
            <a:r>
              <a:rPr sz="1800">
                <a:solidFill>
                  <a:prstClr val="black"/>
                </a:solidFill>
                <a:latin typeface="Helvetica Neue"/>
                <a:ea typeface="Helvetica Neue"/>
                <a:cs typeface="Helvetica Neue"/>
              </a:rPr>
              <a:t>ORIGINAL DEMO</a:t>
            </a:r>
            <a:endParaRPr sz="1800">
              <a:solidFill>
                <a:prstClr val="black"/>
              </a:solidFill>
              <a:latin typeface="Helvetica Neue"/>
              <a:ea typeface="Helvetica Neue"/>
              <a:cs typeface="Helvetica Neue"/>
            </a:endParaRPr>
          </a:p>
          <a:p>
            <a:pPr marL="0" indent="0">
              <a:lnSpc>
                <a:spcPct val="100000"/>
              </a:lnSpc>
              <a:spcBef>
                <a:spcPts val="1300"/>
              </a:spcBef>
              <a:spcAft>
                <a:spcPts val="1300"/>
              </a:spcAft>
              <a:buNone/>
              <a:defRPr/>
            </a:pPr>
            <a:r>
              <a:rPr sz="1800">
                <a:solidFill>
                  <a:prstClr val="black"/>
                </a:solidFill>
                <a:latin typeface="Helvetica Neue"/>
                <a:ea typeface="Helvetica Neue"/>
                <a:cs typeface="Helvetica Neue"/>
              </a:rPr>
              <a:t>Classifier + YAMNet fusion; thresholds 0.97 / 0.92 plus scream mean and margin. Live loop also had an RMS gate.</a:t>
            </a:r>
            <a:endParaRPr sz="1800">
              <a:solidFill>
                <a:prstClr val="black"/>
              </a:solidFill>
              <a:latin typeface="Helvetica Neue"/>
              <a:ea typeface="Helvetica Neue"/>
              <a:cs typeface="Helvetica Neue"/>
            </a:endParaRPr>
          </a:p>
        </p:txBody>
      </p:sp>
      <p:sp>
        <p:nvSpPr>
          <p:cNvPr id="9" name="Content Placeholder 10"/>
          <p:cNvSpPr>
            <a:spLocks noGrp="1"/>
          </p:cNvSpPr>
          <p:nvPr/>
        </p:nvSpPr>
        <p:spPr>
          <a:xfrm>
            <a:off x="6261100" y="4656290"/>
            <a:ext cx="5287433" cy="1037920"/>
          </a:xfrm>
          <a:prstGeom prst="rect">
            <a:avLst/>
          </a:prstGeom>
        </p:spPr>
        <p:txBody>
          <a:bodyPr vert="horz" lIns="0" tIns="0" rIns="0" bIns="0">
            <a:normAutofit fontScale="92500"/>
          </a:bodyPr>
          <a:lstStyle>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0000"/>
              </a:lnSpc>
              <a:spcBef>
                <a:spcPts val="0"/>
              </a:spcBef>
              <a:buNone/>
              <a:defRPr/>
            </a:pPr>
            <a:r>
              <a:rPr sz="1800">
                <a:solidFill>
                  <a:prstClr val="black"/>
                </a:solidFill>
                <a:latin typeface="Helvetica Neue"/>
                <a:ea typeface="Helvetica Neue"/>
                <a:cs typeface="Helvetica Neue"/>
              </a:rPr>
              <a:t>TRADE-OFF</a:t>
            </a:r>
            <a:endParaRPr sz="1800">
              <a:solidFill>
                <a:prstClr val="black"/>
              </a:solidFill>
              <a:latin typeface="Helvetica Neue"/>
              <a:ea typeface="Helvetica Neue"/>
              <a:cs typeface="Helvetica Neue"/>
            </a:endParaRPr>
          </a:p>
          <a:p>
            <a:pPr marL="0" indent="0">
              <a:lnSpc>
                <a:spcPct val="100000"/>
              </a:lnSpc>
              <a:spcBef>
                <a:spcPts val="1300"/>
              </a:spcBef>
              <a:spcAft>
                <a:spcPts val="1300"/>
              </a:spcAft>
              <a:buNone/>
              <a:defRPr/>
            </a:pPr>
            <a:r>
              <a:rPr sz="1800">
                <a:solidFill>
                  <a:prstClr val="black"/>
                </a:solidFill>
                <a:latin typeface="Helvetica Neue"/>
                <a:ea typeface="Helvetica Neue"/>
                <a:cs typeface="Helvetica Neue"/>
              </a:rPr>
              <a:t>Offline ablation without RMS: Macro F1 0.804, false alarms 7.1%, glass recall 82.8%, scream recall 57.9%.</a:t>
            </a:r>
            <a:endParaRPr sz="1800">
              <a:solidFill>
                <a:prstClr val="black"/>
              </a:solidFill>
              <a:latin typeface="Helvetica Neue"/>
              <a:ea typeface="Helvetica Neue"/>
              <a:cs typeface="Helvetica Neue"/>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31C01230-0AB7-5FBA-6CB0-F4C1122A5881}"/>
              </a:ext>
            </a:extLst>
          </p:cNvPr>
          <p:cNvSpPr>
            <a:spLocks xmlns:a="http://schemas.openxmlformats.org/drawingml/2006/main" noGrp="1"/>
          </p:cNvSpPr>
          <p:nvPr>
            <p:ph idx="1"/>
          </p:nvPr>
        </p:nvSpPr>
        <p:spPr>
          <a:xfrm xmlns:a="http://schemas.openxmlformats.org/drawingml/2006/main">
            <a:off x="393700" y="2032000"/>
            <a:ext cx="3568700" cy="1981200"/>
          </a:xfrm>
        </p:spPr>
        <p:txBody>
          <a:bodyPr xmlns:a="http://schemas.openxmlformats.org/drawingml/2006/main"/>
          <a:lstStyle xmlns:a="http://schemas.openxmlformats.org/drawingml/2006/main"/>
          <a:p xmlns:a="http://schemas.openxmlformats.org/drawingml/2006/main">
            <a:pPr marL="0" indent="0" algn="l">
              <a:lnSpc>
                <a:spcPct val="110000"/>
              </a:lnSpc>
              <a:spcBef>
                <a:spcPts val="0"/>
              </a:spcBef>
              <a:spcAft>
                <a:spcPts val="0"/>
              </a:spcAft>
              <a:buNone/>
            </a:pPr>
            <a:r>
              <a:rPr sz="2400" b="0" i="0" u="none" cap="none">
                <a:ln>
                  <a:noFill/>
                </a:ln>
                <a:solidFill>
                  <a:prstClr val="black"/>
                </a:solidFill>
                <a:latin typeface="Helvetica Neue"/>
                <a:ea typeface="Helvetica Neue"/>
                <a:cs typeface="Helvetica Neue"/>
              </a:rPr>
              <a:t>DATA</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Collect more real microphone screams and hard negatives from the actual deployment environment.</a:t>
            </a:r>
          </a:p>
        </p:txBody>
      </p:sp>
      <p:sp>
        <p:nvSpPr>
          <p:cNvPr id="2" name="Slide Number Placeholder 1">
            <a:extLst xmlns:a="http://schemas.openxmlformats.org/drawingml/2006/main">
              <a:ext uri="{FF2B5EF4-FFF2-40B4-BE49-F238E27FC236}">
                <a16:creationId xmlns:a16="http://schemas.microsoft.com/office/drawing/2014/main" id="{5346F6B8-73F6-AB72-2971-C8B37B27DCF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88657AE-30A1-5A7A-6A7F-315D84436430}" type="slidenum">
              <a:t>9</a:t>
            </a:fld>
          </a:p>
        </p:txBody>
      </p:sp>
      <p:sp>
        <p:nvSpPr>
          <p:cNvPr id="11" name="Content Placeholder 10">
            <a:extLst xmlns:a="http://schemas.openxmlformats.org/drawingml/2006/main">
              <a:ext uri="{FF2B5EF4-FFF2-40B4-BE49-F238E27FC236}">
                <a16:creationId xmlns:a16="http://schemas.microsoft.com/office/drawing/2014/main" id="{36C44BD0-2306-5DD3-6221-887B2EAEA0CB}"/>
              </a:ext>
            </a:extLst>
          </p:cNvPr>
          <p:cNvSpPr>
            <a:spLocks xmlns:a="http://schemas.openxmlformats.org/drawingml/2006/main" noGrp="1"/>
          </p:cNvSpPr>
          <p:nvPr>
            <p:ph idx="10"/>
          </p:nvPr>
        </p:nvSpPr>
        <p:spPr>
          <a:xfrm xmlns:a="http://schemas.openxmlformats.org/drawingml/2006/main">
            <a:off x="4318000" y="2032000"/>
            <a:ext cx="3568700" cy="1981200"/>
          </a:xfrm>
        </p:spPr>
        <p:txBody>
          <a:bodyPr xmlns:a="http://schemas.openxmlformats.org/drawingml/2006/main"/>
          <a:lstStyle xmlns:a="http://schemas.openxmlformats.org/drawingml/2006/main"/>
          <a:p xmlns:a="http://schemas.openxmlformats.org/drawingml/2006/main">
            <a:pPr marL="0" indent="0" algn="l">
              <a:lnSpc>
                <a:spcPct val="110000"/>
              </a:lnSpc>
              <a:spcBef>
                <a:spcPts val="0"/>
              </a:spcBef>
              <a:spcAft>
                <a:spcPts val="0"/>
              </a:spcAft>
              <a:buNone/>
            </a:pPr>
            <a:r>
              <a:rPr sz="2400" b="0" i="0" u="none" cap="none">
                <a:ln>
                  <a:noFill/>
                </a:ln>
                <a:solidFill>
                  <a:prstClr val="black"/>
                </a:solidFill>
                <a:latin typeface="Helvetica Neue"/>
                <a:ea typeface="Helvetica Neue"/>
                <a:cs typeface="Helvetica Neue"/>
              </a:rPr>
              <a:t>MODEL</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Fine-tune selected YAMNet layers or add a compact temporal model for event duration and context.</a:t>
            </a:r>
          </a:p>
        </p:txBody>
      </p:sp>
      <p:sp>
        <p:nvSpPr>
          <p:cNvPr id="12" name="Content Placeholder 11">
            <a:extLst xmlns:a="http://schemas.openxmlformats.org/drawingml/2006/main">
              <a:ext uri="{FF2B5EF4-FFF2-40B4-BE49-F238E27FC236}">
                <a16:creationId xmlns:a16="http://schemas.microsoft.com/office/drawing/2014/main" id="{DE8FF54C-F86E-60F9-B524-2931B90F4D94}"/>
              </a:ext>
            </a:extLst>
          </p:cNvPr>
          <p:cNvSpPr>
            <a:spLocks xmlns:a="http://schemas.openxmlformats.org/drawingml/2006/main" noGrp="1"/>
          </p:cNvSpPr>
          <p:nvPr>
            <p:ph idx="11"/>
          </p:nvPr>
        </p:nvSpPr>
        <p:spPr>
          <a:xfrm xmlns:a="http://schemas.openxmlformats.org/drawingml/2006/main">
            <a:off x="8232273" y="2032000"/>
            <a:ext cx="3568700" cy="1981200"/>
          </a:xfrm>
        </p:spPr>
        <p:txBody>
          <a:bodyPr xmlns:a="http://schemas.openxmlformats.org/drawingml/2006/main"/>
          <a:lstStyle xmlns:a="http://schemas.openxmlformats.org/drawingml/2006/main"/>
          <a:p xmlns:a="http://schemas.openxmlformats.org/drawingml/2006/main">
            <a:pPr marL="0" indent="0" algn="l">
              <a:lnSpc>
                <a:spcPct val="110000"/>
              </a:lnSpc>
              <a:spcBef>
                <a:spcPts val="0"/>
              </a:spcBef>
              <a:spcAft>
                <a:spcPts val="0"/>
              </a:spcAft>
              <a:buNone/>
            </a:pPr>
            <a:r>
              <a:rPr sz="2400" b="0" i="0" u="none" cap="none">
                <a:ln>
                  <a:noFill/>
                </a:ln>
                <a:solidFill>
                  <a:prstClr val="black"/>
                </a:solidFill>
                <a:latin typeface="Helvetica Neue"/>
                <a:ea typeface="Helvetica Neue"/>
                <a:cs typeface="Helvetica Neue"/>
              </a:rPr>
              <a:t>DEPLOYMENT</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Benchmark the complete pipeline on Raspberry Pi and calibrate thresholds per microphone and room.</a:t>
            </a:r>
          </a:p>
        </p:txBody>
      </p:sp>
      <p:sp>
        <p:nvSpPr>
          <p:cNvPr id="3" name="Title 2">
            <a:extLst xmlns:a="http://schemas.openxmlformats.org/drawingml/2006/main">
              <a:ext uri="{FF2B5EF4-FFF2-40B4-BE49-F238E27FC236}">
                <a16:creationId xmlns:a16="http://schemas.microsoft.com/office/drawing/2014/main" id="{BC736807-305D-4EC1-A98F-2A17C38135E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Where we can improve next</a:t>
            </a:r>
          </a:p>
        </p:txBody>
      </p:sp>
      <p:sp>
        <p:nvSpPr>
          <p:cNvPr id="13" name="Content Placeholder 9">
            <a:extLst xmlns:a="http://schemas.openxmlformats.org/drawingml/2006/main">
              <a:ext uri="{FF2B5EF4-FFF2-40B4-BE49-F238E27FC236}">
                <a16:creationId xmlns:a16="http://schemas.microsoft.com/office/drawing/2014/main" id="{19211427-9600-D234-704D-53BE123AB716}"/>
              </a:ext>
            </a:extLst>
          </p:cNvPr>
          <p:cNvSpPr>
            <a:spLocks xmlns:a="http://schemas.openxmlformats.org/drawingml/2006/main" noGrp="1"/>
          </p:cNvSpPr>
          <p:nvPr/>
        </p:nvSpPr>
        <p:spPr>
          <a:xfrm xmlns:a="http://schemas.openxmlformats.org/drawingml/2006/main">
            <a:off x="393700" y="4133787"/>
            <a:ext cx="3568700" cy="186061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320040" indent="-226060" algn="l">
              <a:lnSpc>
                <a:spcPct val="110000"/>
              </a:lnSpc>
              <a:spcBef>
                <a:spcPts val="0"/>
              </a:spcBef>
              <a:spcAft>
                <a:spcPts val="0"/>
              </a:spcAft>
              <a:buChar char="→"/>
            </a:pPr>
            <a:r>
              <a:rPr sz="1800" b="0" i="0" u="none" cap="none">
                <a:ln>
                  <a:noFill/>
                </a:ln>
                <a:solidFill>
                  <a:prstClr val="black"/>
                </a:solidFill>
                <a:latin typeface="Helvetica Neue"/>
                <a:ea typeface="Helvetica Neue"/>
                <a:cs typeface="Helvetica Neue"/>
              </a:rPr>
              <a:t>• room impulse augmentation</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 impact / speech negatives</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 label review workflow</a:t>
            </a:r>
          </a:p>
          <a:p xmlns:a="http://schemas.openxmlformats.org/drawingml/2006/main">
            <a:pPr marL="320040" indent="-226060" algn="l">
              <a:lnSpc>
                <a:spcPct val="110000"/>
              </a:lnSpc>
              <a:spcBef>
                <a:spcPts val="1000"/>
              </a:spcBef>
              <a:spcAft>
                <a:spcPts val="1000"/>
              </a:spcAft>
              <a:buChar char="→"/>
            </a:pPr>
            <a:r>
              <a:rPr sz="1800" b="0" i="0" u="none" cap="none">
                <a:ln>
                  <a:noFill/>
                </a:ln>
                <a:solidFill>
                  <a:prstClr val="black"/>
                </a:solidFill>
                <a:latin typeface="Helvetica Neue"/>
                <a:ea typeface="Helvetica Neue"/>
                <a:cs typeface="Helvetica Neue"/>
              </a:rPr>
              <a:t>• site-specific validation</a:t>
            </a:r>
          </a:p>
        </p:txBody>
      </p:sp>
      <p:sp>
        <p:nvSpPr>
          <p:cNvPr id="20" name="Content Placeholder 9">
            <a:extLst xmlns:a="http://schemas.openxmlformats.org/drawingml/2006/main">
              <a:ext uri="{FF2B5EF4-FFF2-40B4-BE49-F238E27FC236}">
                <a16:creationId xmlns:a16="http://schemas.microsoft.com/office/drawing/2014/main" id="{AC9183D9-7CC4-79A2-884C-5E7D4E0CCD2B}"/>
              </a:ext>
            </a:extLst>
          </p:cNvPr>
          <p:cNvSpPr>
            <a:spLocks xmlns:a="http://schemas.openxmlformats.org/drawingml/2006/main" noGrp="1"/>
          </p:cNvSpPr>
          <p:nvPr/>
        </p:nvSpPr>
        <p:spPr>
          <a:xfrm xmlns:a="http://schemas.openxmlformats.org/drawingml/2006/main">
            <a:off x="4307778" y="4133787"/>
            <a:ext cx="3568700" cy="186061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320040" indent="-226060" algn="l">
              <a:lnSpc>
                <a:spcPct val="110000"/>
              </a:lnSpc>
              <a:spcBef>
                <a:spcPts val="0"/>
              </a:spcBef>
              <a:spcAft>
                <a:spcPts val="0"/>
              </a:spcAft>
              <a:buChar char="→"/>
            </a:pPr>
            <a:r>
              <a:rPr sz="1800" b="0" i="0" u="none" cap="none">
                <a:ln>
                  <a:noFill/>
                </a:ln>
                <a:solidFill>
                  <a:prstClr val="black"/>
                </a:solidFill>
                <a:latin typeface="Helvetica Neue"/>
                <a:ea typeface="Helvetica Neue"/>
                <a:cs typeface="Helvetica Neue"/>
              </a:rPr>
              <a:t>• focal or cost-sensitive loss</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 class-specific calibration</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 temporal smoothing</a:t>
            </a:r>
          </a:p>
          <a:p xmlns:a="http://schemas.openxmlformats.org/drawingml/2006/main">
            <a:pPr marL="320040" indent="-226060" algn="l">
              <a:lnSpc>
                <a:spcPct val="110000"/>
              </a:lnSpc>
              <a:spcBef>
                <a:spcPts val="1000"/>
              </a:spcBef>
              <a:spcAft>
                <a:spcPts val="1000"/>
              </a:spcAft>
              <a:buChar char="→"/>
            </a:pPr>
            <a:r>
              <a:rPr sz="1800" b="0" i="0" u="none" cap="none">
                <a:ln>
                  <a:noFill/>
                </a:ln>
                <a:solidFill>
                  <a:prstClr val="black"/>
                </a:solidFill>
                <a:latin typeface="Helvetica Neue"/>
                <a:ea typeface="Helvetica Neue"/>
                <a:cs typeface="Helvetica Neue"/>
              </a:rPr>
              <a:t>• uncertainty rejection</a:t>
            </a:r>
          </a:p>
        </p:txBody>
      </p:sp>
      <p:sp>
        <p:nvSpPr>
          <p:cNvPr id="21" name="Content Placeholder 9">
            <a:extLst xmlns:a="http://schemas.openxmlformats.org/drawingml/2006/main">
              <a:ext uri="{FF2B5EF4-FFF2-40B4-BE49-F238E27FC236}">
                <a16:creationId xmlns:a16="http://schemas.microsoft.com/office/drawing/2014/main" id="{8026D696-5B0D-B1A2-BDA5-A14DA58894A3}"/>
              </a:ext>
            </a:extLst>
          </p:cNvPr>
          <p:cNvSpPr>
            <a:spLocks xmlns:a="http://schemas.openxmlformats.org/drawingml/2006/main" noGrp="1"/>
          </p:cNvSpPr>
          <p:nvPr/>
        </p:nvSpPr>
        <p:spPr>
          <a:xfrm xmlns:a="http://schemas.openxmlformats.org/drawingml/2006/main">
            <a:off x="8233007" y="4133787"/>
            <a:ext cx="3568700" cy="186061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320040" indent="-226060" algn="l">
              <a:lnSpc>
                <a:spcPct val="110000"/>
              </a:lnSpc>
              <a:spcBef>
                <a:spcPts val="0"/>
              </a:spcBef>
              <a:spcAft>
                <a:spcPts val="0"/>
              </a:spcAft>
              <a:buChar char="→"/>
            </a:pPr>
            <a:r>
              <a:rPr sz="1800" b="0" i="0" u="none" cap="none">
                <a:ln>
                  <a:noFill/>
                </a:ln>
                <a:solidFill>
                  <a:prstClr val="black"/>
                </a:solidFill>
                <a:latin typeface="Helvetica Neue"/>
                <a:ea typeface="Helvetica Neue"/>
                <a:cs typeface="Helvetica Neue"/>
              </a:rPr>
              <a:t>• current: TF Hub + H5</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 TFLite converts head only</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 end-to-end latency</a:t>
            </a:r>
          </a:p>
          <a:p xmlns:a="http://schemas.openxmlformats.org/drawingml/2006/main">
            <a:pPr marL="320040" indent="-226060" algn="l">
              <a:lnSpc>
                <a:spcPct val="110000"/>
              </a:lnSpc>
              <a:spcBef>
                <a:spcPts val="1000"/>
              </a:spcBef>
              <a:spcAft>
                <a:spcPts val="1000"/>
              </a:spcAft>
              <a:buChar char="→"/>
            </a:pPr>
            <a:r>
              <a:rPr sz="1800" b="0" i="0" u="none" cap="none">
                <a:ln>
                  <a:noFill/>
                </a:ln>
                <a:solidFill>
                  <a:prstClr val="black"/>
                </a:solidFill>
                <a:latin typeface="Helvetica Neue"/>
                <a:ea typeface="Helvetica Neue"/>
                <a:cs typeface="Helvetica Neue"/>
              </a:rPr>
              <a:t>• false alarms per hour</a:t>
            </a:r>
          </a:p>
        </p:txBody>
      </p:sp>
    </p:spTree>
    <p:extLst>
      <p:ext uri="{BB962C8B-B14F-4D97-AF65-F5344CB8AC3E}">
        <p14:creationId xmlns:p14="http://schemas.microsoft.com/office/powerpoint/2010/main" val="3064231191"/>
      </p:ext>
    </p:extLst>
  </p:cSld>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4"/>
          </p:nvPr>
        </p:nvSpPr>
        <p:spPr/>
        <p:txBody>
          <a:bodyPr/>
          <a:lstStyle/>
          <a:p>
            <a:pPr>
              <a:defRPr/>
            </a:pPr>
            <a:fld id="{DB7BEEEC-A170-5376-2B6E-CB54687B0CB1}" type="slidenum">
              <a:rPr lang="en-US" altLang="en-US"/>
              <a:pPr>
                <a:defRPr/>
              </a:pPr>
              <a:t>10</a:t>
            </a:fld>
            <a:endParaRPr lang="en-US" altLang="en-US"/>
          </a:p>
        </p:txBody>
      </p:sp>
      <p:sp>
        <p:nvSpPr>
          <p:cNvPr id="3" name="Title 2"/>
          <p:cNvSpPr>
            <a:spLocks noGrp="1"/>
          </p:cNvSpPr>
          <p:nvPr>
            <p:ph type="title" idx="0"/>
          </p:nvPr>
        </p:nvSpPr>
        <p:spPr>
          <a:xfrm>
            <a:off x="393700" y="344008"/>
            <a:ext cx="3911600" cy="1047491"/>
          </a:xfrm>
        </p:spPr>
        <p:txBody>
          <a:bodyPr/>
          <a:lstStyle/>
          <a:p>
            <a:pPr lvl="0">
              <a:defRPr/>
            </a:pPr>
            <a:r>
              <a:rPr lang="ko-KR" altLang="en-US"/>
              <a:t>Security that listens</a:t>
            </a:r>
            <a:endParaRPr lang="ko-KR" altLang="en-US"/>
          </a:p>
        </p:txBody>
      </p:sp>
      <p:sp>
        <p:nvSpPr>
          <p:cNvPr id="4" name="Title 2"/>
          <p:cNvSpPr>
            <a:spLocks noGrp="1"/>
          </p:cNvSpPr>
          <p:nvPr/>
        </p:nvSpPr>
        <p:spPr>
          <a:xfrm>
            <a:off x="5930900" y="344008"/>
            <a:ext cx="5867400" cy="4659792"/>
          </a:xfrm>
          <a:prstGeom prst="rect">
            <a:avLst/>
          </a:prstGeom>
          <a:noFill/>
          <a:ln>
            <a:noFill/>
          </a:ln>
        </p:spPr>
        <p:txBody>
          <a:bodyPr wrap="square" lIns="0" tIns="0" rIns="0" bIns="0" anchor="t">
            <a:noAutofit/>
          </a:bodyPr>
          <a:lstStyle>
            <a:lvl1pPr algn="l">
              <a:lnSpc>
                <a:spcPct val="100000"/>
              </a:lnSpc>
              <a:spcBef>
                <a:spcPts val="0"/>
              </a:spcBef>
              <a:spcAft>
                <a:spcPts val="0"/>
              </a:spcAft>
              <a:buNone/>
              <a:defRPr sz="2900" b="0" i="0" u="none" cap="none">
                <a:solidFill>
                  <a:srgbClr val="000000"/>
                </a:solidFill>
                <a:latin typeface="Helvetica Neue"/>
                <a:ea typeface="Helvetica Neue"/>
                <a:cs typeface="Helvetica Neue"/>
              </a:defRPr>
            </a:lvl1pPr>
            <a:lvl2pPr algn="l">
              <a:lnSpc>
                <a:spcPct val="100000"/>
              </a:lnSpc>
              <a:spcBef>
                <a:spcPts val="0"/>
              </a:spcBef>
              <a:spcAft>
                <a:spcPts val="0"/>
              </a:spcAft>
              <a:buNone/>
              <a:defRPr sz="2900" b="0" i="0" u="none" cap="none">
                <a:solidFill>
                  <a:srgbClr val="000000"/>
                </a:solidFill>
                <a:latin typeface="+mj-lt"/>
                <a:ea typeface="+mj-lt"/>
                <a:cs typeface="+mj-lt"/>
              </a:defRPr>
            </a:lvl2pPr>
            <a:lvl3pPr algn="l">
              <a:lnSpc>
                <a:spcPct val="100000"/>
              </a:lnSpc>
              <a:spcBef>
                <a:spcPts val="0"/>
              </a:spcBef>
              <a:spcAft>
                <a:spcPts val="0"/>
              </a:spcAft>
              <a:buNone/>
              <a:defRPr sz="2900" b="0" i="0" u="none" cap="none">
                <a:solidFill>
                  <a:srgbClr val="000000"/>
                </a:solidFill>
                <a:latin typeface="+mj-lt"/>
                <a:ea typeface="+mj-lt"/>
                <a:cs typeface="+mj-lt"/>
              </a:defRPr>
            </a:lvl3pPr>
            <a:lvl4pPr algn="l">
              <a:lnSpc>
                <a:spcPct val="100000"/>
              </a:lnSpc>
              <a:spcBef>
                <a:spcPts val="0"/>
              </a:spcBef>
              <a:spcAft>
                <a:spcPts val="0"/>
              </a:spcAft>
              <a:buNone/>
              <a:defRPr sz="2900" b="0" i="0" u="none" cap="none">
                <a:solidFill>
                  <a:srgbClr val="000000"/>
                </a:solidFill>
                <a:latin typeface="+mj-lt"/>
                <a:ea typeface="+mj-lt"/>
                <a:cs typeface="+mj-lt"/>
              </a:defRPr>
            </a:lvl4pPr>
            <a:lvl5pPr algn="l">
              <a:lnSpc>
                <a:spcPct val="100000"/>
              </a:lnSpc>
              <a:spcBef>
                <a:spcPts val="0"/>
              </a:spcBef>
              <a:spcAft>
                <a:spcPts val="0"/>
              </a:spcAft>
              <a:buNone/>
              <a:defRPr sz="2900" b="0" i="0" u="none" cap="none">
                <a:solidFill>
                  <a:srgbClr val="000000"/>
                </a:solidFill>
                <a:latin typeface="+mj-lt"/>
                <a:ea typeface="+mj-lt"/>
                <a:cs typeface="+mj-lt"/>
              </a:defRPr>
            </a:lvl5pPr>
            <a:lvl6pPr algn="l">
              <a:lnSpc>
                <a:spcPct val="100000"/>
              </a:lnSpc>
              <a:spcBef>
                <a:spcPts val="0"/>
              </a:spcBef>
              <a:spcAft>
                <a:spcPts val="0"/>
              </a:spcAft>
              <a:buNone/>
              <a:defRPr sz="2900" b="0" i="0" u="none" cap="none">
                <a:solidFill>
                  <a:srgbClr val="000000"/>
                </a:solidFill>
                <a:latin typeface="+mj-lt"/>
                <a:ea typeface="+mj-lt"/>
                <a:cs typeface="+mj-lt"/>
              </a:defRPr>
            </a:lvl6pPr>
            <a:lvl7pPr algn="l">
              <a:lnSpc>
                <a:spcPct val="100000"/>
              </a:lnSpc>
              <a:spcBef>
                <a:spcPts val="0"/>
              </a:spcBef>
              <a:spcAft>
                <a:spcPts val="0"/>
              </a:spcAft>
              <a:buNone/>
              <a:defRPr sz="2900" b="0" i="0" u="none" cap="none">
                <a:solidFill>
                  <a:srgbClr val="000000"/>
                </a:solidFill>
                <a:latin typeface="+mj-lt"/>
                <a:ea typeface="+mj-lt"/>
                <a:cs typeface="+mj-lt"/>
              </a:defRPr>
            </a:lvl7pPr>
            <a:lvl8pPr algn="l">
              <a:lnSpc>
                <a:spcPct val="100000"/>
              </a:lnSpc>
              <a:spcBef>
                <a:spcPts val="0"/>
              </a:spcBef>
              <a:spcAft>
                <a:spcPts val="0"/>
              </a:spcAft>
              <a:buNone/>
              <a:defRPr sz="2900" b="0" i="0" u="none" cap="none">
                <a:solidFill>
                  <a:srgbClr val="000000"/>
                </a:solidFill>
                <a:latin typeface="+mj-lt"/>
                <a:ea typeface="+mj-lt"/>
                <a:cs typeface="+mj-lt"/>
              </a:defRPr>
            </a:lvl8pPr>
            <a:lvl9pPr algn="l">
              <a:lnSpc>
                <a:spcPct val="100000"/>
              </a:lnSpc>
              <a:spcBef>
                <a:spcPts val="0"/>
              </a:spcBef>
              <a:spcAft>
                <a:spcPts val="0"/>
              </a:spcAft>
              <a:buNone/>
              <a:defRPr sz="2900" b="0" i="0" u="none" cap="none">
                <a:solidFill>
                  <a:srgbClr val="000000"/>
                </a:solidFill>
                <a:latin typeface="+mj-lt"/>
                <a:ea typeface="+mj-lt"/>
                <a:cs typeface="+mj-lt"/>
              </a:defRPr>
            </a:lvl9pPr>
          </a:lstStyle>
          <a:p>
            <a:pPr marL="514350" indent="-514350">
              <a:spcAft>
                <a:spcPts val="600"/>
              </a:spcAft>
              <a:buAutoNum type="arabicPeriod"/>
              <a:defRPr/>
            </a:pPr>
            <a:r>
              <a:rPr lang="ko-KR" altLang="en-US"/>
              <a:t>Transfer learning made the system practical</a:t>
            </a:r>
            <a:endParaRPr lang="ko-KR" altLang="en-US"/>
          </a:p>
          <a:p>
            <a:pPr marL="514350" indent="-514350">
              <a:spcAft>
                <a:spcPts val="600"/>
              </a:spcAft>
              <a:buAutoNum type="arabicPeriod"/>
              <a:defRPr/>
            </a:pPr>
            <a:r>
              <a:rPr lang="ko-KR" altLang="en-US"/>
              <a:t>Source-group splitting reduced leakage risk</a:t>
            </a:r>
            <a:endParaRPr lang="ko-KR" altLang="en-US"/>
          </a:p>
          <a:p>
            <a:pPr marL="514350" indent="-514350">
              <a:spcAft>
                <a:spcPts val="800"/>
              </a:spcAft>
              <a:buAutoNum type="arabicPeriod"/>
              <a:defRPr/>
            </a:pPr>
            <a:r>
              <a:rPr lang="ko-KR" altLang="en-US"/>
              <a:t>Validation gates prevented a risky upgrade</a:t>
            </a:r>
            <a:endParaRPr lang="ko-KR" altLang="en-US"/>
          </a:p>
          <a:p>
            <a:pPr marL="514350" indent="-514350">
              <a:spcAft>
                <a:spcPts val="600"/>
              </a:spcAft>
              <a:buAutoNum type="arabicPeriod"/>
              <a:defRPr/>
            </a:pPr>
            <a:r>
              <a:rPr lang="ko-KR" altLang="en-US"/>
              <a:t>Official and demo policies expose a trade-off</a:t>
            </a:r>
            <a:endParaRPr lang="ko-KR" altLang="en-US"/>
          </a:p>
          <a:p>
            <a:pPr marL="514350" indent="-514350">
              <a:spcAft>
                <a:spcPts val="600"/>
              </a:spcAft>
              <a:buAutoNum type="arabicPeriod"/>
              <a:defRPr/>
            </a:pPr>
            <a:r>
              <a:rPr lang="ko-KR" altLang="en-US"/>
              <a:t>Next: fewer false alarms without recall loss</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
  <a:themeElements>
    <a:clrScheme name="">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
      <a:majorFont>
        <a:latin typeface="HNC_GO_B_HINT_GS"/>
        <a:ea typeface=""/>
        <a:cs typeface="HNC_GO_B_HINT_GS"/>
      </a:majorFont>
      <a:minorFont>
        <a:latin typeface="HNC_GO_B_HINT_GS"/>
        <a:ea typeface=""/>
        <a:cs typeface="HNC_GO_B_HINT_GS"/>
      </a:minorFont>
    </a:fontScheme>
    <a:fmtScheme na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63500" dist="45398" dir="5400000" rotWithShape="0">
              <a:srgbClr val="000000">
                <a:alpha val="38000"/>
              </a:srgbClr>
            </a:outerShdw>
          </a:effectLst>
        </a:effectStyle>
        <a:effectStyle>
          <a:effectLst>
            <a:outerShdw blurRad="63500" dist="23000" dir="5400000" rotWithShape="0">
              <a:srgbClr val="000000">
                <a:alpha val="3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bodyPr/>
      <a:lstStyle/>
    </a:txDef>
  </a:objectDefaults>
</a:theme>
</file>

<file path=ppt/theme/theme3.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611</ep:Words>
  <ep:PresentationFormat>Converted Presentation</ep:PresentationFormat>
  <ep:Paragraphs>134</ep:Paragraphs>
  <ep:Slides>10</ep:Slides>
  <ep:Notes>10</ep:Notes>
  <ep:TotalTime>0</ep:TotalTime>
  <ep:HiddenSlides>0</ep:HiddenSlides>
  <ep:MMClips>0</ep:MMClips>
  <ep:HeadingPairs>
    <vt:vector size="4" baseType="variant">
      <vt:variant>
        <vt:lpstr>테마</vt:lpstr>
      </vt:variant>
      <vt:variant>
        <vt:i4>2</vt:i4>
      </vt:variant>
      <vt:variant>
        <vt:lpstr>슬라이드 제목</vt:lpstr>
      </vt:variant>
      <vt:variant>
        <vt:i4>10</vt:i4>
      </vt:variant>
    </vt:vector>
  </ep:HeadingPairs>
  <ep:TitlesOfParts>
    <vt:vector size="12" baseType="lpstr">
      <vt:lpstr>Default Codex Theme</vt:lpstr>
      <vt:lpstr/>
      <vt:lpstr>Edge AI Threat-Sound Detection</vt:lpstr>
      <vt:lpstr>Why listen for threats?</vt:lpstr>
      <vt:lpstr>Baseline: YAMNet-only ablation</vt:lpstr>
      <vt:lpstr>Retained model: YAMNet embeddings + custom head</vt:lpstr>
      <vt:lpstr>A stricter experiment, not just a larger dataset</vt:lpstr>
      <vt:lpstr>Official test results</vt:lpstr>
      <vt:lpstr>Trial and error changed the evaluation, not only the model</vt:lpstr>
      <vt:lpstr>Official vs. original demo</vt:lpstr>
      <vt:lpstr>Where we can improve next</vt:lpstr>
      <vt:lpstr>Security that listens</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cp:lastModifiedBy>PC</cp:lastModifiedBy>
  <dcterms:modified xsi:type="dcterms:W3CDTF">2026-06-20T13:51:08.646</dcterms:modified>
  <cp:revision>2</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